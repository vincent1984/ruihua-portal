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0.xml" ContentType="application/vnd.openxmlformats-officedocument.presentationml.notesSlide+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01" r:id="rId2"/>
    <p:sldId id="304" r:id="rId3"/>
    <p:sldId id="305" r:id="rId4"/>
    <p:sldId id="308" r:id="rId5"/>
    <p:sldId id="309" r:id="rId6"/>
    <p:sldId id="313" r:id="rId7"/>
    <p:sldId id="314" r:id="rId8"/>
    <p:sldId id="310" r:id="rId9"/>
    <p:sldId id="311" r:id="rId10"/>
    <p:sldId id="2147482673" r:id="rId11"/>
    <p:sldId id="2147482672" r:id="rId12"/>
    <p:sldId id="278" r:id="rId13"/>
    <p:sldId id="281" r:id="rId14"/>
    <p:sldId id="2147482671" r:id="rId15"/>
    <p:sldId id="2147482668" r:id="rId16"/>
    <p:sldId id="2147482669" r:id="rId17"/>
    <p:sldId id="282" r:id="rId18"/>
    <p:sldId id="283" r:id="rId19"/>
    <p:sldId id="284"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4DFF"/>
    <a:srgbClr val="000000"/>
    <a:srgbClr val="AF5AFE"/>
    <a:srgbClr val="7547EC"/>
    <a:srgbClr val="D0A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3" autoAdjust="0"/>
    <p:restoredTop sz="93174"/>
  </p:normalViewPr>
  <p:slideViewPr>
    <p:cSldViewPr snapToGrid="0">
      <p:cViewPr varScale="1">
        <p:scale>
          <a:sx n="89" d="100"/>
          <a:sy n="89" d="100"/>
        </p:scale>
        <p:origin x="4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F7C52-B3A7-E141-9333-662BE6EAC191}" type="datetimeFigureOut">
              <a:rPr kumimoji="1" lang="zh-CN" altLang="en-US" smtClean="0"/>
              <a:t>2026/4/22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66954F-CEE0-5647-9F1D-C06C49C5EF69}" type="slidenum">
              <a:rPr kumimoji="1" lang="zh-CN" altLang="en-US" smtClean="0"/>
              <a:t>‹#›</a:t>
            </a:fld>
            <a:endParaRPr kumimoji="1" lang="zh-CN" altLang="en-US"/>
          </a:p>
        </p:txBody>
      </p:sp>
    </p:spTree>
    <p:extLst>
      <p:ext uri="{BB962C8B-B14F-4D97-AF65-F5344CB8AC3E}">
        <p14:creationId xmlns:p14="http://schemas.microsoft.com/office/powerpoint/2010/main" val="2415017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66954F-CEE0-5647-9F1D-C06C49C5EF69}" type="slidenum">
              <a:rPr kumimoji="1" lang="zh-CN" altLang="en-US" smtClean="0"/>
              <a:t>2</a:t>
            </a:fld>
            <a:endParaRPr kumimoji="1" lang="zh-CN" altLang="en-US"/>
          </a:p>
        </p:txBody>
      </p:sp>
    </p:spTree>
    <p:extLst>
      <p:ext uri="{BB962C8B-B14F-4D97-AF65-F5344CB8AC3E}">
        <p14:creationId xmlns:p14="http://schemas.microsoft.com/office/powerpoint/2010/main" val="1871120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ctr">
              <a:lnSpc>
                <a:spcPct val="125000"/>
              </a:lnSpc>
              <a:defRPr/>
            </a:pPr>
            <a:r>
              <a:rPr lang="en-US" altLang="zh-CN" sz="1800" b="1" i="0" u="none" strike="noStrike" dirty="0" err="1">
                <a:solidFill>
                  <a:srgbClr val="7B61FF"/>
                </a:solidFill>
                <a:latin typeface="Noto Sans SC"/>
                <a:ea typeface="Noto Sans SC"/>
                <a:cs typeface="Noto Sans SC"/>
                <a:sym typeface="Noto Sans SC"/>
              </a:rPr>
              <a:t>AI驱动</a:t>
            </a:r>
            <a:r>
              <a:rPr lang="en-US" altLang="zh-CN" sz="1800" b="1" i="0" u="none" strike="noStrike" dirty="0">
                <a:solidFill>
                  <a:srgbClr val="7B61FF"/>
                </a:solidFill>
                <a:latin typeface="Noto Sans SC"/>
                <a:ea typeface="Noto Sans SC"/>
                <a:cs typeface="Noto Sans SC"/>
                <a:sym typeface="Noto Sans SC"/>
              </a:rPr>
              <a:t> · </a:t>
            </a:r>
            <a:r>
              <a:rPr lang="en-US" altLang="zh-CN" sz="1800" b="1" i="0" u="none" strike="noStrike" dirty="0" err="1">
                <a:solidFill>
                  <a:srgbClr val="7B61FF"/>
                </a:solidFill>
                <a:latin typeface="Noto Sans SC"/>
                <a:ea typeface="Noto Sans SC"/>
                <a:cs typeface="Noto Sans SC"/>
                <a:sym typeface="Noto Sans SC"/>
              </a:rPr>
              <a:t>动态优化</a:t>
            </a:r>
            <a:r>
              <a:rPr lang="en-US" altLang="zh-CN" sz="1800" b="1" i="0" u="none" strike="noStrike" dirty="0">
                <a:solidFill>
                  <a:srgbClr val="7B61FF"/>
                </a:solidFill>
                <a:latin typeface="Noto Sans SC"/>
                <a:ea typeface="Noto Sans SC"/>
                <a:cs typeface="Noto Sans SC"/>
                <a:sym typeface="Noto Sans SC"/>
              </a:rPr>
              <a:t> · </a:t>
            </a:r>
            <a:r>
              <a:rPr lang="en-US" altLang="zh-CN" sz="1800" b="1" i="0" u="none" strike="noStrike" dirty="0" err="1">
                <a:solidFill>
                  <a:srgbClr val="7B61FF"/>
                </a:solidFill>
                <a:latin typeface="Noto Sans SC"/>
                <a:ea typeface="Noto Sans SC"/>
                <a:cs typeface="Noto Sans SC"/>
                <a:sym typeface="Noto Sans SC"/>
              </a:rPr>
              <a:t>价值增长</a:t>
            </a:r>
            <a:endParaRPr lang="en-US" altLang="zh-CN" sz="1200" dirty="0"/>
          </a:p>
          <a:p>
            <a:pPr indent="0" algn="ctr">
              <a:lnSpc>
                <a:spcPct val="125000"/>
              </a:lnSpc>
            </a:pPr>
            <a:r>
              <a:rPr lang="en-US" altLang="zh-CN" sz="1400" dirty="0" err="1">
                <a:solidFill>
                  <a:srgbClr val="666666"/>
                </a:solidFill>
                <a:latin typeface="Noto Sans SC"/>
                <a:ea typeface="Noto Sans SC"/>
                <a:cs typeface="Noto Sans SC"/>
                <a:sym typeface="Noto Sans SC"/>
              </a:rPr>
              <a:t>掌握</a:t>
            </a:r>
            <a:r>
              <a:rPr lang="zh-CN" altLang="en-US" sz="1400" dirty="0">
                <a:solidFill>
                  <a:srgbClr val="666666"/>
                </a:solidFill>
                <a:latin typeface="Noto Sans SC"/>
                <a:ea typeface="Noto Sans SC"/>
                <a:cs typeface="Noto Sans SC"/>
                <a:sym typeface="Noto Sans SC"/>
              </a:rPr>
              <a:t>“</a:t>
            </a:r>
            <a:r>
              <a:rPr lang="en-US" altLang="zh-CN" sz="1400" dirty="0" err="1">
                <a:solidFill>
                  <a:srgbClr val="666666"/>
                </a:solidFill>
                <a:latin typeface="Noto Sans SC"/>
                <a:ea typeface="Noto Sans SC"/>
                <a:cs typeface="Noto Sans SC"/>
                <a:sym typeface="Noto Sans SC"/>
              </a:rPr>
              <a:t>人力资本价值经营</a:t>
            </a:r>
            <a:r>
              <a:rPr lang="zh-CN" altLang="en-US" sz="1400" dirty="0">
                <a:solidFill>
                  <a:srgbClr val="666666"/>
                </a:solidFill>
                <a:latin typeface="Noto Sans SC"/>
                <a:ea typeface="Noto Sans SC"/>
                <a:cs typeface="Noto Sans SC"/>
                <a:sym typeface="Noto Sans SC"/>
              </a:rPr>
              <a:t>”的系统方法论和落地工具</a:t>
            </a:r>
            <a:endParaRPr lang="en-US" altLang="zh-CN" sz="1400" b="0" i="0" u="none" strike="noStrike" dirty="0">
              <a:solidFill>
                <a:srgbClr val="666666"/>
              </a:solidFill>
              <a:latin typeface="Noto Sans SC"/>
              <a:ea typeface="Noto Sans SC"/>
              <a:cs typeface="Noto Sans SC"/>
              <a:sym typeface="Noto Sans SC"/>
            </a:endParaRPr>
          </a:p>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66529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ctr">
              <a:lnSpc>
                <a:spcPct val="125000"/>
              </a:lnSpc>
              <a:defRPr/>
            </a:pPr>
            <a:r>
              <a:rPr lang="en-US" altLang="zh-CN" sz="1800" b="1" i="0" u="none" strike="noStrike" dirty="0" err="1">
                <a:solidFill>
                  <a:srgbClr val="7B61FF"/>
                </a:solidFill>
                <a:latin typeface="Noto Sans SC"/>
                <a:ea typeface="Noto Sans SC"/>
                <a:cs typeface="Noto Sans SC"/>
                <a:sym typeface="Noto Sans SC"/>
              </a:rPr>
              <a:t>AI驱动</a:t>
            </a:r>
            <a:r>
              <a:rPr lang="en-US" altLang="zh-CN" sz="1800" b="1" i="0" u="none" strike="noStrike" dirty="0">
                <a:solidFill>
                  <a:srgbClr val="7B61FF"/>
                </a:solidFill>
                <a:latin typeface="Noto Sans SC"/>
                <a:ea typeface="Noto Sans SC"/>
                <a:cs typeface="Noto Sans SC"/>
                <a:sym typeface="Noto Sans SC"/>
              </a:rPr>
              <a:t> · </a:t>
            </a:r>
            <a:r>
              <a:rPr lang="en-US" altLang="zh-CN" sz="1800" b="1" i="0" u="none" strike="noStrike" dirty="0" err="1">
                <a:solidFill>
                  <a:srgbClr val="7B61FF"/>
                </a:solidFill>
                <a:latin typeface="Noto Sans SC"/>
                <a:ea typeface="Noto Sans SC"/>
                <a:cs typeface="Noto Sans SC"/>
                <a:sym typeface="Noto Sans SC"/>
              </a:rPr>
              <a:t>动态优化</a:t>
            </a:r>
            <a:r>
              <a:rPr lang="en-US" altLang="zh-CN" sz="1800" b="1" i="0" u="none" strike="noStrike" dirty="0">
                <a:solidFill>
                  <a:srgbClr val="7B61FF"/>
                </a:solidFill>
                <a:latin typeface="Noto Sans SC"/>
                <a:ea typeface="Noto Sans SC"/>
                <a:cs typeface="Noto Sans SC"/>
                <a:sym typeface="Noto Sans SC"/>
              </a:rPr>
              <a:t> · </a:t>
            </a:r>
            <a:r>
              <a:rPr lang="en-US" altLang="zh-CN" sz="1800" b="1" i="0" u="none" strike="noStrike" dirty="0" err="1">
                <a:solidFill>
                  <a:srgbClr val="7B61FF"/>
                </a:solidFill>
                <a:latin typeface="Noto Sans SC"/>
                <a:ea typeface="Noto Sans SC"/>
                <a:cs typeface="Noto Sans SC"/>
                <a:sym typeface="Noto Sans SC"/>
              </a:rPr>
              <a:t>价值增长</a:t>
            </a:r>
            <a:endParaRPr lang="en-US" altLang="zh-CN" sz="1200" dirty="0"/>
          </a:p>
          <a:p>
            <a:pPr indent="0" algn="ctr">
              <a:lnSpc>
                <a:spcPct val="125000"/>
              </a:lnSpc>
            </a:pPr>
            <a:r>
              <a:rPr lang="en-US" altLang="zh-CN" sz="1400" dirty="0" err="1">
                <a:solidFill>
                  <a:srgbClr val="666666"/>
                </a:solidFill>
                <a:latin typeface="Noto Sans SC"/>
                <a:ea typeface="Noto Sans SC"/>
                <a:cs typeface="Noto Sans SC"/>
                <a:sym typeface="Noto Sans SC"/>
              </a:rPr>
              <a:t>掌握</a:t>
            </a:r>
            <a:r>
              <a:rPr lang="zh-CN" altLang="en-US" sz="1400" dirty="0">
                <a:solidFill>
                  <a:srgbClr val="666666"/>
                </a:solidFill>
                <a:latin typeface="Noto Sans SC"/>
                <a:ea typeface="Noto Sans SC"/>
                <a:cs typeface="Noto Sans SC"/>
                <a:sym typeface="Noto Sans SC"/>
              </a:rPr>
              <a:t>“</a:t>
            </a:r>
            <a:r>
              <a:rPr lang="en-US" altLang="zh-CN" sz="1400" dirty="0" err="1">
                <a:solidFill>
                  <a:srgbClr val="666666"/>
                </a:solidFill>
                <a:latin typeface="Noto Sans SC"/>
                <a:ea typeface="Noto Sans SC"/>
                <a:cs typeface="Noto Sans SC"/>
                <a:sym typeface="Noto Sans SC"/>
              </a:rPr>
              <a:t>人力资本价值经营</a:t>
            </a:r>
            <a:r>
              <a:rPr lang="zh-CN" altLang="en-US" sz="1400" dirty="0">
                <a:solidFill>
                  <a:srgbClr val="666666"/>
                </a:solidFill>
                <a:latin typeface="Noto Sans SC"/>
                <a:ea typeface="Noto Sans SC"/>
                <a:cs typeface="Noto Sans SC"/>
                <a:sym typeface="Noto Sans SC"/>
              </a:rPr>
              <a:t>”的系统方法论和落地工具</a:t>
            </a:r>
            <a:endParaRPr lang="en-US" altLang="zh-CN" sz="1400" b="0" i="0" u="none" strike="noStrike" dirty="0">
              <a:solidFill>
                <a:srgbClr val="666666"/>
              </a:solidFill>
              <a:latin typeface="Noto Sans SC"/>
              <a:ea typeface="Noto Sans SC"/>
              <a:cs typeface="Noto Sans SC"/>
              <a:sym typeface="Noto Sans SC"/>
            </a:endParaRPr>
          </a:p>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2072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54609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3054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16143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BADBA99-538A-A244-9C31-E0CE9EEC550F}" type="slidenum">
              <a:rPr kumimoji="1" lang="zh-CN" altLang="en-US" smtClean="0"/>
              <a:t>14</a:t>
            </a:fld>
            <a:endParaRPr kumimoji="1" lang="zh-CN" altLang="en-US"/>
          </a:p>
        </p:txBody>
      </p:sp>
    </p:spTree>
    <p:extLst>
      <p:ext uri="{BB962C8B-B14F-4D97-AF65-F5344CB8AC3E}">
        <p14:creationId xmlns:p14="http://schemas.microsoft.com/office/powerpoint/2010/main" val="1473385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60422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588235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7620" y="0"/>
            <a:ext cx="12199620" cy="6858000"/>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grpSp>
        <p:nvGrpSpPr>
          <p:cNvPr id="8" name="组合 7">
            <a:extLst>
              <a:ext uri="{FF2B5EF4-FFF2-40B4-BE49-F238E27FC236}">
                <a16:creationId xmlns:a16="http://schemas.microsoft.com/office/drawing/2014/main" id="{D7B504D8-682D-F7CE-45B8-3245CAC2CD2D}"/>
              </a:ext>
            </a:extLst>
          </p:cNvPr>
          <p:cNvGrpSpPr/>
          <p:nvPr userDrawn="1"/>
        </p:nvGrpSpPr>
        <p:grpSpPr>
          <a:xfrm>
            <a:off x="11323430" y="336909"/>
            <a:ext cx="548735" cy="462766"/>
            <a:chOff x="21398290" y="530715"/>
            <a:chExt cx="1303395" cy="1099481"/>
          </a:xfrm>
        </p:grpSpPr>
        <p:sp>
          <p:nvSpPr>
            <p:cNvPr id="9"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10"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30"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41"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42"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43"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31"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38"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39"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40"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32"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34"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35"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36"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37"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33"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11"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12"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24"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25"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26"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27"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28"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29"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13"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14"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15"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16"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17"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18"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19"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20"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21"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22"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23"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
        <p:nvSpPr>
          <p:cNvPr id="48" name="小李PPT2"/>
          <p:cNvSpPr/>
          <p:nvPr userDrawn="1"/>
        </p:nvSpPr>
        <p:spPr>
          <a:xfrm>
            <a:off x="770353" y="365126"/>
            <a:ext cx="67848" cy="395656"/>
          </a:xfrm>
          <a:prstGeom prst="roundRect">
            <a:avLst>
              <a:gd name="adj" fmla="val 4668"/>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userDrawn="1"/>
        </p:nvSpPr>
        <p:spPr>
          <a:xfrm>
            <a:off x="-7620" y="6563010"/>
            <a:ext cx="12192000" cy="306051"/>
          </a:xfrm>
          <a:prstGeom prst="rect">
            <a:avLst/>
          </a:prstGeom>
          <a:solidFill>
            <a:srgbClr val="7547EC"/>
          </a:solidFill>
        </p:spPr>
        <p:txBody>
          <a:bodyPr wrap="square" tIns="0" rIns="324000" bIns="0" rtlCol="0" anchor="ctr">
            <a:noAutofit/>
          </a:bodyPr>
          <a:lstStyle/>
          <a:p>
            <a:pPr algn="r"/>
            <a:r>
              <a:rPr lang="en-US" altLang="zh-CN" sz="1050" dirty="0">
                <a:solidFill>
                  <a:schemeClr val="bg1"/>
                </a:solidFill>
                <a:latin typeface="微软雅黑" panose="020B0503020204020204" pitchFamily="34" charset="-122"/>
                <a:ea typeface="微软雅黑" panose="020B0503020204020204" pitchFamily="34" charset="-122"/>
              </a:rPr>
              <a:t>FUIHUA</a:t>
            </a:r>
            <a:r>
              <a:rPr lang="en-US" altLang="zh-CN" sz="1050" baseline="0" dirty="0">
                <a:solidFill>
                  <a:schemeClr val="bg1"/>
                </a:solidFill>
                <a:latin typeface="微软雅黑" panose="020B0503020204020204" pitchFamily="34" charset="-122"/>
                <a:ea typeface="微软雅黑" panose="020B0503020204020204" pitchFamily="34" charset="-122"/>
              </a:rPr>
              <a:t> CONSULTING</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61866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7620" y="0"/>
            <a:ext cx="12199620" cy="6858000"/>
          </a:xfrm>
          <a:prstGeom prst="rect">
            <a:avLst/>
          </a:prstGeom>
        </p:spPr>
      </p:pic>
      <p:sp>
        <p:nvSpPr>
          <p:cNvPr id="44" name="文本框 43"/>
          <p:cNvSpPr txBox="1"/>
          <p:nvPr userDrawn="1"/>
        </p:nvSpPr>
        <p:spPr>
          <a:xfrm>
            <a:off x="-7620" y="6563010"/>
            <a:ext cx="12192000" cy="306051"/>
          </a:xfrm>
          <a:prstGeom prst="rect">
            <a:avLst/>
          </a:prstGeom>
          <a:solidFill>
            <a:srgbClr val="7547EC"/>
          </a:solidFill>
        </p:spPr>
        <p:txBody>
          <a:bodyPr wrap="square" tIns="0" rIns="324000" bIns="0" rtlCol="0" anchor="ctr">
            <a:noAutofit/>
          </a:bodyPr>
          <a:lstStyle/>
          <a:p>
            <a:pPr algn="r"/>
            <a:r>
              <a:rPr lang="en-US" altLang="zh-CN" sz="1050" dirty="0">
                <a:solidFill>
                  <a:schemeClr val="bg1"/>
                </a:solidFill>
                <a:latin typeface="微软雅黑" panose="020B0503020204020204" pitchFamily="34" charset="-122"/>
                <a:ea typeface="微软雅黑" panose="020B0503020204020204" pitchFamily="34" charset="-122"/>
              </a:rPr>
              <a:t>RUIHUA</a:t>
            </a:r>
            <a:r>
              <a:rPr lang="en-US" altLang="zh-CN" sz="1050" baseline="0" dirty="0">
                <a:solidFill>
                  <a:schemeClr val="bg1"/>
                </a:solidFill>
                <a:latin typeface="微软雅黑" panose="020B0503020204020204" pitchFamily="34" charset="-122"/>
                <a:ea typeface="微软雅黑" panose="020B0503020204020204" pitchFamily="34" charset="-122"/>
              </a:rPr>
              <a:t> CONSULTING</a:t>
            </a:r>
            <a:endParaRPr lang="zh-CN" altLang="en-US" sz="1050" dirty="0">
              <a:solidFill>
                <a:schemeClr val="bg1"/>
              </a:solidFill>
              <a:latin typeface="微软雅黑" panose="020B0503020204020204" pitchFamily="34" charset="-122"/>
              <a:ea typeface="微软雅黑" panose="020B0503020204020204" pitchFamily="34" charset="-122"/>
            </a:endParaRPr>
          </a:p>
        </p:txBody>
      </p:sp>
      <p:grpSp>
        <p:nvGrpSpPr>
          <p:cNvPr id="46" name="组合 45">
            <a:extLst>
              <a:ext uri="{FF2B5EF4-FFF2-40B4-BE49-F238E27FC236}">
                <a16:creationId xmlns:a16="http://schemas.microsoft.com/office/drawing/2014/main" id="{D7B504D8-682D-F7CE-45B8-3245CAC2CD2D}"/>
              </a:ext>
            </a:extLst>
          </p:cNvPr>
          <p:cNvGrpSpPr/>
          <p:nvPr userDrawn="1"/>
        </p:nvGrpSpPr>
        <p:grpSpPr>
          <a:xfrm>
            <a:off x="11323430" y="336909"/>
            <a:ext cx="548735" cy="462766"/>
            <a:chOff x="21398290" y="530715"/>
            <a:chExt cx="1303395" cy="1099481"/>
          </a:xfrm>
        </p:grpSpPr>
        <p:sp>
          <p:nvSpPr>
            <p:cNvPr id="47"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48"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68"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79"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80"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81"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69"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76"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77"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78"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70"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72"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73"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74"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75"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71"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49"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50"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62"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63"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4"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65"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66"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7"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51"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52"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53"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54"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55"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56"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57"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58"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59"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60"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61"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Tree>
    <p:extLst>
      <p:ext uri="{BB962C8B-B14F-4D97-AF65-F5344CB8AC3E}">
        <p14:creationId xmlns:p14="http://schemas.microsoft.com/office/powerpoint/2010/main" val="2933117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7620" y="0"/>
            <a:ext cx="12199620" cy="6858000"/>
          </a:xfrm>
          <a:prstGeom prst="rect">
            <a:avLst/>
          </a:prstGeom>
        </p:spPr>
      </p:pic>
      <p:grpSp>
        <p:nvGrpSpPr>
          <p:cNvPr id="44" name="组合 43">
            <a:extLst>
              <a:ext uri="{FF2B5EF4-FFF2-40B4-BE49-F238E27FC236}">
                <a16:creationId xmlns:a16="http://schemas.microsoft.com/office/drawing/2014/main" id="{D7B504D8-682D-F7CE-45B8-3245CAC2CD2D}"/>
              </a:ext>
            </a:extLst>
          </p:cNvPr>
          <p:cNvGrpSpPr/>
          <p:nvPr userDrawn="1"/>
        </p:nvGrpSpPr>
        <p:grpSpPr>
          <a:xfrm>
            <a:off x="11323430" y="336909"/>
            <a:ext cx="548735" cy="462766"/>
            <a:chOff x="21398290" y="530715"/>
            <a:chExt cx="1303395" cy="1099481"/>
          </a:xfrm>
        </p:grpSpPr>
        <p:sp>
          <p:nvSpPr>
            <p:cNvPr id="45"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46"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66"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77"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78"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79"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67"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74"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75"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76"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68"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70"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71"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72"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73"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69"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47"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48"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60"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61"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2"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63"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64"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5"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49"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50"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51"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52"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53"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54"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55"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56"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57"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58"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59"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Tree>
    <p:extLst>
      <p:ext uri="{BB962C8B-B14F-4D97-AF65-F5344CB8AC3E}">
        <p14:creationId xmlns:p14="http://schemas.microsoft.com/office/powerpoint/2010/main" val="103957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7620" y="0"/>
            <a:ext cx="12199620" cy="6858000"/>
          </a:xfrm>
          <a:prstGeom prst="rect">
            <a:avLst/>
          </a:prstGeom>
        </p:spPr>
      </p:pic>
    </p:spTree>
    <p:extLst>
      <p:ext uri="{BB962C8B-B14F-4D97-AF65-F5344CB8AC3E}">
        <p14:creationId xmlns:p14="http://schemas.microsoft.com/office/powerpoint/2010/main" val="4187924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8" name="小李PPT2"/>
          <p:cNvSpPr/>
          <p:nvPr userDrawn="1"/>
        </p:nvSpPr>
        <p:spPr>
          <a:xfrm>
            <a:off x="770353" y="365126"/>
            <a:ext cx="67848" cy="395656"/>
          </a:xfrm>
          <a:prstGeom prst="roundRect">
            <a:avLst>
              <a:gd name="adj" fmla="val 4668"/>
            </a:avLst>
          </a:prstGeom>
          <a:solidFill>
            <a:srgbClr val="946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350">
              <a:solidFill>
                <a:prstClr val="white"/>
              </a:solidFill>
              <a:latin typeface="微软雅黑" panose="020B0503020204020204" pitchFamily="34" charset="-122"/>
              <a:ea typeface="微软雅黑" panose="020B0503020204020204" pitchFamily="34" charset="-122"/>
            </a:endParaRPr>
          </a:p>
        </p:txBody>
      </p:sp>
      <p:sp>
        <p:nvSpPr>
          <p:cNvPr id="45" name="文本框 44"/>
          <p:cNvSpPr txBox="1"/>
          <p:nvPr userDrawn="1"/>
        </p:nvSpPr>
        <p:spPr>
          <a:xfrm>
            <a:off x="-7620" y="6563010"/>
            <a:ext cx="12192000" cy="306051"/>
          </a:xfrm>
          <a:prstGeom prst="rect">
            <a:avLst/>
          </a:prstGeom>
          <a:solidFill>
            <a:srgbClr val="7547EC"/>
          </a:solidFill>
        </p:spPr>
        <p:txBody>
          <a:bodyPr wrap="square" tIns="0" rIns="324000" bIns="0" rtlCol="0" anchor="ctr">
            <a:noAutofit/>
          </a:bodyPr>
          <a:lstStyle/>
          <a:p>
            <a:pPr algn="r"/>
            <a:r>
              <a:rPr lang="en-US" altLang="zh-CN" sz="1050" dirty="0">
                <a:solidFill>
                  <a:schemeClr val="bg1"/>
                </a:solidFill>
                <a:latin typeface="微软雅黑" panose="020B0503020204020204" pitchFamily="34" charset="-122"/>
                <a:ea typeface="微软雅黑" panose="020B0503020204020204" pitchFamily="34" charset="-122"/>
              </a:rPr>
              <a:t>FUIHUA</a:t>
            </a:r>
            <a:r>
              <a:rPr lang="en-US" altLang="zh-CN" sz="1050" baseline="0" dirty="0">
                <a:solidFill>
                  <a:schemeClr val="bg1"/>
                </a:solidFill>
                <a:latin typeface="微软雅黑" panose="020B0503020204020204" pitchFamily="34" charset="-122"/>
                <a:ea typeface="微软雅黑" panose="020B0503020204020204" pitchFamily="34" charset="-122"/>
              </a:rPr>
              <a:t> CONSULTING</a:t>
            </a:r>
            <a:endParaRPr lang="zh-CN" altLang="en-US" sz="1050" dirty="0">
              <a:solidFill>
                <a:schemeClr val="bg1"/>
              </a:solidFill>
              <a:latin typeface="微软雅黑" panose="020B0503020204020204" pitchFamily="34" charset="-122"/>
              <a:ea typeface="微软雅黑" panose="020B0503020204020204" pitchFamily="34" charset="-122"/>
            </a:endParaRPr>
          </a:p>
        </p:txBody>
      </p:sp>
      <p:grpSp>
        <p:nvGrpSpPr>
          <p:cNvPr id="46" name="组合 45">
            <a:extLst>
              <a:ext uri="{FF2B5EF4-FFF2-40B4-BE49-F238E27FC236}">
                <a16:creationId xmlns:a16="http://schemas.microsoft.com/office/drawing/2014/main" id="{D7B504D8-682D-F7CE-45B8-3245CAC2CD2D}"/>
              </a:ext>
            </a:extLst>
          </p:cNvPr>
          <p:cNvGrpSpPr/>
          <p:nvPr userDrawn="1"/>
        </p:nvGrpSpPr>
        <p:grpSpPr>
          <a:xfrm>
            <a:off x="11323430" y="336909"/>
            <a:ext cx="548735" cy="462766"/>
            <a:chOff x="21398290" y="530715"/>
            <a:chExt cx="1303395" cy="1099481"/>
          </a:xfrm>
        </p:grpSpPr>
        <p:sp>
          <p:nvSpPr>
            <p:cNvPr id="47"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49"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69"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80"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81"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82"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70"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77"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78"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79"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71"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73"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74"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75"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76"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72"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50"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51"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63"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64"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5"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66"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67"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8"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52"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53"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54"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55"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56"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57"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58"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59"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60"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61"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62"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Tree>
    <p:extLst>
      <p:ext uri="{BB962C8B-B14F-4D97-AF65-F5344CB8AC3E}">
        <p14:creationId xmlns:p14="http://schemas.microsoft.com/office/powerpoint/2010/main" val="1633167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44" name="文本框 43"/>
          <p:cNvSpPr txBox="1"/>
          <p:nvPr userDrawn="1"/>
        </p:nvSpPr>
        <p:spPr>
          <a:xfrm>
            <a:off x="-7620" y="6563010"/>
            <a:ext cx="12192000" cy="306051"/>
          </a:xfrm>
          <a:prstGeom prst="rect">
            <a:avLst/>
          </a:prstGeom>
          <a:solidFill>
            <a:srgbClr val="7547EC"/>
          </a:solidFill>
        </p:spPr>
        <p:txBody>
          <a:bodyPr wrap="square" tIns="0" rIns="324000" bIns="0" rtlCol="0" anchor="ctr">
            <a:noAutofit/>
          </a:bodyPr>
          <a:lstStyle/>
          <a:p>
            <a:pPr algn="r"/>
            <a:r>
              <a:rPr lang="en-US" altLang="zh-CN" sz="1050" dirty="0">
                <a:solidFill>
                  <a:schemeClr val="bg1"/>
                </a:solidFill>
                <a:latin typeface="微软雅黑" panose="020B0503020204020204" pitchFamily="34" charset="-122"/>
                <a:ea typeface="微软雅黑" panose="020B0503020204020204" pitchFamily="34" charset="-122"/>
              </a:rPr>
              <a:t>FUIHUA</a:t>
            </a:r>
            <a:r>
              <a:rPr lang="en-US" altLang="zh-CN" sz="1050" baseline="0" dirty="0">
                <a:solidFill>
                  <a:schemeClr val="bg1"/>
                </a:solidFill>
                <a:latin typeface="微软雅黑" panose="020B0503020204020204" pitchFamily="34" charset="-122"/>
                <a:ea typeface="微软雅黑" panose="020B0503020204020204" pitchFamily="34" charset="-122"/>
              </a:rPr>
              <a:t> CONSULTING</a:t>
            </a:r>
            <a:endParaRPr lang="zh-CN" altLang="en-US" sz="1050" dirty="0">
              <a:solidFill>
                <a:schemeClr val="bg1"/>
              </a:solidFill>
              <a:latin typeface="微软雅黑" panose="020B0503020204020204" pitchFamily="34" charset="-122"/>
              <a:ea typeface="微软雅黑" panose="020B0503020204020204" pitchFamily="34" charset="-122"/>
            </a:endParaRPr>
          </a:p>
        </p:txBody>
      </p:sp>
      <p:grpSp>
        <p:nvGrpSpPr>
          <p:cNvPr id="46" name="组合 45">
            <a:extLst>
              <a:ext uri="{FF2B5EF4-FFF2-40B4-BE49-F238E27FC236}">
                <a16:creationId xmlns:a16="http://schemas.microsoft.com/office/drawing/2014/main" id="{D7B504D8-682D-F7CE-45B8-3245CAC2CD2D}"/>
              </a:ext>
            </a:extLst>
          </p:cNvPr>
          <p:cNvGrpSpPr/>
          <p:nvPr userDrawn="1"/>
        </p:nvGrpSpPr>
        <p:grpSpPr>
          <a:xfrm>
            <a:off x="11323430" y="336909"/>
            <a:ext cx="548735" cy="462766"/>
            <a:chOff x="21398290" y="530715"/>
            <a:chExt cx="1303395" cy="1099481"/>
          </a:xfrm>
        </p:grpSpPr>
        <p:sp>
          <p:nvSpPr>
            <p:cNvPr id="47"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48"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68"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79"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80"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81"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69"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76"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77"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78"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70"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72"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73"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74"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75"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71"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49"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50"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62"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63"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4"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65"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66"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7"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51"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52"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53"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54"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55"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56"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57"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58"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59"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60"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61"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Tree>
    <p:extLst>
      <p:ext uri="{BB962C8B-B14F-4D97-AF65-F5344CB8AC3E}">
        <p14:creationId xmlns:p14="http://schemas.microsoft.com/office/powerpoint/2010/main" val="425787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grpSp>
        <p:nvGrpSpPr>
          <p:cNvPr id="44" name="组合 43">
            <a:extLst>
              <a:ext uri="{FF2B5EF4-FFF2-40B4-BE49-F238E27FC236}">
                <a16:creationId xmlns:a16="http://schemas.microsoft.com/office/drawing/2014/main" id="{D7B504D8-682D-F7CE-45B8-3245CAC2CD2D}"/>
              </a:ext>
            </a:extLst>
          </p:cNvPr>
          <p:cNvGrpSpPr/>
          <p:nvPr userDrawn="1"/>
        </p:nvGrpSpPr>
        <p:grpSpPr>
          <a:xfrm>
            <a:off x="11323430" y="336909"/>
            <a:ext cx="548735" cy="462766"/>
            <a:chOff x="21398290" y="530715"/>
            <a:chExt cx="1303395" cy="1099481"/>
          </a:xfrm>
        </p:grpSpPr>
        <p:sp>
          <p:nvSpPr>
            <p:cNvPr id="45"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46"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66"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77"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78"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79"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67"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74"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75"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76"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68"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70"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71"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72"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73"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69"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47"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48"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60"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61"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2"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63"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64"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65"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49"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50"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51"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52"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53"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54"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55"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56"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57"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58"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59"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Tree>
    <p:extLst>
      <p:ext uri="{BB962C8B-B14F-4D97-AF65-F5344CB8AC3E}">
        <p14:creationId xmlns:p14="http://schemas.microsoft.com/office/powerpoint/2010/main" val="888513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113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D7B504D8-682D-F7CE-45B8-3245CAC2CD2D}"/>
              </a:ext>
            </a:extLst>
          </p:cNvPr>
          <p:cNvGrpSpPr/>
          <p:nvPr userDrawn="1"/>
        </p:nvGrpSpPr>
        <p:grpSpPr>
          <a:xfrm>
            <a:off x="11191760" y="336909"/>
            <a:ext cx="548735" cy="462766"/>
            <a:chOff x="21398290" y="530715"/>
            <a:chExt cx="1303395" cy="1099481"/>
          </a:xfrm>
        </p:grpSpPr>
        <p:sp>
          <p:nvSpPr>
            <p:cNvPr id="9"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10"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30"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41"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42"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43"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31"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38"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39"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40"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32"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34"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35"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36"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37"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33"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11"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12"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24"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25"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26"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27"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28"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29"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13"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14"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15"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16"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17"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18"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19"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20"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21"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22"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23"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pic>
        <p:nvPicPr>
          <p:cNvPr id="44" name="图片 43"/>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648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D7B504D8-682D-F7CE-45B8-3245CAC2CD2D}"/>
              </a:ext>
            </a:extLst>
          </p:cNvPr>
          <p:cNvGrpSpPr/>
          <p:nvPr userDrawn="1"/>
        </p:nvGrpSpPr>
        <p:grpSpPr>
          <a:xfrm>
            <a:off x="11191760" y="336909"/>
            <a:ext cx="548735" cy="462766"/>
            <a:chOff x="21398290" y="530715"/>
            <a:chExt cx="1303395" cy="1099481"/>
          </a:xfrm>
        </p:grpSpPr>
        <p:sp>
          <p:nvSpPr>
            <p:cNvPr id="9" name="任意多边形: 形状 26">
              <a:extLst>
                <a:ext uri="{FF2B5EF4-FFF2-40B4-BE49-F238E27FC236}">
                  <a16:creationId xmlns:a16="http://schemas.microsoft.com/office/drawing/2014/main" id="{725AED89-3E40-D524-8F4A-9719FB7D3139}"/>
                </a:ext>
              </a:extLst>
            </p:cNvPr>
            <p:cNvSpPr/>
            <p:nvPr/>
          </p:nvSpPr>
          <p:spPr>
            <a:xfrm>
              <a:off x="21398511" y="530715"/>
              <a:ext cx="1303174" cy="651553"/>
            </a:xfrm>
            <a:custGeom>
              <a:avLst/>
              <a:gdLst>
                <a:gd name="connsiteX0" fmla="*/ 5573511 w 6712021"/>
                <a:gd name="connsiteY0" fmla="*/ 6961 h 3355834"/>
                <a:gd name="connsiteX1" fmla="*/ 4037593 w 6712021"/>
                <a:gd name="connsiteY1" fmla="*/ 564799 h 3355834"/>
                <a:gd name="connsiteX2" fmla="*/ 2675813 w 6712021"/>
                <a:gd name="connsiteY2" fmla="*/ 1986240 h 3355834"/>
                <a:gd name="connsiteX3" fmla="*/ 340800 w 6712021"/>
                <a:gd name="connsiteY3" fmla="*/ 2829336 h 3355834"/>
                <a:gd name="connsiteX4" fmla="*/ 234900 w 6712021"/>
                <a:gd name="connsiteY4" fmla="*/ 2574282 h 3355834"/>
                <a:gd name="connsiteX5" fmla="*/ 563040 w 6712021"/>
                <a:gd name="connsiteY5" fmla="*/ 2008614 h 3355834"/>
                <a:gd name="connsiteX6" fmla="*/ 2085534 w 6712021"/>
                <a:gd name="connsiteY6" fmla="*/ 2304312 h 3355834"/>
                <a:gd name="connsiteX7" fmla="*/ 2100077 w 6712021"/>
                <a:gd name="connsiteY7" fmla="*/ 2296855 h 3355834"/>
                <a:gd name="connsiteX8" fmla="*/ 712568 w 6712021"/>
                <a:gd name="connsiteY8" fmla="*/ 1793458 h 3355834"/>
                <a:gd name="connsiteX9" fmla="*/ 153238 w 6712021"/>
                <a:gd name="connsiteY9" fmla="*/ 2124581 h 3355834"/>
                <a:gd name="connsiteX10" fmla="*/ 621956 w 6712021"/>
                <a:gd name="connsiteY10" fmla="*/ 3330495 h 3355834"/>
                <a:gd name="connsiteX11" fmla="*/ 2794391 w 6712021"/>
                <a:gd name="connsiteY11" fmla="*/ 2310651 h 3355834"/>
                <a:gd name="connsiteX12" fmla="*/ 5127539 w 6712021"/>
                <a:gd name="connsiteY12" fmla="*/ 663614 h 3355834"/>
                <a:gd name="connsiteX13" fmla="*/ 5971753 w 6712021"/>
                <a:gd name="connsiteY13" fmla="*/ 883244 h 3355834"/>
                <a:gd name="connsiteX14" fmla="*/ 6158570 w 6712021"/>
                <a:gd name="connsiteY14" fmla="*/ 1556303 h 3355834"/>
                <a:gd name="connsiteX15" fmla="*/ 5849820 w 6712021"/>
                <a:gd name="connsiteY15" fmla="*/ 2432585 h 3355834"/>
                <a:gd name="connsiteX16" fmla="*/ 2619134 w 6712021"/>
                <a:gd name="connsiteY16" fmla="*/ 2708894 h 3355834"/>
                <a:gd name="connsiteX17" fmla="*/ 2573642 w 6712021"/>
                <a:gd name="connsiteY17" fmla="*/ 2742081 h 3355834"/>
                <a:gd name="connsiteX18" fmla="*/ 3475654 w 6712021"/>
                <a:gd name="connsiteY18" fmla="*/ 3225341 h 3355834"/>
                <a:gd name="connsiteX19" fmla="*/ 4782619 w 6712021"/>
                <a:gd name="connsiteY19" fmla="*/ 3325647 h 3355834"/>
                <a:gd name="connsiteX20" fmla="*/ 6428912 w 6712021"/>
                <a:gd name="connsiteY20" fmla="*/ 2233837 h 3355834"/>
                <a:gd name="connsiteX21" fmla="*/ 6491930 w 6712021"/>
                <a:gd name="connsiteY21" fmla="*/ 500290 h 3355834"/>
                <a:gd name="connsiteX22" fmla="*/ 5573511 w 6712021"/>
                <a:gd name="connsiteY22" fmla="*/ 6588 h 335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12021" h="3355834">
                  <a:moveTo>
                    <a:pt x="5573511" y="6961"/>
                  </a:moveTo>
                  <a:cubicBezTo>
                    <a:pt x="5153642" y="-31073"/>
                    <a:pt x="4598041" y="77437"/>
                    <a:pt x="4037593" y="564799"/>
                  </a:cubicBezTo>
                  <a:cubicBezTo>
                    <a:pt x="3643825" y="907481"/>
                    <a:pt x="3214633" y="1396335"/>
                    <a:pt x="2675813" y="1986240"/>
                  </a:cubicBezTo>
                  <a:cubicBezTo>
                    <a:pt x="1460577" y="3317071"/>
                    <a:pt x="626431" y="3198120"/>
                    <a:pt x="340800" y="2829336"/>
                  </a:cubicBezTo>
                  <a:cubicBezTo>
                    <a:pt x="280765" y="2751776"/>
                    <a:pt x="244968" y="2662656"/>
                    <a:pt x="234900" y="2574282"/>
                  </a:cubicBezTo>
                  <a:cubicBezTo>
                    <a:pt x="211409" y="2364347"/>
                    <a:pt x="335207" y="2126073"/>
                    <a:pt x="563040" y="2008614"/>
                  </a:cubicBezTo>
                  <a:cubicBezTo>
                    <a:pt x="1095895" y="1733797"/>
                    <a:pt x="1654478" y="1936274"/>
                    <a:pt x="2085534" y="2304312"/>
                  </a:cubicBezTo>
                  <a:lnTo>
                    <a:pt x="2100077" y="2296855"/>
                  </a:lnTo>
                  <a:cubicBezTo>
                    <a:pt x="2100077" y="2296855"/>
                    <a:pt x="1447526" y="1625660"/>
                    <a:pt x="712568" y="1793458"/>
                  </a:cubicBezTo>
                  <a:cubicBezTo>
                    <a:pt x="524633" y="1836340"/>
                    <a:pt x="312834" y="1915392"/>
                    <a:pt x="153238" y="2124581"/>
                  </a:cubicBezTo>
                  <a:cubicBezTo>
                    <a:pt x="-166698" y="2544451"/>
                    <a:pt x="26084" y="3194019"/>
                    <a:pt x="621956" y="3330495"/>
                  </a:cubicBezTo>
                  <a:cubicBezTo>
                    <a:pt x="1292778" y="3484124"/>
                    <a:pt x="2107535" y="2913608"/>
                    <a:pt x="2794391" y="2310651"/>
                  </a:cubicBezTo>
                  <a:cubicBezTo>
                    <a:pt x="3679995" y="1532811"/>
                    <a:pt x="4388852" y="781446"/>
                    <a:pt x="5127539" y="663614"/>
                  </a:cubicBezTo>
                  <a:cubicBezTo>
                    <a:pt x="5431068" y="615138"/>
                    <a:pt x="5800599" y="683749"/>
                    <a:pt x="5971753" y="883244"/>
                  </a:cubicBezTo>
                  <a:cubicBezTo>
                    <a:pt x="6119416" y="1055517"/>
                    <a:pt x="6170129" y="1285215"/>
                    <a:pt x="6158570" y="1556303"/>
                  </a:cubicBezTo>
                  <a:cubicBezTo>
                    <a:pt x="6146264" y="1843052"/>
                    <a:pt x="6022466" y="2192074"/>
                    <a:pt x="5849820" y="2432585"/>
                  </a:cubicBezTo>
                  <a:cubicBezTo>
                    <a:pt x="5260660" y="3252562"/>
                    <a:pt x="3910439" y="3470700"/>
                    <a:pt x="2619134" y="2708894"/>
                  </a:cubicBezTo>
                  <a:lnTo>
                    <a:pt x="2573642" y="2742081"/>
                  </a:lnTo>
                  <a:cubicBezTo>
                    <a:pt x="2573642" y="2742081"/>
                    <a:pt x="2941681" y="3045983"/>
                    <a:pt x="3475654" y="3225341"/>
                  </a:cubicBezTo>
                  <a:cubicBezTo>
                    <a:pt x="3837726" y="3346902"/>
                    <a:pt x="4247155" y="3389784"/>
                    <a:pt x="4782619" y="3325647"/>
                  </a:cubicBezTo>
                  <a:cubicBezTo>
                    <a:pt x="5611918" y="3226459"/>
                    <a:pt x="6208536" y="2629842"/>
                    <a:pt x="6428912" y="2233837"/>
                  </a:cubicBezTo>
                  <a:cubicBezTo>
                    <a:pt x="6798069" y="1569354"/>
                    <a:pt x="6792476" y="955956"/>
                    <a:pt x="6491930" y="500290"/>
                  </a:cubicBezTo>
                  <a:cubicBezTo>
                    <a:pt x="6268944" y="162455"/>
                    <a:pt x="5878159" y="34182"/>
                    <a:pt x="5573511" y="6588"/>
                  </a:cubicBezTo>
                  <a:close/>
                </a:path>
              </a:pathLst>
            </a:custGeom>
            <a:gradFill>
              <a:gsLst>
                <a:gs pos="22000">
                  <a:srgbClr val="7C4DFF"/>
                </a:gs>
                <a:gs pos="100000">
                  <a:srgbClr val="AA00FF"/>
                </a:gs>
              </a:gsLst>
              <a:lin ang="19200000" scaled="0"/>
            </a:gradFill>
            <a:ln w="37253" cap="flat">
              <a:noFill/>
              <a:prstDash val="solid"/>
              <a:miter/>
            </a:ln>
          </p:spPr>
          <p:txBody>
            <a:bodyPr rtlCol="0" anchor="ctr"/>
            <a:lstStyle/>
            <a:p>
              <a:endParaRPr lang="zh-CN" altLang="en-US" sz="450" dirty="0"/>
            </a:p>
          </p:txBody>
        </p:sp>
        <p:grpSp>
          <p:nvGrpSpPr>
            <p:cNvPr id="10" name="图形 3">
              <a:extLst>
                <a:ext uri="{FF2B5EF4-FFF2-40B4-BE49-F238E27FC236}">
                  <a16:creationId xmlns:a16="http://schemas.microsoft.com/office/drawing/2014/main" id="{27AF8A9E-A7D9-E6B2-35F5-9BEEA1F65F02}"/>
                </a:ext>
              </a:extLst>
            </p:cNvPr>
            <p:cNvGrpSpPr/>
            <p:nvPr/>
          </p:nvGrpSpPr>
          <p:grpSpPr>
            <a:xfrm>
              <a:off x="21398797" y="1291013"/>
              <a:ext cx="1302509" cy="217772"/>
              <a:chOff x="15887588" y="9839446"/>
              <a:chExt cx="6708593" cy="1121641"/>
            </a:xfrm>
            <a:solidFill>
              <a:srgbClr val="7C4DFF"/>
            </a:solidFill>
          </p:grpSpPr>
          <p:grpSp>
            <p:nvGrpSpPr>
              <p:cNvPr id="30" name="图形 3">
                <a:extLst>
                  <a:ext uri="{FF2B5EF4-FFF2-40B4-BE49-F238E27FC236}">
                    <a16:creationId xmlns:a16="http://schemas.microsoft.com/office/drawing/2014/main" id="{FF175B37-C8F3-EDF1-506F-0E6E66880119}"/>
                  </a:ext>
                </a:extLst>
              </p:cNvPr>
              <p:cNvGrpSpPr/>
              <p:nvPr/>
            </p:nvGrpSpPr>
            <p:grpSpPr>
              <a:xfrm>
                <a:off x="17626728" y="9842429"/>
                <a:ext cx="1491917" cy="1118658"/>
                <a:chOff x="17626728" y="9842429"/>
                <a:chExt cx="1491917" cy="1118658"/>
              </a:xfrm>
              <a:grpFill/>
            </p:grpSpPr>
            <p:sp>
              <p:nvSpPr>
                <p:cNvPr id="41" name="任意多边形: 形状 58">
                  <a:extLst>
                    <a:ext uri="{FF2B5EF4-FFF2-40B4-BE49-F238E27FC236}">
                      <a16:creationId xmlns:a16="http://schemas.microsoft.com/office/drawing/2014/main" id="{A784F4DE-BEC4-2620-8B59-BA0C28A13524}"/>
                    </a:ext>
                  </a:extLst>
                </p:cNvPr>
                <p:cNvSpPr/>
                <p:nvPr/>
              </p:nvSpPr>
              <p:spPr>
                <a:xfrm>
                  <a:off x="17627101" y="10425414"/>
                  <a:ext cx="1491544" cy="535673"/>
                </a:xfrm>
                <a:custGeom>
                  <a:avLst/>
                  <a:gdLst>
                    <a:gd name="connsiteX0" fmla="*/ 624957 w 1491544"/>
                    <a:gd name="connsiteY0" fmla="*/ 110210 h 535673"/>
                    <a:gd name="connsiteX1" fmla="*/ 624957 w 1491544"/>
                    <a:gd name="connsiteY1" fmla="*/ 34141 h 535673"/>
                    <a:gd name="connsiteX2" fmla="*/ 641364 w 1491544"/>
                    <a:gd name="connsiteY2" fmla="*/ 20344 h 535673"/>
                    <a:gd name="connsiteX3" fmla="*/ 811027 w 1491544"/>
                    <a:gd name="connsiteY3" fmla="*/ 208 h 535673"/>
                    <a:gd name="connsiteX4" fmla="*/ 833773 w 1491544"/>
                    <a:gd name="connsiteY4" fmla="*/ 14005 h 535673"/>
                    <a:gd name="connsiteX5" fmla="*/ 833773 w 1491544"/>
                    <a:gd name="connsiteY5" fmla="*/ 110210 h 535673"/>
                    <a:gd name="connsiteX6" fmla="*/ 1471782 w 1491544"/>
                    <a:gd name="connsiteY6" fmla="*/ 110210 h 535673"/>
                    <a:gd name="connsiteX7" fmla="*/ 1491545 w 1491544"/>
                    <a:gd name="connsiteY7" fmla="*/ 124380 h 535673"/>
                    <a:gd name="connsiteX8" fmla="*/ 1491545 w 1491544"/>
                    <a:gd name="connsiteY8" fmla="*/ 245568 h 535673"/>
                    <a:gd name="connsiteX9" fmla="*/ 834146 w 1491544"/>
                    <a:gd name="connsiteY9" fmla="*/ 245568 h 535673"/>
                    <a:gd name="connsiteX10" fmla="*/ 834146 w 1491544"/>
                    <a:gd name="connsiteY10" fmla="*/ 521503 h 535673"/>
                    <a:gd name="connsiteX11" fmla="*/ 814383 w 1491544"/>
                    <a:gd name="connsiteY11" fmla="*/ 535673 h 535673"/>
                    <a:gd name="connsiteX12" fmla="*/ 625330 w 1491544"/>
                    <a:gd name="connsiteY12" fmla="*/ 535673 h 535673"/>
                    <a:gd name="connsiteX13" fmla="*/ 625330 w 1491544"/>
                    <a:gd name="connsiteY13" fmla="*/ 245940 h 535673"/>
                    <a:gd name="connsiteX14" fmla="*/ 0 w 1491544"/>
                    <a:gd name="connsiteY14" fmla="*/ 245940 h 535673"/>
                    <a:gd name="connsiteX15" fmla="*/ 0 w 1491544"/>
                    <a:gd name="connsiteY15" fmla="*/ 124380 h 535673"/>
                    <a:gd name="connsiteX16" fmla="*/ 19390 w 1491544"/>
                    <a:gd name="connsiteY16" fmla="*/ 110210 h 535673"/>
                    <a:gd name="connsiteX17" fmla="*/ 625330 w 1491544"/>
                    <a:gd name="connsiteY17" fmla="*/ 110210 h 53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544" h="535673">
                      <a:moveTo>
                        <a:pt x="624957" y="110210"/>
                      </a:moveTo>
                      <a:lnTo>
                        <a:pt x="624957" y="34141"/>
                      </a:lnTo>
                      <a:cubicBezTo>
                        <a:pt x="624957" y="27056"/>
                        <a:pt x="632042" y="21463"/>
                        <a:pt x="641364" y="20344"/>
                      </a:cubicBezTo>
                      <a:lnTo>
                        <a:pt x="811027" y="208"/>
                      </a:lnTo>
                      <a:cubicBezTo>
                        <a:pt x="822960" y="-1283"/>
                        <a:pt x="833773" y="5429"/>
                        <a:pt x="833773" y="14005"/>
                      </a:cubicBezTo>
                      <a:lnTo>
                        <a:pt x="833773" y="110210"/>
                      </a:lnTo>
                      <a:lnTo>
                        <a:pt x="1471782" y="110210"/>
                      </a:lnTo>
                      <a:cubicBezTo>
                        <a:pt x="1482595" y="110210"/>
                        <a:pt x="1491545" y="116549"/>
                        <a:pt x="1491545" y="124380"/>
                      </a:cubicBezTo>
                      <a:lnTo>
                        <a:pt x="1491545" y="245568"/>
                      </a:lnTo>
                      <a:lnTo>
                        <a:pt x="834146" y="245568"/>
                      </a:lnTo>
                      <a:lnTo>
                        <a:pt x="834146" y="521503"/>
                      </a:lnTo>
                      <a:cubicBezTo>
                        <a:pt x="834146" y="529334"/>
                        <a:pt x="825197" y="535673"/>
                        <a:pt x="814383" y="535673"/>
                      </a:cubicBezTo>
                      <a:lnTo>
                        <a:pt x="625330" y="535673"/>
                      </a:lnTo>
                      <a:lnTo>
                        <a:pt x="625330" y="245940"/>
                      </a:lnTo>
                      <a:cubicBezTo>
                        <a:pt x="625330" y="245940"/>
                        <a:pt x="0" y="245940"/>
                        <a:pt x="0" y="245940"/>
                      </a:cubicBezTo>
                      <a:lnTo>
                        <a:pt x="0" y="124380"/>
                      </a:lnTo>
                      <a:cubicBezTo>
                        <a:pt x="0" y="116549"/>
                        <a:pt x="8576" y="110210"/>
                        <a:pt x="19390" y="110210"/>
                      </a:cubicBezTo>
                      <a:lnTo>
                        <a:pt x="625330" y="110210"/>
                      </a:lnTo>
                      <a:close/>
                    </a:path>
                  </a:pathLst>
                </a:custGeom>
                <a:grpFill/>
                <a:ln w="37253" cap="flat">
                  <a:noFill/>
                  <a:prstDash val="solid"/>
                  <a:miter/>
                </a:ln>
              </p:spPr>
              <p:txBody>
                <a:bodyPr rtlCol="0" anchor="ctr"/>
                <a:lstStyle/>
                <a:p>
                  <a:endParaRPr lang="zh-CN" altLang="en-US" sz="450"/>
                </a:p>
              </p:txBody>
            </p:sp>
            <p:sp>
              <p:nvSpPr>
                <p:cNvPr id="42" name="任意多边形: 形状 59">
                  <a:extLst>
                    <a:ext uri="{FF2B5EF4-FFF2-40B4-BE49-F238E27FC236}">
                      <a16:creationId xmlns:a16="http://schemas.microsoft.com/office/drawing/2014/main" id="{BE0E10E1-BA2F-ED9A-8D5C-EB894FED2272}"/>
                    </a:ext>
                  </a:extLst>
                </p:cNvPr>
                <p:cNvSpPr/>
                <p:nvPr/>
              </p:nvSpPr>
              <p:spPr>
                <a:xfrm>
                  <a:off x="18209550" y="9842429"/>
                  <a:ext cx="908361" cy="580967"/>
                </a:xfrm>
                <a:custGeom>
                  <a:avLst/>
                  <a:gdLst>
                    <a:gd name="connsiteX0" fmla="*/ 775976 w 908361"/>
                    <a:gd name="connsiteY0" fmla="*/ 365428 h 580967"/>
                    <a:gd name="connsiteX1" fmla="*/ 683128 w 908361"/>
                    <a:gd name="connsiteY1" fmla="*/ 474684 h 580967"/>
                    <a:gd name="connsiteX2" fmla="*/ 471328 w 908361"/>
                    <a:gd name="connsiteY2" fmla="*/ 474684 h 580967"/>
                    <a:gd name="connsiteX3" fmla="*/ 396378 w 908361"/>
                    <a:gd name="connsiteY3" fmla="*/ 410921 h 580967"/>
                    <a:gd name="connsiteX4" fmla="*/ 396378 w 908361"/>
                    <a:gd name="connsiteY4" fmla="*/ 326275 h 580967"/>
                    <a:gd name="connsiteX5" fmla="*/ 790146 w 908361"/>
                    <a:gd name="connsiteY5" fmla="*/ 202850 h 580967"/>
                    <a:gd name="connsiteX6" fmla="*/ 790146 w 908361"/>
                    <a:gd name="connsiteY6" fmla="*/ 93967 h 580967"/>
                    <a:gd name="connsiteX7" fmla="*/ 761061 w 908361"/>
                    <a:gd name="connsiteY7" fmla="*/ 81662 h 580967"/>
                    <a:gd name="connsiteX8" fmla="*/ 396378 w 908361"/>
                    <a:gd name="connsiteY8" fmla="*/ 199494 h 580967"/>
                    <a:gd name="connsiteX9" fmla="*/ 396378 w 908361"/>
                    <a:gd name="connsiteY9" fmla="*/ 14170 h 580967"/>
                    <a:gd name="connsiteX10" fmla="*/ 376988 w 908361"/>
                    <a:gd name="connsiteY10" fmla="*/ 0 h 580967"/>
                    <a:gd name="connsiteX11" fmla="*/ 199121 w 908361"/>
                    <a:gd name="connsiteY11" fmla="*/ 0 h 580967"/>
                    <a:gd name="connsiteX12" fmla="*/ 199121 w 908361"/>
                    <a:gd name="connsiteY12" fmla="*/ 241630 h 580967"/>
                    <a:gd name="connsiteX13" fmla="*/ 0 w 908361"/>
                    <a:gd name="connsiteY13" fmla="*/ 286377 h 580967"/>
                    <a:gd name="connsiteX14" fmla="*/ 0 w 908361"/>
                    <a:gd name="connsiteY14" fmla="*/ 412039 h 580967"/>
                    <a:gd name="connsiteX15" fmla="*/ 199121 w 908361"/>
                    <a:gd name="connsiteY15" fmla="*/ 372513 h 580967"/>
                    <a:gd name="connsiteX16" fmla="*/ 199121 w 908361"/>
                    <a:gd name="connsiteY16" fmla="*/ 412412 h 580967"/>
                    <a:gd name="connsiteX17" fmla="*/ 450446 w 908361"/>
                    <a:gd name="connsiteY17" fmla="*/ 580957 h 580967"/>
                    <a:gd name="connsiteX18" fmla="*/ 681263 w 908361"/>
                    <a:gd name="connsiteY18" fmla="*/ 580957 h 580967"/>
                    <a:gd name="connsiteX19" fmla="*/ 908350 w 908361"/>
                    <a:gd name="connsiteY19" fmla="*/ 380344 h 580967"/>
                    <a:gd name="connsiteX20" fmla="*/ 888961 w 908361"/>
                    <a:gd name="connsiteY20" fmla="*/ 365801 h 580967"/>
                    <a:gd name="connsiteX21" fmla="*/ 775976 w 908361"/>
                    <a:gd name="connsiteY21" fmla="*/ 365801 h 5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8361" h="580967">
                      <a:moveTo>
                        <a:pt x="775976" y="365428"/>
                      </a:moveTo>
                      <a:cubicBezTo>
                        <a:pt x="767773" y="456040"/>
                        <a:pt x="734959" y="474684"/>
                        <a:pt x="683128" y="474684"/>
                      </a:cubicBezTo>
                      <a:lnTo>
                        <a:pt x="471328" y="474684"/>
                      </a:lnTo>
                      <a:cubicBezTo>
                        <a:pt x="406073" y="474684"/>
                        <a:pt x="396378" y="454548"/>
                        <a:pt x="396378" y="410921"/>
                      </a:cubicBezTo>
                      <a:lnTo>
                        <a:pt x="396378" y="326275"/>
                      </a:lnTo>
                      <a:cubicBezTo>
                        <a:pt x="536956" y="289733"/>
                        <a:pt x="671941" y="249461"/>
                        <a:pt x="790146" y="202850"/>
                      </a:cubicBezTo>
                      <a:lnTo>
                        <a:pt x="790146" y="93967"/>
                      </a:lnTo>
                      <a:cubicBezTo>
                        <a:pt x="790146" y="83154"/>
                        <a:pt x="774112" y="76442"/>
                        <a:pt x="761061" y="81662"/>
                      </a:cubicBezTo>
                      <a:cubicBezTo>
                        <a:pt x="596618" y="148409"/>
                        <a:pt x="445599" y="191663"/>
                        <a:pt x="396378" y="199494"/>
                      </a:cubicBezTo>
                      <a:lnTo>
                        <a:pt x="396378" y="14170"/>
                      </a:lnTo>
                      <a:cubicBezTo>
                        <a:pt x="396378" y="6339"/>
                        <a:pt x="387801" y="0"/>
                        <a:pt x="376988" y="0"/>
                      </a:cubicBezTo>
                      <a:lnTo>
                        <a:pt x="199121" y="0"/>
                      </a:lnTo>
                      <a:lnTo>
                        <a:pt x="199121" y="241630"/>
                      </a:lnTo>
                      <a:cubicBezTo>
                        <a:pt x="133120" y="257664"/>
                        <a:pt x="66374" y="272580"/>
                        <a:pt x="0" y="286377"/>
                      </a:cubicBezTo>
                      <a:lnTo>
                        <a:pt x="0" y="412039"/>
                      </a:lnTo>
                      <a:cubicBezTo>
                        <a:pt x="66001" y="399361"/>
                        <a:pt x="131629" y="385937"/>
                        <a:pt x="199121" y="372513"/>
                      </a:cubicBezTo>
                      <a:lnTo>
                        <a:pt x="199121" y="412412"/>
                      </a:lnTo>
                      <a:cubicBezTo>
                        <a:pt x="199121" y="543668"/>
                        <a:pt x="250952" y="581702"/>
                        <a:pt x="450446" y="580957"/>
                      </a:cubicBezTo>
                      <a:cubicBezTo>
                        <a:pt x="513837" y="580957"/>
                        <a:pt x="617872" y="580957"/>
                        <a:pt x="681263" y="580957"/>
                      </a:cubicBezTo>
                      <a:cubicBezTo>
                        <a:pt x="831909" y="580957"/>
                        <a:pt x="900520" y="547397"/>
                        <a:pt x="908350" y="380344"/>
                      </a:cubicBezTo>
                      <a:cubicBezTo>
                        <a:pt x="908723" y="372513"/>
                        <a:pt x="899774" y="365801"/>
                        <a:pt x="888961" y="365801"/>
                      </a:cubicBezTo>
                      <a:lnTo>
                        <a:pt x="775976" y="365801"/>
                      </a:lnTo>
                      <a:close/>
                    </a:path>
                  </a:pathLst>
                </a:custGeom>
                <a:grpFill/>
                <a:ln w="37253" cap="flat">
                  <a:noFill/>
                  <a:prstDash val="solid"/>
                  <a:miter/>
                </a:ln>
              </p:spPr>
              <p:txBody>
                <a:bodyPr rtlCol="0" anchor="ctr"/>
                <a:lstStyle/>
                <a:p>
                  <a:endParaRPr lang="zh-CN" altLang="en-US" sz="450"/>
                </a:p>
              </p:txBody>
            </p:sp>
            <p:sp>
              <p:nvSpPr>
                <p:cNvPr id="43" name="任意多边形: 形状 60">
                  <a:extLst>
                    <a:ext uri="{FF2B5EF4-FFF2-40B4-BE49-F238E27FC236}">
                      <a16:creationId xmlns:a16="http://schemas.microsoft.com/office/drawing/2014/main" id="{F754FA01-6594-EB93-1ACB-086DB6EDADE0}"/>
                    </a:ext>
                  </a:extLst>
                </p:cNvPr>
                <p:cNvSpPr/>
                <p:nvPr/>
              </p:nvSpPr>
              <p:spPr>
                <a:xfrm>
                  <a:off x="17626728" y="9842429"/>
                  <a:ext cx="600311" cy="608177"/>
                </a:xfrm>
                <a:custGeom>
                  <a:avLst/>
                  <a:gdLst>
                    <a:gd name="connsiteX0" fmla="*/ 398988 w 600311"/>
                    <a:gd name="connsiteY0" fmla="*/ 0 h 608177"/>
                    <a:gd name="connsiteX1" fmla="*/ 0 w 600311"/>
                    <a:gd name="connsiteY1" fmla="*/ 310614 h 608177"/>
                    <a:gd name="connsiteX2" fmla="*/ 0 w 600311"/>
                    <a:gd name="connsiteY2" fmla="*/ 462752 h 608177"/>
                    <a:gd name="connsiteX3" fmla="*/ 2610 w 600311"/>
                    <a:gd name="connsiteY3" fmla="*/ 463870 h 608177"/>
                    <a:gd name="connsiteX4" fmla="*/ 263630 w 600311"/>
                    <a:gd name="connsiteY4" fmla="*/ 337089 h 608177"/>
                    <a:gd name="connsiteX5" fmla="*/ 263630 w 600311"/>
                    <a:gd name="connsiteY5" fmla="*/ 594008 h 608177"/>
                    <a:gd name="connsiteX6" fmla="*/ 283021 w 600311"/>
                    <a:gd name="connsiteY6" fmla="*/ 608177 h 608177"/>
                    <a:gd name="connsiteX7" fmla="*/ 457531 w 600311"/>
                    <a:gd name="connsiteY7" fmla="*/ 608177 h 608177"/>
                    <a:gd name="connsiteX8" fmla="*/ 457531 w 600311"/>
                    <a:gd name="connsiteY8" fmla="*/ 197257 h 608177"/>
                    <a:gd name="connsiteX9" fmla="*/ 598482 w 600311"/>
                    <a:gd name="connsiteY9" fmla="*/ 20509 h 608177"/>
                    <a:gd name="connsiteX10" fmla="*/ 580584 w 600311"/>
                    <a:gd name="connsiteY10" fmla="*/ 373 h 608177"/>
                    <a:gd name="connsiteX11" fmla="*/ 398615 w 600311"/>
                    <a:gd name="connsiteY11" fmla="*/ 373 h 60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0311" h="608177">
                      <a:moveTo>
                        <a:pt x="398988" y="0"/>
                      </a:moveTo>
                      <a:cubicBezTo>
                        <a:pt x="318445" y="130510"/>
                        <a:pt x="161833" y="248342"/>
                        <a:pt x="0" y="310614"/>
                      </a:cubicBezTo>
                      <a:lnTo>
                        <a:pt x="0" y="462752"/>
                      </a:lnTo>
                      <a:cubicBezTo>
                        <a:pt x="0" y="462752"/>
                        <a:pt x="1492" y="463497"/>
                        <a:pt x="2610" y="463870"/>
                      </a:cubicBezTo>
                      <a:cubicBezTo>
                        <a:pt x="64136" y="438887"/>
                        <a:pt x="216647" y="367293"/>
                        <a:pt x="263630" y="337089"/>
                      </a:cubicBezTo>
                      <a:lnTo>
                        <a:pt x="263630" y="594008"/>
                      </a:lnTo>
                      <a:cubicBezTo>
                        <a:pt x="263630" y="601838"/>
                        <a:pt x="272207" y="608177"/>
                        <a:pt x="283021" y="608177"/>
                      </a:cubicBezTo>
                      <a:lnTo>
                        <a:pt x="457531" y="608177"/>
                      </a:lnTo>
                      <a:lnTo>
                        <a:pt x="457531" y="197257"/>
                      </a:lnTo>
                      <a:cubicBezTo>
                        <a:pt x="508617" y="154002"/>
                        <a:pt x="560821" y="79052"/>
                        <a:pt x="598482" y="20509"/>
                      </a:cubicBezTo>
                      <a:cubicBezTo>
                        <a:pt x="604448" y="11187"/>
                        <a:pt x="595126" y="373"/>
                        <a:pt x="580584" y="373"/>
                      </a:cubicBezTo>
                      <a:lnTo>
                        <a:pt x="398615" y="373"/>
                      </a:lnTo>
                      <a:close/>
                    </a:path>
                  </a:pathLst>
                </a:custGeom>
                <a:grpFill/>
                <a:ln w="37253" cap="flat">
                  <a:noFill/>
                  <a:prstDash val="solid"/>
                  <a:miter/>
                </a:ln>
              </p:spPr>
              <p:txBody>
                <a:bodyPr rtlCol="0" anchor="ctr"/>
                <a:lstStyle/>
                <a:p>
                  <a:endParaRPr lang="zh-CN" altLang="en-US" sz="450"/>
                </a:p>
              </p:txBody>
            </p:sp>
          </p:grpSp>
          <p:grpSp>
            <p:nvGrpSpPr>
              <p:cNvPr id="31" name="图形 3">
                <a:extLst>
                  <a:ext uri="{FF2B5EF4-FFF2-40B4-BE49-F238E27FC236}">
                    <a16:creationId xmlns:a16="http://schemas.microsoft.com/office/drawing/2014/main" id="{2C52C336-26A0-D0BF-F55C-42D832487EFC}"/>
                  </a:ext>
                </a:extLst>
              </p:cNvPr>
              <p:cNvGrpSpPr/>
              <p:nvPr/>
            </p:nvGrpSpPr>
            <p:grpSpPr>
              <a:xfrm>
                <a:off x="15887588" y="9839446"/>
                <a:ext cx="1491917" cy="1119031"/>
                <a:chOff x="15887588" y="9839446"/>
                <a:chExt cx="1491917" cy="1119031"/>
              </a:xfrm>
              <a:grpFill/>
            </p:grpSpPr>
            <p:sp>
              <p:nvSpPr>
                <p:cNvPr id="38" name="任意多边形: 形状 55">
                  <a:extLst>
                    <a:ext uri="{FF2B5EF4-FFF2-40B4-BE49-F238E27FC236}">
                      <a16:creationId xmlns:a16="http://schemas.microsoft.com/office/drawing/2014/main" id="{18BC012F-0A9D-FB2A-7F66-8EFBDDA187A1}"/>
                    </a:ext>
                  </a:extLst>
                </p:cNvPr>
                <p:cNvSpPr/>
                <p:nvPr/>
              </p:nvSpPr>
              <p:spPr>
                <a:xfrm>
                  <a:off x="16401425" y="9839446"/>
                  <a:ext cx="978080" cy="353869"/>
                </a:xfrm>
                <a:custGeom>
                  <a:avLst/>
                  <a:gdLst>
                    <a:gd name="connsiteX0" fmla="*/ 568651 w 978080"/>
                    <a:gd name="connsiteY0" fmla="*/ 14170 h 353869"/>
                    <a:gd name="connsiteX1" fmla="*/ 568651 w 978080"/>
                    <a:gd name="connsiteY1" fmla="*/ 229698 h 353869"/>
                    <a:gd name="connsiteX2" fmla="*/ 799468 w 978080"/>
                    <a:gd name="connsiteY2" fmla="*/ 229698 h 353869"/>
                    <a:gd name="connsiteX3" fmla="*/ 799468 w 978080"/>
                    <a:gd name="connsiteY3" fmla="*/ 53323 h 353869"/>
                    <a:gd name="connsiteX4" fmla="*/ 959063 w 978080"/>
                    <a:gd name="connsiteY4" fmla="*/ 53323 h 353869"/>
                    <a:gd name="connsiteX5" fmla="*/ 978080 w 978080"/>
                    <a:gd name="connsiteY5" fmla="*/ 67493 h 353869"/>
                    <a:gd name="connsiteX6" fmla="*/ 978080 w 978080"/>
                    <a:gd name="connsiteY6" fmla="*/ 353869 h 353869"/>
                    <a:gd name="connsiteX7" fmla="*/ 0 w 978080"/>
                    <a:gd name="connsiteY7" fmla="*/ 353869 h 353869"/>
                    <a:gd name="connsiteX8" fmla="*/ 0 w 978080"/>
                    <a:gd name="connsiteY8" fmla="*/ 53323 h 353869"/>
                    <a:gd name="connsiteX9" fmla="*/ 151765 w 978080"/>
                    <a:gd name="connsiteY9" fmla="*/ 53323 h 353869"/>
                    <a:gd name="connsiteX10" fmla="*/ 170782 w 978080"/>
                    <a:gd name="connsiteY10" fmla="*/ 67493 h 353869"/>
                    <a:gd name="connsiteX11" fmla="*/ 170782 w 978080"/>
                    <a:gd name="connsiteY11" fmla="*/ 229698 h 353869"/>
                    <a:gd name="connsiteX12" fmla="*/ 393395 w 978080"/>
                    <a:gd name="connsiteY12" fmla="*/ 229698 h 353869"/>
                    <a:gd name="connsiteX13" fmla="*/ 393395 w 978080"/>
                    <a:gd name="connsiteY13" fmla="*/ 0 h 353869"/>
                    <a:gd name="connsiteX14" fmla="*/ 550007 w 978080"/>
                    <a:gd name="connsiteY14" fmla="*/ 0 h 353869"/>
                    <a:gd name="connsiteX15" fmla="*/ 569024 w 978080"/>
                    <a:gd name="connsiteY15" fmla="*/ 14170 h 35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8080" h="353869">
                      <a:moveTo>
                        <a:pt x="568651" y="14170"/>
                      </a:moveTo>
                      <a:lnTo>
                        <a:pt x="568651" y="229698"/>
                      </a:lnTo>
                      <a:lnTo>
                        <a:pt x="799468" y="229698"/>
                      </a:lnTo>
                      <a:lnTo>
                        <a:pt x="799468" y="53323"/>
                      </a:lnTo>
                      <a:lnTo>
                        <a:pt x="959063" y="53323"/>
                      </a:lnTo>
                      <a:cubicBezTo>
                        <a:pt x="969504" y="53323"/>
                        <a:pt x="978080" y="59662"/>
                        <a:pt x="978080" y="67493"/>
                      </a:cubicBezTo>
                      <a:lnTo>
                        <a:pt x="978080" y="353869"/>
                      </a:lnTo>
                      <a:lnTo>
                        <a:pt x="0" y="353869"/>
                      </a:lnTo>
                      <a:lnTo>
                        <a:pt x="0" y="53323"/>
                      </a:lnTo>
                      <a:lnTo>
                        <a:pt x="151765" y="53323"/>
                      </a:lnTo>
                      <a:cubicBezTo>
                        <a:pt x="162205" y="53323"/>
                        <a:pt x="170782" y="59662"/>
                        <a:pt x="170782" y="67493"/>
                      </a:cubicBezTo>
                      <a:lnTo>
                        <a:pt x="170782" y="229698"/>
                      </a:lnTo>
                      <a:lnTo>
                        <a:pt x="393395" y="229698"/>
                      </a:lnTo>
                      <a:lnTo>
                        <a:pt x="393395" y="0"/>
                      </a:lnTo>
                      <a:lnTo>
                        <a:pt x="550007" y="0"/>
                      </a:lnTo>
                      <a:cubicBezTo>
                        <a:pt x="560448" y="0"/>
                        <a:pt x="569024" y="6339"/>
                        <a:pt x="569024" y="14170"/>
                      </a:cubicBezTo>
                      <a:close/>
                    </a:path>
                  </a:pathLst>
                </a:custGeom>
                <a:grpFill/>
                <a:ln w="37253" cap="flat">
                  <a:noFill/>
                  <a:prstDash val="solid"/>
                  <a:miter/>
                </a:ln>
              </p:spPr>
              <p:txBody>
                <a:bodyPr rtlCol="0" anchor="ctr"/>
                <a:lstStyle/>
                <a:p>
                  <a:endParaRPr lang="zh-CN" altLang="en-US" sz="450"/>
                </a:p>
              </p:txBody>
            </p:sp>
            <p:sp>
              <p:nvSpPr>
                <p:cNvPr id="39" name="任意多边形: 形状 56">
                  <a:extLst>
                    <a:ext uri="{FF2B5EF4-FFF2-40B4-BE49-F238E27FC236}">
                      <a16:creationId xmlns:a16="http://schemas.microsoft.com/office/drawing/2014/main" id="{5D9D7932-8897-E7CB-E306-DE5FB8ECFAB6}"/>
                    </a:ext>
                  </a:extLst>
                </p:cNvPr>
                <p:cNvSpPr/>
                <p:nvPr/>
              </p:nvSpPr>
              <p:spPr>
                <a:xfrm>
                  <a:off x="16401425" y="10238434"/>
                  <a:ext cx="978080" cy="720042"/>
                </a:xfrm>
                <a:custGeom>
                  <a:avLst/>
                  <a:gdLst>
                    <a:gd name="connsiteX0" fmla="*/ 570516 w 978080"/>
                    <a:gd name="connsiteY0" fmla="*/ 112611 h 720042"/>
                    <a:gd name="connsiteX1" fmla="*/ 978080 w 978080"/>
                    <a:gd name="connsiteY1" fmla="*/ 112611 h 720042"/>
                    <a:gd name="connsiteX2" fmla="*/ 978080 w 978080"/>
                    <a:gd name="connsiteY2" fmla="*/ 14170 h 720042"/>
                    <a:gd name="connsiteX3" fmla="*/ 959063 w 978080"/>
                    <a:gd name="connsiteY3" fmla="*/ 0 h 720042"/>
                    <a:gd name="connsiteX4" fmla="*/ 0 w 978080"/>
                    <a:gd name="connsiteY4" fmla="*/ 0 h 720042"/>
                    <a:gd name="connsiteX5" fmla="*/ 0 w 978080"/>
                    <a:gd name="connsiteY5" fmla="*/ 112611 h 720042"/>
                    <a:gd name="connsiteX6" fmla="*/ 382581 w 978080"/>
                    <a:gd name="connsiteY6" fmla="*/ 112611 h 720042"/>
                    <a:gd name="connsiteX7" fmla="*/ 363564 w 978080"/>
                    <a:gd name="connsiteY7" fmla="*/ 188307 h 720042"/>
                    <a:gd name="connsiteX8" fmla="*/ 0 w 978080"/>
                    <a:gd name="connsiteY8" fmla="*/ 188307 h 720042"/>
                    <a:gd name="connsiteX9" fmla="*/ 0 w 978080"/>
                    <a:gd name="connsiteY9" fmla="*/ 719670 h 720042"/>
                    <a:gd name="connsiteX10" fmla="*/ 187935 w 978080"/>
                    <a:gd name="connsiteY10" fmla="*/ 719670 h 720042"/>
                    <a:gd name="connsiteX11" fmla="*/ 187935 w 978080"/>
                    <a:gd name="connsiteY11" fmla="*/ 308004 h 720042"/>
                    <a:gd name="connsiteX12" fmla="*/ 293834 w 978080"/>
                    <a:gd name="connsiteY12" fmla="*/ 308004 h 720042"/>
                    <a:gd name="connsiteX13" fmla="*/ 293834 w 978080"/>
                    <a:gd name="connsiteY13" fmla="*/ 719670 h 720042"/>
                    <a:gd name="connsiteX14" fmla="*/ 445599 w 978080"/>
                    <a:gd name="connsiteY14" fmla="*/ 719670 h 720042"/>
                    <a:gd name="connsiteX15" fmla="*/ 445599 w 978080"/>
                    <a:gd name="connsiteY15" fmla="*/ 308004 h 720042"/>
                    <a:gd name="connsiteX16" fmla="*/ 538820 w 978080"/>
                    <a:gd name="connsiteY16" fmla="*/ 308004 h 720042"/>
                    <a:gd name="connsiteX17" fmla="*/ 538820 w 978080"/>
                    <a:gd name="connsiteY17" fmla="*/ 719670 h 720042"/>
                    <a:gd name="connsiteX18" fmla="*/ 690585 w 978080"/>
                    <a:gd name="connsiteY18" fmla="*/ 719670 h 720042"/>
                    <a:gd name="connsiteX19" fmla="*/ 690585 w 978080"/>
                    <a:gd name="connsiteY19" fmla="*/ 308004 h 720042"/>
                    <a:gd name="connsiteX20" fmla="*/ 785298 w 978080"/>
                    <a:gd name="connsiteY20" fmla="*/ 308004 h 720042"/>
                    <a:gd name="connsiteX21" fmla="*/ 804315 w 978080"/>
                    <a:gd name="connsiteY21" fmla="*/ 327394 h 720042"/>
                    <a:gd name="connsiteX22" fmla="*/ 804315 w 978080"/>
                    <a:gd name="connsiteY22" fmla="*/ 582821 h 720042"/>
                    <a:gd name="connsiteX23" fmla="*/ 756213 w 978080"/>
                    <a:gd name="connsiteY23" fmla="*/ 626449 h 720042"/>
                    <a:gd name="connsiteX24" fmla="*/ 756213 w 978080"/>
                    <a:gd name="connsiteY24" fmla="*/ 720043 h 720042"/>
                    <a:gd name="connsiteX25" fmla="*/ 925876 w 978080"/>
                    <a:gd name="connsiteY25" fmla="*/ 693941 h 720042"/>
                    <a:gd name="connsiteX26" fmla="*/ 978080 w 978080"/>
                    <a:gd name="connsiteY26" fmla="*/ 586177 h 720042"/>
                    <a:gd name="connsiteX27" fmla="*/ 978080 w 978080"/>
                    <a:gd name="connsiteY27" fmla="*/ 227087 h 720042"/>
                    <a:gd name="connsiteX28" fmla="*/ 939673 w 978080"/>
                    <a:gd name="connsiteY28" fmla="*/ 188680 h 720042"/>
                    <a:gd name="connsiteX29" fmla="*/ 537329 w 978080"/>
                    <a:gd name="connsiteY29" fmla="*/ 188680 h 720042"/>
                    <a:gd name="connsiteX30" fmla="*/ 570516 w 978080"/>
                    <a:gd name="connsiteY30" fmla="*/ 112984 h 7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78080" h="720042">
                      <a:moveTo>
                        <a:pt x="570516" y="112611"/>
                      </a:moveTo>
                      <a:lnTo>
                        <a:pt x="978080" y="112611"/>
                      </a:lnTo>
                      <a:lnTo>
                        <a:pt x="978080" y="14170"/>
                      </a:lnTo>
                      <a:cubicBezTo>
                        <a:pt x="978080" y="6339"/>
                        <a:pt x="969504" y="0"/>
                        <a:pt x="959063" y="0"/>
                      </a:cubicBezTo>
                      <a:lnTo>
                        <a:pt x="0" y="0"/>
                      </a:lnTo>
                      <a:lnTo>
                        <a:pt x="0" y="112611"/>
                      </a:lnTo>
                      <a:lnTo>
                        <a:pt x="382581" y="112611"/>
                      </a:lnTo>
                      <a:lnTo>
                        <a:pt x="363564" y="188307"/>
                      </a:lnTo>
                      <a:lnTo>
                        <a:pt x="0" y="188307"/>
                      </a:lnTo>
                      <a:lnTo>
                        <a:pt x="0" y="719670"/>
                      </a:lnTo>
                      <a:lnTo>
                        <a:pt x="187935" y="719670"/>
                      </a:lnTo>
                      <a:lnTo>
                        <a:pt x="187935" y="308004"/>
                      </a:lnTo>
                      <a:lnTo>
                        <a:pt x="293834" y="308004"/>
                      </a:lnTo>
                      <a:lnTo>
                        <a:pt x="293834" y="719670"/>
                      </a:lnTo>
                      <a:lnTo>
                        <a:pt x="445599" y="719670"/>
                      </a:lnTo>
                      <a:lnTo>
                        <a:pt x="445599" y="308004"/>
                      </a:lnTo>
                      <a:lnTo>
                        <a:pt x="538820" y="308004"/>
                      </a:lnTo>
                      <a:lnTo>
                        <a:pt x="538820" y="719670"/>
                      </a:lnTo>
                      <a:lnTo>
                        <a:pt x="690585" y="719670"/>
                      </a:lnTo>
                      <a:lnTo>
                        <a:pt x="690585" y="308004"/>
                      </a:lnTo>
                      <a:lnTo>
                        <a:pt x="785298" y="308004"/>
                      </a:lnTo>
                      <a:cubicBezTo>
                        <a:pt x="795739" y="308004"/>
                        <a:pt x="804315" y="316580"/>
                        <a:pt x="804315" y="327394"/>
                      </a:cubicBezTo>
                      <a:lnTo>
                        <a:pt x="804315" y="582821"/>
                      </a:lnTo>
                      <a:cubicBezTo>
                        <a:pt x="804315" y="591025"/>
                        <a:pt x="784180" y="619736"/>
                        <a:pt x="756213" y="626449"/>
                      </a:cubicBezTo>
                      <a:lnTo>
                        <a:pt x="756213" y="720043"/>
                      </a:lnTo>
                      <a:cubicBezTo>
                        <a:pt x="816993" y="719297"/>
                        <a:pt x="888215" y="714823"/>
                        <a:pt x="925876" y="693941"/>
                      </a:cubicBezTo>
                      <a:cubicBezTo>
                        <a:pt x="968385" y="672686"/>
                        <a:pt x="978080" y="635771"/>
                        <a:pt x="978080" y="586177"/>
                      </a:cubicBezTo>
                      <a:lnTo>
                        <a:pt x="978080" y="227087"/>
                      </a:lnTo>
                      <a:cubicBezTo>
                        <a:pt x="978080" y="205833"/>
                        <a:pt x="960927" y="188680"/>
                        <a:pt x="939673" y="188680"/>
                      </a:cubicBezTo>
                      <a:lnTo>
                        <a:pt x="537329" y="188680"/>
                      </a:lnTo>
                      <a:lnTo>
                        <a:pt x="570516" y="112984"/>
                      </a:lnTo>
                      <a:close/>
                    </a:path>
                  </a:pathLst>
                </a:custGeom>
                <a:grpFill/>
                <a:ln w="37253" cap="flat">
                  <a:noFill/>
                  <a:prstDash val="solid"/>
                  <a:miter/>
                </a:ln>
              </p:spPr>
              <p:txBody>
                <a:bodyPr rtlCol="0" anchor="ctr"/>
                <a:lstStyle/>
                <a:p>
                  <a:endParaRPr lang="zh-CN" altLang="en-US" sz="450"/>
                </a:p>
              </p:txBody>
            </p:sp>
            <p:sp>
              <p:nvSpPr>
                <p:cNvPr id="40" name="任意多边形: 形状 57">
                  <a:extLst>
                    <a:ext uri="{FF2B5EF4-FFF2-40B4-BE49-F238E27FC236}">
                      <a16:creationId xmlns:a16="http://schemas.microsoft.com/office/drawing/2014/main" id="{10DE7B74-B7B6-9D3C-8D40-F48D7150E5E5}"/>
                    </a:ext>
                  </a:extLst>
                </p:cNvPr>
                <p:cNvSpPr/>
                <p:nvPr/>
              </p:nvSpPr>
              <p:spPr>
                <a:xfrm>
                  <a:off x="15887588" y="9910294"/>
                  <a:ext cx="498175" cy="1047810"/>
                </a:xfrm>
                <a:custGeom>
                  <a:avLst/>
                  <a:gdLst>
                    <a:gd name="connsiteX0" fmla="*/ 347903 w 498175"/>
                    <a:gd name="connsiteY0" fmla="*/ 477667 h 1047810"/>
                    <a:gd name="connsiteX1" fmla="*/ 498176 w 498175"/>
                    <a:gd name="connsiteY1" fmla="*/ 477667 h 1047810"/>
                    <a:gd name="connsiteX2" fmla="*/ 498176 w 498175"/>
                    <a:gd name="connsiteY2" fmla="*/ 357971 h 1047810"/>
                    <a:gd name="connsiteX3" fmla="*/ 347903 w 498175"/>
                    <a:gd name="connsiteY3" fmla="*/ 357971 h 1047810"/>
                    <a:gd name="connsiteX4" fmla="*/ 347903 w 498175"/>
                    <a:gd name="connsiteY4" fmla="*/ 120815 h 1047810"/>
                    <a:gd name="connsiteX5" fmla="*/ 498176 w 498175"/>
                    <a:gd name="connsiteY5" fmla="*/ 120815 h 1047810"/>
                    <a:gd name="connsiteX6" fmla="*/ 498176 w 498175"/>
                    <a:gd name="connsiteY6" fmla="*/ 0 h 1047810"/>
                    <a:gd name="connsiteX7" fmla="*/ 18644 w 498175"/>
                    <a:gd name="connsiteY7" fmla="*/ 11187 h 1047810"/>
                    <a:gd name="connsiteX8" fmla="*/ 373 w 498175"/>
                    <a:gd name="connsiteY8" fmla="*/ 24983 h 1047810"/>
                    <a:gd name="connsiteX9" fmla="*/ 373 w 498175"/>
                    <a:gd name="connsiteY9" fmla="*/ 120815 h 1047810"/>
                    <a:gd name="connsiteX10" fmla="*/ 175629 w 498175"/>
                    <a:gd name="connsiteY10" fmla="*/ 120815 h 1047810"/>
                    <a:gd name="connsiteX11" fmla="*/ 175629 w 498175"/>
                    <a:gd name="connsiteY11" fmla="*/ 357971 h 1047810"/>
                    <a:gd name="connsiteX12" fmla="*/ 19017 w 498175"/>
                    <a:gd name="connsiteY12" fmla="*/ 357971 h 1047810"/>
                    <a:gd name="connsiteX13" fmla="*/ 0 w 498175"/>
                    <a:gd name="connsiteY13" fmla="*/ 371767 h 1047810"/>
                    <a:gd name="connsiteX14" fmla="*/ 0 w 498175"/>
                    <a:gd name="connsiteY14" fmla="*/ 477667 h 1047810"/>
                    <a:gd name="connsiteX15" fmla="*/ 175256 w 498175"/>
                    <a:gd name="connsiteY15" fmla="*/ 477667 h 1047810"/>
                    <a:gd name="connsiteX16" fmla="*/ 175256 w 498175"/>
                    <a:gd name="connsiteY16" fmla="*/ 891943 h 1047810"/>
                    <a:gd name="connsiteX17" fmla="*/ 14543 w 498175"/>
                    <a:gd name="connsiteY17" fmla="*/ 920283 h 1047810"/>
                    <a:gd name="connsiteX18" fmla="*/ 0 w 498175"/>
                    <a:gd name="connsiteY18" fmla="*/ 933707 h 1047810"/>
                    <a:gd name="connsiteX19" fmla="*/ 0 w 498175"/>
                    <a:gd name="connsiteY19" fmla="*/ 1047810 h 1047810"/>
                    <a:gd name="connsiteX20" fmla="*/ 497803 w 498175"/>
                    <a:gd name="connsiteY20" fmla="*/ 944148 h 1047810"/>
                    <a:gd name="connsiteX21" fmla="*/ 497803 w 498175"/>
                    <a:gd name="connsiteY21" fmla="*/ 824451 h 1047810"/>
                    <a:gd name="connsiteX22" fmla="*/ 347530 w 498175"/>
                    <a:gd name="connsiteY22" fmla="*/ 853164 h 1047810"/>
                    <a:gd name="connsiteX23" fmla="*/ 347530 w 498175"/>
                    <a:gd name="connsiteY23" fmla="*/ 477667 h 10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8175" h="1047810">
                      <a:moveTo>
                        <a:pt x="347903" y="477667"/>
                      </a:moveTo>
                      <a:lnTo>
                        <a:pt x="498176" y="477667"/>
                      </a:lnTo>
                      <a:lnTo>
                        <a:pt x="498176" y="357971"/>
                      </a:lnTo>
                      <a:lnTo>
                        <a:pt x="347903" y="357971"/>
                      </a:lnTo>
                      <a:lnTo>
                        <a:pt x="347903" y="120815"/>
                      </a:lnTo>
                      <a:lnTo>
                        <a:pt x="498176" y="120815"/>
                      </a:lnTo>
                      <a:lnTo>
                        <a:pt x="498176" y="0"/>
                      </a:lnTo>
                      <a:lnTo>
                        <a:pt x="18644" y="11187"/>
                      </a:lnTo>
                      <a:cubicBezTo>
                        <a:pt x="8576" y="11187"/>
                        <a:pt x="373" y="17526"/>
                        <a:pt x="373" y="24983"/>
                      </a:cubicBezTo>
                      <a:lnTo>
                        <a:pt x="373" y="120815"/>
                      </a:lnTo>
                      <a:lnTo>
                        <a:pt x="175629" y="120815"/>
                      </a:lnTo>
                      <a:lnTo>
                        <a:pt x="175629" y="357971"/>
                      </a:lnTo>
                      <a:lnTo>
                        <a:pt x="19017" y="357971"/>
                      </a:lnTo>
                      <a:cubicBezTo>
                        <a:pt x="8576" y="357971"/>
                        <a:pt x="0" y="364310"/>
                        <a:pt x="0" y="371767"/>
                      </a:cubicBezTo>
                      <a:lnTo>
                        <a:pt x="0" y="477667"/>
                      </a:lnTo>
                      <a:lnTo>
                        <a:pt x="175256" y="477667"/>
                      </a:lnTo>
                      <a:lnTo>
                        <a:pt x="175256" y="891943"/>
                      </a:lnTo>
                      <a:lnTo>
                        <a:pt x="14543" y="920283"/>
                      </a:lnTo>
                      <a:cubicBezTo>
                        <a:pt x="5966" y="921774"/>
                        <a:pt x="0" y="927367"/>
                        <a:pt x="0" y="933707"/>
                      </a:cubicBezTo>
                      <a:lnTo>
                        <a:pt x="0" y="1047810"/>
                      </a:lnTo>
                      <a:cubicBezTo>
                        <a:pt x="132002" y="1017979"/>
                        <a:pt x="344920" y="981809"/>
                        <a:pt x="497803" y="944148"/>
                      </a:cubicBezTo>
                      <a:lnTo>
                        <a:pt x="497803" y="824451"/>
                      </a:lnTo>
                      <a:lnTo>
                        <a:pt x="347530" y="853164"/>
                      </a:lnTo>
                      <a:lnTo>
                        <a:pt x="347530" y="477667"/>
                      </a:lnTo>
                      <a:close/>
                    </a:path>
                  </a:pathLst>
                </a:custGeom>
                <a:grpFill/>
                <a:ln w="37253" cap="flat">
                  <a:noFill/>
                  <a:prstDash val="solid"/>
                  <a:miter/>
                </a:ln>
              </p:spPr>
              <p:txBody>
                <a:bodyPr rtlCol="0" anchor="ctr"/>
                <a:lstStyle/>
                <a:p>
                  <a:endParaRPr lang="zh-CN" altLang="en-US" sz="450"/>
                </a:p>
              </p:txBody>
            </p:sp>
          </p:grpSp>
          <p:grpSp>
            <p:nvGrpSpPr>
              <p:cNvPr id="32" name="图形 3">
                <a:extLst>
                  <a:ext uri="{FF2B5EF4-FFF2-40B4-BE49-F238E27FC236}">
                    <a16:creationId xmlns:a16="http://schemas.microsoft.com/office/drawing/2014/main" id="{5F2C3592-0681-8507-39E2-24AF0F73CAAF}"/>
                  </a:ext>
                </a:extLst>
              </p:cNvPr>
              <p:cNvGrpSpPr/>
              <p:nvPr/>
            </p:nvGrpSpPr>
            <p:grpSpPr>
              <a:xfrm>
                <a:off x="19364751" y="9839446"/>
                <a:ext cx="1491917" cy="1118658"/>
                <a:chOff x="19364751" y="9839446"/>
                <a:chExt cx="1491917" cy="1118658"/>
              </a:xfrm>
              <a:grpFill/>
            </p:grpSpPr>
            <p:sp>
              <p:nvSpPr>
                <p:cNvPr id="34" name="任意多边形: 形状 51">
                  <a:extLst>
                    <a:ext uri="{FF2B5EF4-FFF2-40B4-BE49-F238E27FC236}">
                      <a16:creationId xmlns:a16="http://schemas.microsoft.com/office/drawing/2014/main" id="{63752DFA-AF73-C725-97E1-23E4BAA2CAD9}"/>
                    </a:ext>
                  </a:extLst>
                </p:cNvPr>
                <p:cNvSpPr/>
                <p:nvPr/>
              </p:nvSpPr>
              <p:spPr>
                <a:xfrm>
                  <a:off x="19593703" y="10454335"/>
                  <a:ext cx="1119031" cy="503769"/>
                </a:xfrm>
                <a:custGeom>
                  <a:avLst/>
                  <a:gdLst>
                    <a:gd name="connsiteX0" fmla="*/ 373 w 1119031"/>
                    <a:gd name="connsiteY0" fmla="*/ 38780 h 503769"/>
                    <a:gd name="connsiteX1" fmla="*/ 373 w 1119031"/>
                    <a:gd name="connsiteY1" fmla="*/ 503769 h 503769"/>
                    <a:gd name="connsiteX2" fmla="*/ 1119031 w 1119031"/>
                    <a:gd name="connsiteY2" fmla="*/ 502277 h 503769"/>
                    <a:gd name="connsiteX3" fmla="*/ 1119031 w 1119031"/>
                    <a:gd name="connsiteY3" fmla="*/ 38407 h 503769"/>
                    <a:gd name="connsiteX4" fmla="*/ 1079506 w 1119031"/>
                    <a:gd name="connsiteY4" fmla="*/ 0 h 503769"/>
                    <a:gd name="connsiteX5" fmla="*/ 39526 w 1119031"/>
                    <a:gd name="connsiteY5" fmla="*/ 0 h 503769"/>
                    <a:gd name="connsiteX6" fmla="*/ 0 w 1119031"/>
                    <a:gd name="connsiteY6" fmla="*/ 38407 h 503769"/>
                    <a:gd name="connsiteX7" fmla="*/ 899774 w 1119031"/>
                    <a:gd name="connsiteY7" fmla="*/ 386310 h 503769"/>
                    <a:gd name="connsiteX8" fmla="*/ 200986 w 1119031"/>
                    <a:gd name="connsiteY8" fmla="*/ 386310 h 503769"/>
                    <a:gd name="connsiteX9" fmla="*/ 200986 w 1119031"/>
                    <a:gd name="connsiteY9" fmla="*/ 303156 h 503769"/>
                    <a:gd name="connsiteX10" fmla="*/ 899774 w 1119031"/>
                    <a:gd name="connsiteY10" fmla="*/ 303156 h 503769"/>
                    <a:gd name="connsiteX11" fmla="*/ 909469 w 1119031"/>
                    <a:gd name="connsiteY11" fmla="*/ 312851 h 503769"/>
                    <a:gd name="connsiteX12" fmla="*/ 909469 w 1119031"/>
                    <a:gd name="connsiteY12" fmla="*/ 376615 h 503769"/>
                    <a:gd name="connsiteX13" fmla="*/ 899774 w 1119031"/>
                    <a:gd name="connsiteY13" fmla="*/ 386310 h 503769"/>
                    <a:gd name="connsiteX14" fmla="*/ 899774 w 1119031"/>
                    <a:gd name="connsiteY14" fmla="*/ 200613 h 503769"/>
                    <a:gd name="connsiteX15" fmla="*/ 200986 w 1119031"/>
                    <a:gd name="connsiteY15" fmla="*/ 200613 h 503769"/>
                    <a:gd name="connsiteX16" fmla="*/ 200986 w 1119031"/>
                    <a:gd name="connsiteY16" fmla="*/ 111120 h 503769"/>
                    <a:gd name="connsiteX17" fmla="*/ 899774 w 1119031"/>
                    <a:gd name="connsiteY17" fmla="*/ 111120 h 503769"/>
                    <a:gd name="connsiteX18" fmla="*/ 909469 w 1119031"/>
                    <a:gd name="connsiteY18" fmla="*/ 120815 h 503769"/>
                    <a:gd name="connsiteX19" fmla="*/ 909469 w 1119031"/>
                    <a:gd name="connsiteY19" fmla="*/ 190917 h 503769"/>
                    <a:gd name="connsiteX20" fmla="*/ 899774 w 1119031"/>
                    <a:gd name="connsiteY20" fmla="*/ 200613 h 50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9031" h="503769">
                      <a:moveTo>
                        <a:pt x="373" y="38780"/>
                      </a:moveTo>
                      <a:lnTo>
                        <a:pt x="373" y="503769"/>
                      </a:lnTo>
                      <a:lnTo>
                        <a:pt x="1119031" y="502277"/>
                      </a:lnTo>
                      <a:lnTo>
                        <a:pt x="1119031" y="38407"/>
                      </a:lnTo>
                      <a:cubicBezTo>
                        <a:pt x="1119031" y="17153"/>
                        <a:pt x="1101506" y="0"/>
                        <a:pt x="1079506" y="0"/>
                      </a:cubicBezTo>
                      <a:lnTo>
                        <a:pt x="39526" y="0"/>
                      </a:lnTo>
                      <a:cubicBezTo>
                        <a:pt x="17899" y="0"/>
                        <a:pt x="0" y="17153"/>
                        <a:pt x="0" y="38407"/>
                      </a:cubicBezTo>
                      <a:close/>
                      <a:moveTo>
                        <a:pt x="899774" y="386310"/>
                      </a:moveTo>
                      <a:lnTo>
                        <a:pt x="200986" y="386310"/>
                      </a:lnTo>
                      <a:lnTo>
                        <a:pt x="200986" y="303156"/>
                      </a:lnTo>
                      <a:lnTo>
                        <a:pt x="899774" y="303156"/>
                      </a:lnTo>
                      <a:cubicBezTo>
                        <a:pt x="905367" y="303156"/>
                        <a:pt x="909469" y="307631"/>
                        <a:pt x="909469" y="312851"/>
                      </a:cubicBezTo>
                      <a:lnTo>
                        <a:pt x="909469" y="376615"/>
                      </a:lnTo>
                      <a:cubicBezTo>
                        <a:pt x="909469" y="381835"/>
                        <a:pt x="904995" y="386310"/>
                        <a:pt x="899774" y="386310"/>
                      </a:cubicBezTo>
                      <a:close/>
                      <a:moveTo>
                        <a:pt x="899774" y="200613"/>
                      </a:moveTo>
                      <a:lnTo>
                        <a:pt x="200986" y="200613"/>
                      </a:lnTo>
                      <a:lnTo>
                        <a:pt x="200986" y="111120"/>
                      </a:lnTo>
                      <a:lnTo>
                        <a:pt x="899774" y="111120"/>
                      </a:lnTo>
                      <a:cubicBezTo>
                        <a:pt x="905367" y="111120"/>
                        <a:pt x="909469" y="115595"/>
                        <a:pt x="909469" y="120815"/>
                      </a:cubicBezTo>
                      <a:lnTo>
                        <a:pt x="909469" y="190917"/>
                      </a:lnTo>
                      <a:cubicBezTo>
                        <a:pt x="909469" y="196138"/>
                        <a:pt x="904995" y="200613"/>
                        <a:pt x="899774" y="200613"/>
                      </a:cubicBezTo>
                      <a:close/>
                    </a:path>
                  </a:pathLst>
                </a:custGeom>
                <a:grpFill/>
                <a:ln w="37253" cap="flat">
                  <a:noFill/>
                  <a:prstDash val="solid"/>
                  <a:miter/>
                </a:ln>
              </p:spPr>
              <p:txBody>
                <a:bodyPr rtlCol="0" anchor="ctr"/>
                <a:lstStyle/>
                <a:p>
                  <a:endParaRPr lang="zh-CN" altLang="en-US" sz="450"/>
                </a:p>
              </p:txBody>
            </p:sp>
            <p:grpSp>
              <p:nvGrpSpPr>
                <p:cNvPr id="35" name="图形 3">
                  <a:extLst>
                    <a:ext uri="{FF2B5EF4-FFF2-40B4-BE49-F238E27FC236}">
                      <a16:creationId xmlns:a16="http://schemas.microsoft.com/office/drawing/2014/main" id="{75C8F05A-5E70-8A38-F057-AD9C6AF0A634}"/>
                    </a:ext>
                  </a:extLst>
                </p:cNvPr>
                <p:cNvGrpSpPr/>
                <p:nvPr/>
              </p:nvGrpSpPr>
              <p:grpSpPr>
                <a:xfrm>
                  <a:off x="19364751" y="9839446"/>
                  <a:ext cx="1491917" cy="653669"/>
                  <a:chOff x="19364751" y="9839446"/>
                  <a:chExt cx="1491917" cy="653669"/>
                </a:xfrm>
                <a:grpFill/>
              </p:grpSpPr>
              <p:sp>
                <p:nvSpPr>
                  <p:cNvPr id="36" name="任意多边形: 形状 53">
                    <a:extLst>
                      <a:ext uri="{FF2B5EF4-FFF2-40B4-BE49-F238E27FC236}">
                        <a16:creationId xmlns:a16="http://schemas.microsoft.com/office/drawing/2014/main" id="{C1E09D4F-F013-6B93-3092-D186F43CC470}"/>
                      </a:ext>
                    </a:extLst>
                  </p:cNvPr>
                  <p:cNvSpPr/>
                  <p:nvPr/>
                </p:nvSpPr>
                <p:spPr>
                  <a:xfrm>
                    <a:off x="20204490" y="9930803"/>
                    <a:ext cx="652178" cy="452310"/>
                  </a:xfrm>
                  <a:custGeom>
                    <a:avLst/>
                    <a:gdLst>
                      <a:gd name="connsiteX0" fmla="*/ 373 w 652178"/>
                      <a:gd name="connsiteY0" fmla="*/ 0 h 452310"/>
                      <a:gd name="connsiteX1" fmla="*/ 373 w 652178"/>
                      <a:gd name="connsiteY1" fmla="*/ 452311 h 452310"/>
                      <a:gd name="connsiteX2" fmla="*/ 642483 w 652178"/>
                      <a:gd name="connsiteY2" fmla="*/ 452311 h 452310"/>
                      <a:gd name="connsiteX3" fmla="*/ 652178 w 652178"/>
                      <a:gd name="connsiteY3" fmla="*/ 442616 h 452310"/>
                      <a:gd name="connsiteX4" fmla="*/ 652178 w 652178"/>
                      <a:gd name="connsiteY4" fmla="*/ 37662 h 452310"/>
                      <a:gd name="connsiteX5" fmla="*/ 614889 w 652178"/>
                      <a:gd name="connsiteY5" fmla="*/ 373 h 452310"/>
                      <a:gd name="connsiteX6" fmla="*/ 0 w 652178"/>
                      <a:gd name="connsiteY6" fmla="*/ 373 h 452310"/>
                      <a:gd name="connsiteX7" fmla="*/ 466108 w 652178"/>
                      <a:gd name="connsiteY7" fmla="*/ 341563 h 452310"/>
                      <a:gd name="connsiteX8" fmla="*/ 177494 w 652178"/>
                      <a:gd name="connsiteY8" fmla="*/ 341563 h 452310"/>
                      <a:gd name="connsiteX9" fmla="*/ 177494 w 652178"/>
                      <a:gd name="connsiteY9" fmla="*/ 110747 h 452310"/>
                      <a:gd name="connsiteX10" fmla="*/ 466108 w 652178"/>
                      <a:gd name="connsiteY10" fmla="*/ 110747 h 452310"/>
                      <a:gd name="connsiteX11" fmla="*/ 475803 w 652178"/>
                      <a:gd name="connsiteY11" fmla="*/ 120442 h 452310"/>
                      <a:gd name="connsiteX12" fmla="*/ 475803 w 652178"/>
                      <a:gd name="connsiteY12" fmla="*/ 332241 h 452310"/>
                      <a:gd name="connsiteX13" fmla="*/ 466108 w 652178"/>
                      <a:gd name="connsiteY13" fmla="*/ 341936 h 45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78" h="452310">
                        <a:moveTo>
                          <a:pt x="373" y="0"/>
                        </a:moveTo>
                        <a:lnTo>
                          <a:pt x="373" y="452311"/>
                        </a:lnTo>
                        <a:lnTo>
                          <a:pt x="642483" y="452311"/>
                        </a:lnTo>
                        <a:cubicBezTo>
                          <a:pt x="648076" y="452311"/>
                          <a:pt x="652178" y="447836"/>
                          <a:pt x="652178" y="442616"/>
                        </a:cubicBezTo>
                        <a:lnTo>
                          <a:pt x="652178" y="37662"/>
                        </a:lnTo>
                        <a:cubicBezTo>
                          <a:pt x="652178" y="17153"/>
                          <a:pt x="635398" y="373"/>
                          <a:pt x="614889" y="373"/>
                        </a:cubicBezTo>
                        <a:lnTo>
                          <a:pt x="0" y="373"/>
                        </a:lnTo>
                        <a:close/>
                        <a:moveTo>
                          <a:pt x="466108" y="341563"/>
                        </a:moveTo>
                        <a:lnTo>
                          <a:pt x="177494" y="341563"/>
                        </a:lnTo>
                        <a:lnTo>
                          <a:pt x="177494" y="110747"/>
                        </a:lnTo>
                        <a:lnTo>
                          <a:pt x="466108" y="110747"/>
                        </a:lnTo>
                        <a:cubicBezTo>
                          <a:pt x="471701" y="110747"/>
                          <a:pt x="475803" y="115222"/>
                          <a:pt x="475803" y="120442"/>
                        </a:cubicBezTo>
                        <a:lnTo>
                          <a:pt x="475803" y="332241"/>
                        </a:lnTo>
                        <a:cubicBezTo>
                          <a:pt x="475803" y="337462"/>
                          <a:pt x="471328" y="341936"/>
                          <a:pt x="466108" y="341936"/>
                        </a:cubicBezTo>
                        <a:close/>
                      </a:path>
                    </a:pathLst>
                  </a:custGeom>
                  <a:grpFill/>
                  <a:ln w="37253" cap="flat">
                    <a:noFill/>
                    <a:prstDash val="solid"/>
                    <a:miter/>
                  </a:ln>
                </p:spPr>
                <p:txBody>
                  <a:bodyPr rtlCol="0" anchor="ctr"/>
                  <a:lstStyle/>
                  <a:p>
                    <a:endParaRPr lang="zh-CN" altLang="en-US" sz="450"/>
                  </a:p>
                </p:txBody>
              </p:sp>
              <p:sp>
                <p:nvSpPr>
                  <p:cNvPr id="37" name="任意多边形: 形状 54">
                    <a:extLst>
                      <a:ext uri="{FF2B5EF4-FFF2-40B4-BE49-F238E27FC236}">
                        <a16:creationId xmlns:a16="http://schemas.microsoft.com/office/drawing/2014/main" id="{D11C4765-D83D-07EA-C36C-15CEDCA83B04}"/>
                      </a:ext>
                    </a:extLst>
                  </p:cNvPr>
                  <p:cNvSpPr/>
                  <p:nvPr/>
                </p:nvSpPr>
                <p:spPr>
                  <a:xfrm>
                    <a:off x="19364751" y="9839446"/>
                    <a:ext cx="784925" cy="653669"/>
                  </a:xfrm>
                  <a:custGeom>
                    <a:avLst/>
                    <a:gdLst>
                      <a:gd name="connsiteX0" fmla="*/ 745772 w 784925"/>
                      <a:gd name="connsiteY0" fmla="*/ 281156 h 653669"/>
                      <a:gd name="connsiteX1" fmla="*/ 503769 w 784925"/>
                      <a:gd name="connsiteY1" fmla="*/ 281156 h 653669"/>
                      <a:gd name="connsiteX2" fmla="*/ 505261 w 784925"/>
                      <a:gd name="connsiteY2" fmla="*/ 203596 h 653669"/>
                      <a:gd name="connsiteX3" fmla="*/ 784925 w 784925"/>
                      <a:gd name="connsiteY3" fmla="*/ 203596 h 653669"/>
                      <a:gd name="connsiteX4" fmla="*/ 784925 w 784925"/>
                      <a:gd name="connsiteY4" fmla="*/ 132375 h 653669"/>
                      <a:gd name="connsiteX5" fmla="*/ 745399 w 784925"/>
                      <a:gd name="connsiteY5" fmla="*/ 93967 h 653669"/>
                      <a:gd name="connsiteX6" fmla="*/ 319936 w 784925"/>
                      <a:gd name="connsiteY6" fmla="*/ 93967 h 653669"/>
                      <a:gd name="connsiteX7" fmla="*/ 362818 w 784925"/>
                      <a:gd name="connsiteY7" fmla="*/ 13424 h 653669"/>
                      <a:gd name="connsiteX8" fmla="*/ 353869 w 784925"/>
                      <a:gd name="connsiteY8" fmla="*/ 0 h 653669"/>
                      <a:gd name="connsiteX9" fmla="*/ 179731 w 784925"/>
                      <a:gd name="connsiteY9" fmla="*/ 0 h 653669"/>
                      <a:gd name="connsiteX10" fmla="*/ 170409 w 784925"/>
                      <a:gd name="connsiteY10" fmla="*/ 6339 h 653669"/>
                      <a:gd name="connsiteX11" fmla="*/ 373 w 784925"/>
                      <a:gd name="connsiteY11" fmla="*/ 242376 h 653669"/>
                      <a:gd name="connsiteX12" fmla="*/ 206206 w 784925"/>
                      <a:gd name="connsiteY12" fmla="*/ 242376 h 653669"/>
                      <a:gd name="connsiteX13" fmla="*/ 242376 w 784925"/>
                      <a:gd name="connsiteY13" fmla="*/ 203596 h 653669"/>
                      <a:gd name="connsiteX14" fmla="*/ 328140 w 784925"/>
                      <a:gd name="connsiteY14" fmla="*/ 203596 h 653669"/>
                      <a:gd name="connsiteX15" fmla="*/ 328140 w 784925"/>
                      <a:gd name="connsiteY15" fmla="*/ 267360 h 653669"/>
                      <a:gd name="connsiteX16" fmla="*/ 326275 w 784925"/>
                      <a:gd name="connsiteY16" fmla="*/ 281156 h 653669"/>
                      <a:gd name="connsiteX17" fmla="*/ 39526 w 784925"/>
                      <a:gd name="connsiteY17" fmla="*/ 281156 h 653669"/>
                      <a:gd name="connsiteX18" fmla="*/ 0 w 784925"/>
                      <a:gd name="connsiteY18" fmla="*/ 319563 h 653669"/>
                      <a:gd name="connsiteX19" fmla="*/ 0 w 784925"/>
                      <a:gd name="connsiteY19" fmla="*/ 392276 h 653669"/>
                      <a:gd name="connsiteX20" fmla="*/ 303156 w 784925"/>
                      <a:gd name="connsiteY20" fmla="*/ 392276 h 653669"/>
                      <a:gd name="connsiteX21" fmla="*/ 38780 w 784925"/>
                      <a:gd name="connsiteY21" fmla="*/ 571261 h 653669"/>
                      <a:gd name="connsiteX22" fmla="*/ 35797 w 784925"/>
                      <a:gd name="connsiteY22" fmla="*/ 587669 h 653669"/>
                      <a:gd name="connsiteX23" fmla="*/ 108137 w 784925"/>
                      <a:gd name="connsiteY23" fmla="*/ 653670 h 653669"/>
                      <a:gd name="connsiteX24" fmla="*/ 301292 w 784925"/>
                      <a:gd name="connsiteY24" fmla="*/ 571261 h 653669"/>
                      <a:gd name="connsiteX25" fmla="*/ 423972 w 784925"/>
                      <a:gd name="connsiteY25" fmla="*/ 481769 h 653669"/>
                      <a:gd name="connsiteX26" fmla="*/ 527261 w 784925"/>
                      <a:gd name="connsiteY26" fmla="*/ 542176 h 653669"/>
                      <a:gd name="connsiteX27" fmla="*/ 532481 w 784925"/>
                      <a:gd name="connsiteY27" fmla="*/ 543668 h 653669"/>
                      <a:gd name="connsiteX28" fmla="*/ 736450 w 784925"/>
                      <a:gd name="connsiteY28" fmla="*/ 543668 h 653669"/>
                      <a:gd name="connsiteX29" fmla="*/ 741298 w 784925"/>
                      <a:gd name="connsiteY29" fmla="*/ 525770 h 653669"/>
                      <a:gd name="connsiteX30" fmla="*/ 501159 w 784925"/>
                      <a:gd name="connsiteY30" fmla="*/ 392276 h 653669"/>
                      <a:gd name="connsiteX31" fmla="*/ 784179 w 784925"/>
                      <a:gd name="connsiteY31" fmla="*/ 392276 h 653669"/>
                      <a:gd name="connsiteX32" fmla="*/ 784179 w 784925"/>
                      <a:gd name="connsiteY32" fmla="*/ 319563 h 653669"/>
                      <a:gd name="connsiteX33" fmla="*/ 744654 w 784925"/>
                      <a:gd name="connsiteY33" fmla="*/ 281156 h 65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4925" h="653669">
                        <a:moveTo>
                          <a:pt x="745772" y="281156"/>
                        </a:moveTo>
                        <a:lnTo>
                          <a:pt x="503769" y="281156"/>
                        </a:lnTo>
                        <a:cubicBezTo>
                          <a:pt x="504888" y="277054"/>
                          <a:pt x="505261" y="203596"/>
                          <a:pt x="505261" y="203596"/>
                        </a:cubicBezTo>
                        <a:lnTo>
                          <a:pt x="784925" y="203596"/>
                        </a:lnTo>
                        <a:lnTo>
                          <a:pt x="784925" y="132375"/>
                        </a:lnTo>
                        <a:cubicBezTo>
                          <a:pt x="784925" y="111120"/>
                          <a:pt x="767400" y="93967"/>
                          <a:pt x="745399" y="93967"/>
                        </a:cubicBezTo>
                        <a:lnTo>
                          <a:pt x="319936" y="93967"/>
                        </a:lnTo>
                        <a:cubicBezTo>
                          <a:pt x="325530" y="83527"/>
                          <a:pt x="348648" y="48848"/>
                          <a:pt x="362818" y="13424"/>
                        </a:cubicBezTo>
                        <a:cubicBezTo>
                          <a:pt x="365429" y="7085"/>
                          <a:pt x="360581" y="0"/>
                          <a:pt x="353869" y="0"/>
                        </a:cubicBezTo>
                        <a:lnTo>
                          <a:pt x="179731" y="0"/>
                        </a:lnTo>
                        <a:cubicBezTo>
                          <a:pt x="175629" y="0"/>
                          <a:pt x="171901" y="2610"/>
                          <a:pt x="170409" y="6339"/>
                        </a:cubicBezTo>
                        <a:cubicBezTo>
                          <a:pt x="149527" y="64882"/>
                          <a:pt x="85764" y="163697"/>
                          <a:pt x="373" y="242376"/>
                        </a:cubicBezTo>
                        <a:lnTo>
                          <a:pt x="206206" y="242376"/>
                        </a:lnTo>
                        <a:cubicBezTo>
                          <a:pt x="218511" y="230071"/>
                          <a:pt x="230444" y="217020"/>
                          <a:pt x="242376" y="203596"/>
                        </a:cubicBezTo>
                        <a:lnTo>
                          <a:pt x="328140" y="203596"/>
                        </a:lnTo>
                        <a:lnTo>
                          <a:pt x="328140" y="267360"/>
                        </a:lnTo>
                        <a:cubicBezTo>
                          <a:pt x="328140" y="271461"/>
                          <a:pt x="327394" y="276309"/>
                          <a:pt x="326275" y="281156"/>
                        </a:cubicBezTo>
                        <a:lnTo>
                          <a:pt x="39526" y="281156"/>
                        </a:lnTo>
                        <a:cubicBezTo>
                          <a:pt x="17899" y="281156"/>
                          <a:pt x="0" y="298309"/>
                          <a:pt x="0" y="319563"/>
                        </a:cubicBezTo>
                        <a:lnTo>
                          <a:pt x="0" y="392276"/>
                        </a:lnTo>
                        <a:lnTo>
                          <a:pt x="303156" y="392276"/>
                        </a:lnTo>
                        <a:cubicBezTo>
                          <a:pt x="250207" y="475057"/>
                          <a:pt x="126408" y="543295"/>
                          <a:pt x="38780" y="571261"/>
                        </a:cubicBezTo>
                        <a:cubicBezTo>
                          <a:pt x="31323" y="573499"/>
                          <a:pt x="29831" y="582821"/>
                          <a:pt x="35797" y="587669"/>
                        </a:cubicBezTo>
                        <a:cubicBezTo>
                          <a:pt x="59662" y="606686"/>
                          <a:pt x="80171" y="626822"/>
                          <a:pt x="108137" y="653670"/>
                        </a:cubicBezTo>
                        <a:cubicBezTo>
                          <a:pt x="186070" y="628313"/>
                          <a:pt x="250207" y="600719"/>
                          <a:pt x="301292" y="571261"/>
                        </a:cubicBezTo>
                        <a:cubicBezTo>
                          <a:pt x="352377" y="541804"/>
                          <a:pt x="393022" y="511973"/>
                          <a:pt x="423972" y="481769"/>
                        </a:cubicBezTo>
                        <a:cubicBezTo>
                          <a:pt x="434039" y="486616"/>
                          <a:pt x="482142" y="514956"/>
                          <a:pt x="527261" y="542176"/>
                        </a:cubicBezTo>
                        <a:cubicBezTo>
                          <a:pt x="528753" y="543295"/>
                          <a:pt x="530617" y="543668"/>
                          <a:pt x="532481" y="543668"/>
                        </a:cubicBezTo>
                        <a:lnTo>
                          <a:pt x="736450" y="543668"/>
                        </a:lnTo>
                        <a:cubicBezTo>
                          <a:pt x="746518" y="543668"/>
                          <a:pt x="750247" y="530617"/>
                          <a:pt x="741298" y="525770"/>
                        </a:cubicBezTo>
                        <a:cubicBezTo>
                          <a:pt x="642856" y="469837"/>
                          <a:pt x="512718" y="396005"/>
                          <a:pt x="501159" y="392276"/>
                        </a:cubicBezTo>
                        <a:lnTo>
                          <a:pt x="784179" y="392276"/>
                        </a:lnTo>
                        <a:lnTo>
                          <a:pt x="784179" y="319563"/>
                        </a:lnTo>
                        <a:cubicBezTo>
                          <a:pt x="784179" y="298309"/>
                          <a:pt x="766654" y="281156"/>
                          <a:pt x="744654" y="281156"/>
                        </a:cubicBezTo>
                        <a:close/>
                      </a:path>
                    </a:pathLst>
                  </a:custGeom>
                  <a:grpFill/>
                  <a:ln w="37253" cap="flat">
                    <a:noFill/>
                    <a:prstDash val="solid"/>
                    <a:miter/>
                  </a:ln>
                </p:spPr>
                <p:txBody>
                  <a:bodyPr rtlCol="0" anchor="ctr"/>
                  <a:lstStyle/>
                  <a:p>
                    <a:endParaRPr lang="zh-CN" altLang="en-US" sz="450"/>
                  </a:p>
                </p:txBody>
              </p:sp>
            </p:grpSp>
          </p:grpSp>
          <p:sp>
            <p:nvSpPr>
              <p:cNvPr id="33" name="任意多边形: 形状 50">
                <a:extLst>
                  <a:ext uri="{FF2B5EF4-FFF2-40B4-BE49-F238E27FC236}">
                    <a16:creationId xmlns:a16="http://schemas.microsoft.com/office/drawing/2014/main" id="{928C3DB6-9C28-45A4-30E7-A47F1462DDCA}"/>
                  </a:ext>
                </a:extLst>
              </p:cNvPr>
              <p:cNvSpPr/>
              <p:nvPr/>
            </p:nvSpPr>
            <p:spPr>
              <a:xfrm>
                <a:off x="21104264" y="9842056"/>
                <a:ext cx="1491917" cy="1118658"/>
              </a:xfrm>
              <a:custGeom>
                <a:avLst/>
                <a:gdLst>
                  <a:gd name="connsiteX0" fmla="*/ 1491545 w 1491917"/>
                  <a:gd name="connsiteY0" fmla="*/ 460887 h 1118658"/>
                  <a:gd name="connsiteX1" fmla="*/ 1491545 w 1491917"/>
                  <a:gd name="connsiteY1" fmla="*/ 349021 h 1118658"/>
                  <a:gd name="connsiteX2" fmla="*/ 1481850 w 1491917"/>
                  <a:gd name="connsiteY2" fmla="*/ 339327 h 1118658"/>
                  <a:gd name="connsiteX3" fmla="*/ 873672 w 1491917"/>
                  <a:gd name="connsiteY3" fmla="*/ 339327 h 1118658"/>
                  <a:gd name="connsiteX4" fmla="*/ 873672 w 1491917"/>
                  <a:gd name="connsiteY4" fmla="*/ 276309 h 1118658"/>
                  <a:gd name="connsiteX5" fmla="*/ 654042 w 1491917"/>
                  <a:gd name="connsiteY5" fmla="*/ 276309 h 1118658"/>
                  <a:gd name="connsiteX6" fmla="*/ 654042 w 1491917"/>
                  <a:gd name="connsiteY6" fmla="*/ 339327 h 1118658"/>
                  <a:gd name="connsiteX7" fmla="*/ 0 w 1491917"/>
                  <a:gd name="connsiteY7" fmla="*/ 339327 h 1118658"/>
                  <a:gd name="connsiteX8" fmla="*/ 0 w 1491917"/>
                  <a:gd name="connsiteY8" fmla="*/ 460887 h 1118658"/>
                  <a:gd name="connsiteX9" fmla="*/ 654042 w 1491917"/>
                  <a:gd name="connsiteY9" fmla="*/ 460887 h 1118658"/>
                  <a:gd name="connsiteX10" fmla="*/ 654042 w 1491917"/>
                  <a:gd name="connsiteY10" fmla="*/ 518312 h 1118658"/>
                  <a:gd name="connsiteX11" fmla="*/ 119696 w 1491917"/>
                  <a:gd name="connsiteY11" fmla="*/ 518312 h 1118658"/>
                  <a:gd name="connsiteX12" fmla="*/ 110001 w 1491917"/>
                  <a:gd name="connsiteY12" fmla="*/ 528007 h 1118658"/>
                  <a:gd name="connsiteX13" fmla="*/ 110001 w 1491917"/>
                  <a:gd name="connsiteY13" fmla="*/ 850180 h 1118658"/>
                  <a:gd name="connsiteX14" fmla="*/ 326275 w 1491917"/>
                  <a:gd name="connsiteY14" fmla="*/ 850180 h 1118658"/>
                  <a:gd name="connsiteX15" fmla="*/ 326275 w 1491917"/>
                  <a:gd name="connsiteY15" fmla="*/ 648449 h 1118658"/>
                  <a:gd name="connsiteX16" fmla="*/ 335970 w 1491917"/>
                  <a:gd name="connsiteY16" fmla="*/ 638754 h 1118658"/>
                  <a:gd name="connsiteX17" fmla="*/ 654042 w 1491917"/>
                  <a:gd name="connsiteY17" fmla="*/ 638754 h 1118658"/>
                  <a:gd name="connsiteX18" fmla="*/ 654042 w 1491917"/>
                  <a:gd name="connsiteY18" fmla="*/ 722280 h 1118658"/>
                  <a:gd name="connsiteX19" fmla="*/ 8204 w 1491917"/>
                  <a:gd name="connsiteY19" fmla="*/ 950114 h 1118658"/>
                  <a:gd name="connsiteX20" fmla="*/ 0 w 1491917"/>
                  <a:gd name="connsiteY20" fmla="*/ 959436 h 1118658"/>
                  <a:gd name="connsiteX21" fmla="*/ 0 w 1491917"/>
                  <a:gd name="connsiteY21" fmla="*/ 1118658 h 1118658"/>
                  <a:gd name="connsiteX22" fmla="*/ 654042 w 1491917"/>
                  <a:gd name="connsiteY22" fmla="*/ 880757 h 1118658"/>
                  <a:gd name="connsiteX23" fmla="*/ 654042 w 1491917"/>
                  <a:gd name="connsiteY23" fmla="*/ 1118658 h 1118658"/>
                  <a:gd name="connsiteX24" fmla="*/ 873672 w 1491917"/>
                  <a:gd name="connsiteY24" fmla="*/ 1118658 h 1118658"/>
                  <a:gd name="connsiteX25" fmla="*/ 873672 w 1491917"/>
                  <a:gd name="connsiteY25" fmla="*/ 884486 h 1118658"/>
                  <a:gd name="connsiteX26" fmla="*/ 1491545 w 1491917"/>
                  <a:gd name="connsiteY26" fmla="*/ 1116794 h 1118658"/>
                  <a:gd name="connsiteX27" fmla="*/ 1491545 w 1491917"/>
                  <a:gd name="connsiteY27" fmla="*/ 962046 h 1118658"/>
                  <a:gd name="connsiteX28" fmla="*/ 1483341 w 1491917"/>
                  <a:gd name="connsiteY28" fmla="*/ 952724 h 1118658"/>
                  <a:gd name="connsiteX29" fmla="*/ 1098522 w 1491917"/>
                  <a:gd name="connsiteY29" fmla="*/ 846452 h 1118658"/>
                  <a:gd name="connsiteX30" fmla="*/ 1225677 w 1491917"/>
                  <a:gd name="connsiteY30" fmla="*/ 844214 h 1118658"/>
                  <a:gd name="connsiteX31" fmla="*/ 1327102 w 1491917"/>
                  <a:gd name="connsiteY31" fmla="*/ 828553 h 1118658"/>
                  <a:gd name="connsiteX32" fmla="*/ 1389747 w 1491917"/>
                  <a:gd name="connsiteY32" fmla="*/ 791637 h 1118658"/>
                  <a:gd name="connsiteX33" fmla="*/ 1406153 w 1491917"/>
                  <a:gd name="connsiteY33" fmla="*/ 722280 h 1118658"/>
                  <a:gd name="connsiteX34" fmla="*/ 1406153 w 1491917"/>
                  <a:gd name="connsiteY34" fmla="*/ 527634 h 1118658"/>
                  <a:gd name="connsiteX35" fmla="*/ 1396458 w 1491917"/>
                  <a:gd name="connsiteY35" fmla="*/ 517939 h 1118658"/>
                  <a:gd name="connsiteX36" fmla="*/ 874045 w 1491917"/>
                  <a:gd name="connsiteY36" fmla="*/ 517939 h 1118658"/>
                  <a:gd name="connsiteX37" fmla="*/ 874045 w 1491917"/>
                  <a:gd name="connsiteY37" fmla="*/ 460515 h 1118658"/>
                  <a:gd name="connsiteX38" fmla="*/ 1491917 w 1491917"/>
                  <a:gd name="connsiteY38" fmla="*/ 460515 h 1118658"/>
                  <a:gd name="connsiteX39" fmla="*/ 1185032 w 1491917"/>
                  <a:gd name="connsiteY39" fmla="*/ 638754 h 1118658"/>
                  <a:gd name="connsiteX40" fmla="*/ 1194727 w 1491917"/>
                  <a:gd name="connsiteY40" fmla="*/ 648449 h 1118658"/>
                  <a:gd name="connsiteX41" fmla="*/ 1194727 w 1491917"/>
                  <a:gd name="connsiteY41" fmla="*/ 722280 h 1118658"/>
                  <a:gd name="connsiteX42" fmla="*/ 1167134 w 1491917"/>
                  <a:gd name="connsiteY42" fmla="*/ 739060 h 1118658"/>
                  <a:gd name="connsiteX43" fmla="*/ 1041098 w 1491917"/>
                  <a:gd name="connsiteY43" fmla="*/ 737196 h 1118658"/>
                  <a:gd name="connsiteX44" fmla="*/ 1032894 w 1491917"/>
                  <a:gd name="connsiteY44" fmla="*/ 752111 h 1118658"/>
                  <a:gd name="connsiteX45" fmla="*/ 1088455 w 1491917"/>
                  <a:gd name="connsiteY45" fmla="*/ 843095 h 1118658"/>
                  <a:gd name="connsiteX46" fmla="*/ 874045 w 1491917"/>
                  <a:gd name="connsiteY46" fmla="*/ 743908 h 1118658"/>
                  <a:gd name="connsiteX47" fmla="*/ 874045 w 1491917"/>
                  <a:gd name="connsiteY47" fmla="*/ 638754 h 1118658"/>
                  <a:gd name="connsiteX48" fmla="*/ 1185405 w 1491917"/>
                  <a:gd name="connsiteY48" fmla="*/ 638754 h 1118658"/>
                  <a:gd name="connsiteX49" fmla="*/ 1481850 w 1491917"/>
                  <a:gd name="connsiteY49" fmla="*/ 95459 h 1118658"/>
                  <a:gd name="connsiteX50" fmla="*/ 1043708 w 1491917"/>
                  <a:gd name="connsiteY50" fmla="*/ 95459 h 1118658"/>
                  <a:gd name="connsiteX51" fmla="*/ 1095540 w 1491917"/>
                  <a:gd name="connsiteY51" fmla="*/ 14170 h 1118658"/>
                  <a:gd name="connsiteX52" fmla="*/ 1086963 w 1491917"/>
                  <a:gd name="connsiteY52" fmla="*/ 0 h 1118658"/>
                  <a:gd name="connsiteX53" fmla="*/ 887096 w 1491917"/>
                  <a:gd name="connsiteY53" fmla="*/ 0 h 1118658"/>
                  <a:gd name="connsiteX54" fmla="*/ 878520 w 1491917"/>
                  <a:gd name="connsiteY54" fmla="*/ 4848 h 1118658"/>
                  <a:gd name="connsiteX55" fmla="*/ 815502 w 1491917"/>
                  <a:gd name="connsiteY55" fmla="*/ 99561 h 1118658"/>
                  <a:gd name="connsiteX56" fmla="*/ 721162 w 1491917"/>
                  <a:gd name="connsiteY56" fmla="*/ 193528 h 1118658"/>
                  <a:gd name="connsiteX57" fmla="*/ 721162 w 1491917"/>
                  <a:gd name="connsiteY57" fmla="*/ 105154 h 1118658"/>
                  <a:gd name="connsiteX58" fmla="*/ 711467 w 1491917"/>
                  <a:gd name="connsiteY58" fmla="*/ 95459 h 1118658"/>
                  <a:gd name="connsiteX59" fmla="*/ 350513 w 1491917"/>
                  <a:gd name="connsiteY59" fmla="*/ 95459 h 1118658"/>
                  <a:gd name="connsiteX60" fmla="*/ 404954 w 1491917"/>
                  <a:gd name="connsiteY60" fmla="*/ 14543 h 1118658"/>
                  <a:gd name="connsiteX61" fmla="*/ 396378 w 1491917"/>
                  <a:gd name="connsiteY61" fmla="*/ 373 h 1118658"/>
                  <a:gd name="connsiteX62" fmla="*/ 199867 w 1491917"/>
                  <a:gd name="connsiteY62" fmla="*/ 373 h 1118658"/>
                  <a:gd name="connsiteX63" fmla="*/ 191291 w 1491917"/>
                  <a:gd name="connsiteY63" fmla="*/ 5221 h 1118658"/>
                  <a:gd name="connsiteX64" fmla="*/ 3729 w 1491917"/>
                  <a:gd name="connsiteY64" fmla="*/ 253563 h 1118658"/>
                  <a:gd name="connsiteX65" fmla="*/ 5220 w 1491917"/>
                  <a:gd name="connsiteY65" fmla="*/ 264003 h 1118658"/>
                  <a:gd name="connsiteX66" fmla="*/ 104781 w 1491917"/>
                  <a:gd name="connsiteY66" fmla="*/ 333360 h 1118658"/>
                  <a:gd name="connsiteX67" fmla="*/ 176748 w 1491917"/>
                  <a:gd name="connsiteY67" fmla="*/ 278919 h 1118658"/>
                  <a:gd name="connsiteX68" fmla="*/ 247224 w 1491917"/>
                  <a:gd name="connsiteY68" fmla="*/ 213664 h 1118658"/>
                  <a:gd name="connsiteX69" fmla="*/ 276309 w 1491917"/>
                  <a:gd name="connsiteY69" fmla="*/ 213664 h 1118658"/>
                  <a:gd name="connsiteX70" fmla="*/ 327021 w 1491917"/>
                  <a:gd name="connsiteY70" fmla="*/ 278919 h 1118658"/>
                  <a:gd name="connsiteX71" fmla="*/ 336343 w 1491917"/>
                  <a:gd name="connsiteY71" fmla="*/ 293088 h 1118658"/>
                  <a:gd name="connsiteX72" fmla="*/ 539939 w 1491917"/>
                  <a:gd name="connsiteY72" fmla="*/ 293088 h 1118658"/>
                  <a:gd name="connsiteX73" fmla="*/ 517939 w 1491917"/>
                  <a:gd name="connsiteY73" fmla="*/ 259156 h 1118658"/>
                  <a:gd name="connsiteX74" fmla="*/ 483633 w 1491917"/>
                  <a:gd name="connsiteY74" fmla="*/ 213664 h 1118658"/>
                  <a:gd name="connsiteX75" fmla="*/ 694687 w 1491917"/>
                  <a:gd name="connsiteY75" fmla="*/ 213664 h 1118658"/>
                  <a:gd name="connsiteX76" fmla="*/ 664110 w 1491917"/>
                  <a:gd name="connsiteY76" fmla="*/ 234545 h 1118658"/>
                  <a:gd name="connsiteX77" fmla="*/ 631296 w 1491917"/>
                  <a:gd name="connsiteY77" fmla="*/ 254309 h 1118658"/>
                  <a:gd name="connsiteX78" fmla="*/ 907232 w 1491917"/>
                  <a:gd name="connsiteY78" fmla="*/ 254309 h 1118658"/>
                  <a:gd name="connsiteX79" fmla="*/ 948995 w 1491917"/>
                  <a:gd name="connsiteY79" fmla="*/ 213664 h 1118658"/>
                  <a:gd name="connsiteX80" fmla="*/ 1031403 w 1491917"/>
                  <a:gd name="connsiteY80" fmla="*/ 213664 h 1118658"/>
                  <a:gd name="connsiteX81" fmla="*/ 1084726 w 1491917"/>
                  <a:gd name="connsiteY81" fmla="*/ 279292 h 1118658"/>
                  <a:gd name="connsiteX82" fmla="*/ 1094048 w 1491917"/>
                  <a:gd name="connsiteY82" fmla="*/ 292716 h 1118658"/>
                  <a:gd name="connsiteX83" fmla="*/ 1299135 w 1491917"/>
                  <a:gd name="connsiteY83" fmla="*/ 292716 h 1118658"/>
                  <a:gd name="connsiteX84" fmla="*/ 1276016 w 1491917"/>
                  <a:gd name="connsiteY84" fmla="*/ 257664 h 1118658"/>
                  <a:gd name="connsiteX85" fmla="*/ 1240965 w 1491917"/>
                  <a:gd name="connsiteY85" fmla="*/ 213291 h 1118658"/>
                  <a:gd name="connsiteX86" fmla="*/ 1491545 w 1491917"/>
                  <a:gd name="connsiteY86" fmla="*/ 213291 h 1118658"/>
                  <a:gd name="connsiteX87" fmla="*/ 1491545 w 1491917"/>
                  <a:gd name="connsiteY87" fmla="*/ 104781 h 1118658"/>
                  <a:gd name="connsiteX88" fmla="*/ 1481850 w 1491917"/>
                  <a:gd name="connsiteY88" fmla="*/ 95086 h 111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91917" h="1118658">
                    <a:moveTo>
                      <a:pt x="1491545" y="460887"/>
                    </a:moveTo>
                    <a:lnTo>
                      <a:pt x="1491545" y="349021"/>
                    </a:lnTo>
                    <a:cubicBezTo>
                      <a:pt x="1491545" y="343801"/>
                      <a:pt x="1487070" y="339327"/>
                      <a:pt x="1481850" y="339327"/>
                    </a:cubicBezTo>
                    <a:lnTo>
                      <a:pt x="873672" y="339327"/>
                    </a:lnTo>
                    <a:lnTo>
                      <a:pt x="873672" y="276309"/>
                    </a:lnTo>
                    <a:lnTo>
                      <a:pt x="654042" y="276309"/>
                    </a:lnTo>
                    <a:lnTo>
                      <a:pt x="654042" y="339327"/>
                    </a:lnTo>
                    <a:lnTo>
                      <a:pt x="0" y="339327"/>
                    </a:lnTo>
                    <a:lnTo>
                      <a:pt x="0" y="460887"/>
                    </a:lnTo>
                    <a:lnTo>
                      <a:pt x="654042" y="460887"/>
                    </a:lnTo>
                    <a:lnTo>
                      <a:pt x="654042" y="518312"/>
                    </a:lnTo>
                    <a:lnTo>
                      <a:pt x="119696" y="518312"/>
                    </a:lnTo>
                    <a:cubicBezTo>
                      <a:pt x="114103" y="518312"/>
                      <a:pt x="110001" y="522786"/>
                      <a:pt x="110001" y="528007"/>
                    </a:cubicBezTo>
                    <a:lnTo>
                      <a:pt x="110001" y="850180"/>
                    </a:lnTo>
                    <a:lnTo>
                      <a:pt x="326275" y="850180"/>
                    </a:lnTo>
                    <a:lnTo>
                      <a:pt x="326275" y="648449"/>
                    </a:lnTo>
                    <a:cubicBezTo>
                      <a:pt x="326275" y="643228"/>
                      <a:pt x="330750" y="638754"/>
                      <a:pt x="335970" y="638754"/>
                    </a:cubicBezTo>
                    <a:lnTo>
                      <a:pt x="654042" y="638754"/>
                    </a:lnTo>
                    <a:lnTo>
                      <a:pt x="654042" y="722280"/>
                    </a:lnTo>
                    <a:cubicBezTo>
                      <a:pt x="436277" y="843095"/>
                      <a:pt x="277054" y="889333"/>
                      <a:pt x="8204" y="950114"/>
                    </a:cubicBezTo>
                    <a:cubicBezTo>
                      <a:pt x="3356" y="951233"/>
                      <a:pt x="0" y="954961"/>
                      <a:pt x="0" y="959436"/>
                    </a:cubicBezTo>
                    <a:lnTo>
                      <a:pt x="0" y="1118658"/>
                    </a:lnTo>
                    <a:cubicBezTo>
                      <a:pt x="127154" y="1096285"/>
                      <a:pt x="409802" y="1013131"/>
                      <a:pt x="654042" y="880757"/>
                    </a:cubicBezTo>
                    <a:lnTo>
                      <a:pt x="654042" y="1118658"/>
                    </a:lnTo>
                    <a:lnTo>
                      <a:pt x="873672" y="1118658"/>
                    </a:lnTo>
                    <a:lnTo>
                      <a:pt x="873672" y="884486"/>
                    </a:lnTo>
                    <a:cubicBezTo>
                      <a:pt x="1039233" y="975843"/>
                      <a:pt x="1331203" y="1075403"/>
                      <a:pt x="1491545" y="1116794"/>
                    </a:cubicBezTo>
                    <a:lnTo>
                      <a:pt x="1491545" y="962046"/>
                    </a:lnTo>
                    <a:cubicBezTo>
                      <a:pt x="1491545" y="957198"/>
                      <a:pt x="1488189" y="953470"/>
                      <a:pt x="1483341" y="952724"/>
                    </a:cubicBezTo>
                    <a:cubicBezTo>
                      <a:pt x="1424425" y="943402"/>
                      <a:pt x="1163777" y="869571"/>
                      <a:pt x="1098522" y="846452"/>
                    </a:cubicBezTo>
                    <a:cubicBezTo>
                      <a:pt x="1145506" y="846452"/>
                      <a:pt x="1188015" y="845706"/>
                      <a:pt x="1225677" y="844214"/>
                    </a:cubicBezTo>
                    <a:cubicBezTo>
                      <a:pt x="1263338" y="842723"/>
                      <a:pt x="1297271" y="837502"/>
                      <a:pt x="1327102" y="828553"/>
                    </a:cubicBezTo>
                    <a:cubicBezTo>
                      <a:pt x="1358051" y="819977"/>
                      <a:pt x="1378933" y="807298"/>
                      <a:pt x="1389747" y="791637"/>
                    </a:cubicBezTo>
                    <a:cubicBezTo>
                      <a:pt x="1400560" y="775603"/>
                      <a:pt x="1406153" y="752484"/>
                      <a:pt x="1406153" y="722280"/>
                    </a:cubicBezTo>
                    <a:lnTo>
                      <a:pt x="1406153" y="527634"/>
                    </a:lnTo>
                    <a:cubicBezTo>
                      <a:pt x="1406153" y="522413"/>
                      <a:pt x="1401679" y="517939"/>
                      <a:pt x="1396458" y="517939"/>
                    </a:cubicBezTo>
                    <a:lnTo>
                      <a:pt x="874045" y="517939"/>
                    </a:lnTo>
                    <a:lnTo>
                      <a:pt x="874045" y="460515"/>
                    </a:lnTo>
                    <a:lnTo>
                      <a:pt x="1491917" y="460515"/>
                    </a:lnTo>
                    <a:close/>
                    <a:moveTo>
                      <a:pt x="1185032" y="638754"/>
                    </a:moveTo>
                    <a:cubicBezTo>
                      <a:pt x="1190625" y="638754"/>
                      <a:pt x="1194727" y="643228"/>
                      <a:pt x="1194727" y="648449"/>
                    </a:cubicBezTo>
                    <a:lnTo>
                      <a:pt x="1194727" y="722280"/>
                    </a:lnTo>
                    <a:cubicBezTo>
                      <a:pt x="1194727" y="733467"/>
                      <a:pt x="1185405" y="739060"/>
                      <a:pt x="1167134" y="739060"/>
                    </a:cubicBezTo>
                    <a:cubicBezTo>
                      <a:pt x="1167134" y="739060"/>
                      <a:pt x="1081370" y="737942"/>
                      <a:pt x="1041098" y="737196"/>
                    </a:cubicBezTo>
                    <a:cubicBezTo>
                      <a:pt x="1033267" y="737196"/>
                      <a:pt x="1028420" y="745772"/>
                      <a:pt x="1032894" y="752111"/>
                    </a:cubicBezTo>
                    <a:cubicBezTo>
                      <a:pt x="1051911" y="779332"/>
                      <a:pt x="1082861" y="828926"/>
                      <a:pt x="1088455" y="843095"/>
                    </a:cubicBezTo>
                    <a:cubicBezTo>
                      <a:pt x="1002691" y="812146"/>
                      <a:pt x="931097" y="778959"/>
                      <a:pt x="874045" y="743908"/>
                    </a:cubicBezTo>
                    <a:lnTo>
                      <a:pt x="874045" y="638754"/>
                    </a:lnTo>
                    <a:lnTo>
                      <a:pt x="1185405" y="638754"/>
                    </a:lnTo>
                    <a:close/>
                    <a:moveTo>
                      <a:pt x="1481850" y="95459"/>
                    </a:moveTo>
                    <a:lnTo>
                      <a:pt x="1043708" y="95459"/>
                    </a:lnTo>
                    <a:cubicBezTo>
                      <a:pt x="1065335" y="66374"/>
                      <a:pt x="1083607" y="35797"/>
                      <a:pt x="1095540" y="14170"/>
                    </a:cubicBezTo>
                    <a:cubicBezTo>
                      <a:pt x="1099268" y="7831"/>
                      <a:pt x="1094421" y="0"/>
                      <a:pt x="1086963" y="0"/>
                    </a:cubicBezTo>
                    <a:lnTo>
                      <a:pt x="887096" y="0"/>
                    </a:lnTo>
                    <a:cubicBezTo>
                      <a:pt x="883367" y="0"/>
                      <a:pt x="880384" y="1865"/>
                      <a:pt x="878520" y="4848"/>
                    </a:cubicBezTo>
                    <a:cubicBezTo>
                      <a:pt x="860994" y="36916"/>
                      <a:pt x="840112" y="68238"/>
                      <a:pt x="815502" y="99561"/>
                    </a:cubicBezTo>
                    <a:cubicBezTo>
                      <a:pt x="787909" y="134239"/>
                      <a:pt x="756586" y="165562"/>
                      <a:pt x="721162" y="193528"/>
                    </a:cubicBezTo>
                    <a:lnTo>
                      <a:pt x="721162" y="105154"/>
                    </a:lnTo>
                    <a:cubicBezTo>
                      <a:pt x="721162" y="99933"/>
                      <a:pt x="716687" y="95459"/>
                      <a:pt x="711467" y="95459"/>
                    </a:cubicBezTo>
                    <a:lnTo>
                      <a:pt x="350513" y="95459"/>
                    </a:lnTo>
                    <a:cubicBezTo>
                      <a:pt x="371394" y="70103"/>
                      <a:pt x="391530" y="36916"/>
                      <a:pt x="404954" y="14543"/>
                    </a:cubicBezTo>
                    <a:cubicBezTo>
                      <a:pt x="408683" y="8204"/>
                      <a:pt x="403836" y="373"/>
                      <a:pt x="396378" y="373"/>
                    </a:cubicBezTo>
                    <a:lnTo>
                      <a:pt x="199867" y="373"/>
                    </a:lnTo>
                    <a:cubicBezTo>
                      <a:pt x="196138" y="373"/>
                      <a:pt x="193155" y="2238"/>
                      <a:pt x="191291" y="5221"/>
                    </a:cubicBezTo>
                    <a:cubicBezTo>
                      <a:pt x="95086" y="174138"/>
                      <a:pt x="31322" y="218884"/>
                      <a:pt x="3729" y="253563"/>
                    </a:cubicBezTo>
                    <a:cubicBezTo>
                      <a:pt x="1119" y="256919"/>
                      <a:pt x="1865" y="261393"/>
                      <a:pt x="5220" y="264003"/>
                    </a:cubicBezTo>
                    <a:cubicBezTo>
                      <a:pt x="26475" y="279292"/>
                      <a:pt x="96577" y="328886"/>
                      <a:pt x="104781" y="333360"/>
                    </a:cubicBezTo>
                    <a:cubicBezTo>
                      <a:pt x="128646" y="317326"/>
                      <a:pt x="152884" y="299428"/>
                      <a:pt x="176748" y="278919"/>
                    </a:cubicBezTo>
                    <a:cubicBezTo>
                      <a:pt x="200986" y="258410"/>
                      <a:pt x="224478" y="236783"/>
                      <a:pt x="247224" y="213664"/>
                    </a:cubicBezTo>
                    <a:lnTo>
                      <a:pt x="276309" y="213664"/>
                    </a:lnTo>
                    <a:cubicBezTo>
                      <a:pt x="294580" y="234545"/>
                      <a:pt x="311360" y="256173"/>
                      <a:pt x="327021" y="278919"/>
                    </a:cubicBezTo>
                    <a:cubicBezTo>
                      <a:pt x="330377" y="283766"/>
                      <a:pt x="333360" y="288241"/>
                      <a:pt x="336343" y="293088"/>
                    </a:cubicBezTo>
                    <a:lnTo>
                      <a:pt x="539939" y="293088"/>
                    </a:lnTo>
                    <a:cubicBezTo>
                      <a:pt x="534346" y="283021"/>
                      <a:pt x="527261" y="271834"/>
                      <a:pt x="517939" y="259156"/>
                    </a:cubicBezTo>
                    <a:cubicBezTo>
                      <a:pt x="507871" y="244986"/>
                      <a:pt x="496311" y="229698"/>
                      <a:pt x="483633" y="213664"/>
                    </a:cubicBezTo>
                    <a:lnTo>
                      <a:pt x="694687" y="213664"/>
                    </a:lnTo>
                    <a:cubicBezTo>
                      <a:pt x="684619" y="221121"/>
                      <a:pt x="674178" y="227833"/>
                      <a:pt x="664110" y="234545"/>
                    </a:cubicBezTo>
                    <a:cubicBezTo>
                      <a:pt x="653669" y="241257"/>
                      <a:pt x="642856" y="247969"/>
                      <a:pt x="631296" y="254309"/>
                    </a:cubicBezTo>
                    <a:lnTo>
                      <a:pt x="907232" y="254309"/>
                    </a:lnTo>
                    <a:cubicBezTo>
                      <a:pt x="921029" y="242003"/>
                      <a:pt x="934825" y="228206"/>
                      <a:pt x="948995" y="213664"/>
                    </a:cubicBezTo>
                    <a:lnTo>
                      <a:pt x="1031403" y="213664"/>
                    </a:lnTo>
                    <a:cubicBezTo>
                      <a:pt x="1050793" y="235291"/>
                      <a:pt x="1068692" y="256919"/>
                      <a:pt x="1084726" y="279292"/>
                    </a:cubicBezTo>
                    <a:cubicBezTo>
                      <a:pt x="1088081" y="283766"/>
                      <a:pt x="1091065" y="288241"/>
                      <a:pt x="1094048" y="292716"/>
                    </a:cubicBezTo>
                    <a:lnTo>
                      <a:pt x="1299135" y="292716"/>
                    </a:lnTo>
                    <a:cubicBezTo>
                      <a:pt x="1293542" y="282275"/>
                      <a:pt x="1286084" y="270715"/>
                      <a:pt x="1276016" y="257664"/>
                    </a:cubicBezTo>
                    <a:cubicBezTo>
                      <a:pt x="1264830" y="243495"/>
                      <a:pt x="1253270" y="228579"/>
                      <a:pt x="1240965" y="213291"/>
                    </a:cubicBezTo>
                    <a:lnTo>
                      <a:pt x="1491545" y="213291"/>
                    </a:lnTo>
                    <a:lnTo>
                      <a:pt x="1491545" y="104781"/>
                    </a:lnTo>
                    <a:cubicBezTo>
                      <a:pt x="1491545" y="99561"/>
                      <a:pt x="1487070" y="95086"/>
                      <a:pt x="1481850" y="95086"/>
                    </a:cubicBezTo>
                    <a:close/>
                  </a:path>
                </a:pathLst>
              </a:custGeom>
              <a:grpFill/>
              <a:ln w="37253" cap="flat">
                <a:noFill/>
                <a:prstDash val="solid"/>
                <a:miter/>
              </a:ln>
            </p:spPr>
            <p:txBody>
              <a:bodyPr rtlCol="0" anchor="ctr"/>
              <a:lstStyle/>
              <a:p>
                <a:endParaRPr lang="zh-CN" altLang="en-US" sz="450" dirty="0"/>
              </a:p>
            </p:txBody>
          </p:sp>
        </p:grpSp>
        <p:grpSp>
          <p:nvGrpSpPr>
            <p:cNvPr id="11" name="图形 3">
              <a:extLst>
                <a:ext uri="{FF2B5EF4-FFF2-40B4-BE49-F238E27FC236}">
                  <a16:creationId xmlns:a16="http://schemas.microsoft.com/office/drawing/2014/main" id="{90C6A610-8F2A-2910-38AA-3E1F32B9870D}"/>
                </a:ext>
              </a:extLst>
            </p:cNvPr>
            <p:cNvGrpSpPr/>
            <p:nvPr/>
          </p:nvGrpSpPr>
          <p:grpSpPr>
            <a:xfrm>
              <a:off x="21398290" y="1561201"/>
              <a:ext cx="1303378" cy="68995"/>
              <a:chOff x="15884978" y="11231056"/>
              <a:chExt cx="6713068" cy="355360"/>
            </a:xfrm>
            <a:solidFill>
              <a:srgbClr val="7C4DFF"/>
            </a:solidFill>
          </p:grpSpPr>
          <p:grpSp>
            <p:nvGrpSpPr>
              <p:cNvPr id="12" name="图形 3">
                <a:extLst>
                  <a:ext uri="{FF2B5EF4-FFF2-40B4-BE49-F238E27FC236}">
                    <a16:creationId xmlns:a16="http://schemas.microsoft.com/office/drawing/2014/main" id="{E112907B-4349-422B-1F7F-4FDBE098ADEE}"/>
                  </a:ext>
                </a:extLst>
              </p:cNvPr>
              <p:cNvGrpSpPr/>
              <p:nvPr/>
            </p:nvGrpSpPr>
            <p:grpSpPr>
              <a:xfrm>
                <a:off x="15884978" y="11236650"/>
                <a:ext cx="2466641" cy="349766"/>
                <a:chOff x="15884978" y="11236650"/>
                <a:chExt cx="2466641" cy="349766"/>
              </a:xfrm>
              <a:grpFill/>
            </p:grpSpPr>
            <p:sp>
              <p:nvSpPr>
                <p:cNvPr id="24" name="任意多边形: 形状 41">
                  <a:extLst>
                    <a:ext uri="{FF2B5EF4-FFF2-40B4-BE49-F238E27FC236}">
                      <a16:creationId xmlns:a16="http://schemas.microsoft.com/office/drawing/2014/main" id="{22BB5A01-DE8F-16FC-BAC2-8B9B179BDC34}"/>
                    </a:ext>
                  </a:extLst>
                </p:cNvPr>
                <p:cNvSpPr/>
                <p:nvPr/>
              </p:nvSpPr>
              <p:spPr>
                <a:xfrm>
                  <a:off x="15884978" y="11236650"/>
                  <a:ext cx="370648" cy="344546"/>
                </a:xfrm>
                <a:custGeom>
                  <a:avLst/>
                  <a:gdLst>
                    <a:gd name="connsiteX0" fmla="*/ 370649 w 370648"/>
                    <a:gd name="connsiteY0" fmla="*/ 343801 h 344546"/>
                    <a:gd name="connsiteX1" fmla="*/ 266614 w 370648"/>
                    <a:gd name="connsiteY1" fmla="*/ 343801 h 344546"/>
                    <a:gd name="connsiteX2" fmla="*/ 186070 w 370648"/>
                    <a:gd name="connsiteY2" fmla="*/ 247969 h 344546"/>
                    <a:gd name="connsiteX3" fmla="*/ 96950 w 370648"/>
                    <a:gd name="connsiteY3" fmla="*/ 247969 h 344546"/>
                    <a:gd name="connsiteX4" fmla="*/ 96950 w 370648"/>
                    <a:gd name="connsiteY4" fmla="*/ 343801 h 344546"/>
                    <a:gd name="connsiteX5" fmla="*/ 0 w 370648"/>
                    <a:gd name="connsiteY5" fmla="*/ 343801 h 344546"/>
                    <a:gd name="connsiteX6" fmla="*/ 0 w 370648"/>
                    <a:gd name="connsiteY6" fmla="*/ 0 h 344546"/>
                    <a:gd name="connsiteX7" fmla="*/ 181223 w 370648"/>
                    <a:gd name="connsiteY7" fmla="*/ 0 h 344546"/>
                    <a:gd name="connsiteX8" fmla="*/ 278173 w 370648"/>
                    <a:gd name="connsiteY8" fmla="*/ 15288 h 344546"/>
                    <a:gd name="connsiteX9" fmla="*/ 340818 w 370648"/>
                    <a:gd name="connsiteY9" fmla="*/ 58170 h 344546"/>
                    <a:gd name="connsiteX10" fmla="*/ 362818 w 370648"/>
                    <a:gd name="connsiteY10" fmla="*/ 124916 h 344546"/>
                    <a:gd name="connsiteX11" fmla="*/ 340072 w 370648"/>
                    <a:gd name="connsiteY11" fmla="*/ 191663 h 344546"/>
                    <a:gd name="connsiteX12" fmla="*/ 276682 w 370648"/>
                    <a:gd name="connsiteY12" fmla="*/ 233799 h 344546"/>
                    <a:gd name="connsiteX13" fmla="*/ 370649 w 370648"/>
                    <a:gd name="connsiteY13" fmla="*/ 344546 h 344546"/>
                    <a:gd name="connsiteX14" fmla="*/ 264749 w 370648"/>
                    <a:gd name="connsiteY14" fmla="*/ 124544 h 344546"/>
                    <a:gd name="connsiteX15" fmla="*/ 242376 w 370648"/>
                    <a:gd name="connsiteY15" fmla="*/ 80170 h 344546"/>
                    <a:gd name="connsiteX16" fmla="*/ 175629 w 370648"/>
                    <a:gd name="connsiteY16" fmla="*/ 64509 h 344546"/>
                    <a:gd name="connsiteX17" fmla="*/ 96578 w 370648"/>
                    <a:gd name="connsiteY17" fmla="*/ 64509 h 344546"/>
                    <a:gd name="connsiteX18" fmla="*/ 96578 w 370648"/>
                    <a:gd name="connsiteY18" fmla="*/ 184578 h 344546"/>
                    <a:gd name="connsiteX19" fmla="*/ 175629 w 370648"/>
                    <a:gd name="connsiteY19" fmla="*/ 184578 h 344546"/>
                    <a:gd name="connsiteX20" fmla="*/ 242376 w 370648"/>
                    <a:gd name="connsiteY20" fmla="*/ 168544 h 344546"/>
                    <a:gd name="connsiteX21" fmla="*/ 264749 w 370648"/>
                    <a:gd name="connsiteY21" fmla="*/ 124544 h 34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648" h="344546">
                      <a:moveTo>
                        <a:pt x="370649" y="343801"/>
                      </a:moveTo>
                      <a:lnTo>
                        <a:pt x="266614" y="343801"/>
                      </a:lnTo>
                      <a:lnTo>
                        <a:pt x="186070" y="247969"/>
                      </a:lnTo>
                      <a:lnTo>
                        <a:pt x="96950" y="247969"/>
                      </a:lnTo>
                      <a:lnTo>
                        <a:pt x="96950" y="343801"/>
                      </a:lnTo>
                      <a:lnTo>
                        <a:pt x="0" y="343801"/>
                      </a:lnTo>
                      <a:lnTo>
                        <a:pt x="0" y="0"/>
                      </a:lnTo>
                      <a:lnTo>
                        <a:pt x="181223" y="0"/>
                      </a:lnTo>
                      <a:cubicBezTo>
                        <a:pt x="218511" y="0"/>
                        <a:pt x="250952" y="5220"/>
                        <a:pt x="278173" y="15288"/>
                      </a:cubicBezTo>
                      <a:cubicBezTo>
                        <a:pt x="305394" y="25356"/>
                        <a:pt x="326275" y="39899"/>
                        <a:pt x="340818" y="58170"/>
                      </a:cubicBezTo>
                      <a:cubicBezTo>
                        <a:pt x="355360" y="76814"/>
                        <a:pt x="362818" y="98815"/>
                        <a:pt x="362818" y="124916"/>
                      </a:cubicBezTo>
                      <a:cubicBezTo>
                        <a:pt x="362818" y="151018"/>
                        <a:pt x="355360" y="173019"/>
                        <a:pt x="340072" y="191663"/>
                      </a:cubicBezTo>
                      <a:cubicBezTo>
                        <a:pt x="324784" y="210308"/>
                        <a:pt x="303902" y="224104"/>
                        <a:pt x="276682" y="233799"/>
                      </a:cubicBezTo>
                      <a:lnTo>
                        <a:pt x="370649" y="344546"/>
                      </a:lnTo>
                      <a:close/>
                      <a:moveTo>
                        <a:pt x="264749" y="124544"/>
                      </a:moveTo>
                      <a:cubicBezTo>
                        <a:pt x="264749" y="105527"/>
                        <a:pt x="257291" y="90984"/>
                        <a:pt x="242376" y="80170"/>
                      </a:cubicBezTo>
                      <a:cubicBezTo>
                        <a:pt x="227461" y="69730"/>
                        <a:pt x="205087" y="64509"/>
                        <a:pt x="175629" y="64509"/>
                      </a:cubicBezTo>
                      <a:lnTo>
                        <a:pt x="96578" y="64509"/>
                      </a:lnTo>
                      <a:lnTo>
                        <a:pt x="96578" y="184578"/>
                      </a:lnTo>
                      <a:lnTo>
                        <a:pt x="175629" y="184578"/>
                      </a:lnTo>
                      <a:cubicBezTo>
                        <a:pt x="205087" y="184578"/>
                        <a:pt x="227461" y="179358"/>
                        <a:pt x="242376" y="168544"/>
                      </a:cubicBezTo>
                      <a:cubicBezTo>
                        <a:pt x="257291" y="158103"/>
                        <a:pt x="264749" y="143188"/>
                        <a:pt x="264749" y="124544"/>
                      </a:cubicBezTo>
                      <a:close/>
                    </a:path>
                  </a:pathLst>
                </a:custGeom>
                <a:grpFill/>
                <a:ln w="37253" cap="flat">
                  <a:noFill/>
                  <a:prstDash val="solid"/>
                  <a:miter/>
                </a:ln>
              </p:spPr>
              <p:txBody>
                <a:bodyPr rtlCol="0" anchor="ctr"/>
                <a:lstStyle/>
                <a:p>
                  <a:endParaRPr lang="zh-CN" altLang="en-US" sz="450"/>
                </a:p>
              </p:txBody>
            </p:sp>
            <p:sp>
              <p:nvSpPr>
                <p:cNvPr id="25" name="任意多边形: 形状 42">
                  <a:extLst>
                    <a:ext uri="{FF2B5EF4-FFF2-40B4-BE49-F238E27FC236}">
                      <a16:creationId xmlns:a16="http://schemas.microsoft.com/office/drawing/2014/main" id="{EC9448EB-8DD8-744B-B822-51C48626C04E}"/>
                    </a:ext>
                  </a:extLst>
                </p:cNvPr>
                <p:cNvSpPr/>
                <p:nvPr/>
              </p:nvSpPr>
              <p:spPr>
                <a:xfrm>
                  <a:off x="16320508"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8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8"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26" name="任意多边形: 形状 43">
                  <a:extLst>
                    <a:ext uri="{FF2B5EF4-FFF2-40B4-BE49-F238E27FC236}">
                      <a16:creationId xmlns:a16="http://schemas.microsoft.com/office/drawing/2014/main" id="{CE420983-FB4C-F121-4BD4-921D934B47AF}"/>
                    </a:ext>
                  </a:extLst>
                </p:cNvPr>
                <p:cNvSpPr/>
                <p:nvPr/>
              </p:nvSpPr>
              <p:spPr>
                <a:xfrm>
                  <a:off x="16795565" y="11236650"/>
                  <a:ext cx="96950" cy="343800"/>
                </a:xfrm>
                <a:custGeom>
                  <a:avLst/>
                  <a:gdLst>
                    <a:gd name="connsiteX0" fmla="*/ 0 w 96950"/>
                    <a:gd name="connsiteY0" fmla="*/ 343801 h 343800"/>
                    <a:gd name="connsiteX1" fmla="*/ 0 w 96950"/>
                    <a:gd name="connsiteY1" fmla="*/ 0 h 343800"/>
                    <a:gd name="connsiteX2" fmla="*/ 96950 w 96950"/>
                    <a:gd name="connsiteY2" fmla="*/ 0 h 343800"/>
                    <a:gd name="connsiteX3" fmla="*/ 96950 w 96950"/>
                    <a:gd name="connsiteY3" fmla="*/ 343801 h 343800"/>
                    <a:gd name="connsiteX4" fmla="*/ 0 w 96950"/>
                    <a:gd name="connsiteY4" fmla="*/ 343801 h 34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50" h="343800">
                      <a:moveTo>
                        <a:pt x="0" y="343801"/>
                      </a:moveTo>
                      <a:lnTo>
                        <a:pt x="0" y="0"/>
                      </a:lnTo>
                      <a:lnTo>
                        <a:pt x="96950" y="0"/>
                      </a:lnTo>
                      <a:lnTo>
                        <a:pt x="96950" y="343801"/>
                      </a:lnTo>
                      <a:lnTo>
                        <a:pt x="0" y="343801"/>
                      </a:lnTo>
                      <a:close/>
                    </a:path>
                  </a:pathLst>
                </a:custGeom>
                <a:grpFill/>
                <a:ln w="37253" cap="flat">
                  <a:noFill/>
                  <a:prstDash val="solid"/>
                  <a:miter/>
                </a:ln>
              </p:spPr>
              <p:txBody>
                <a:bodyPr rtlCol="0" anchor="ctr"/>
                <a:lstStyle/>
                <a:p>
                  <a:endParaRPr lang="zh-CN" altLang="en-US" sz="450"/>
                </a:p>
              </p:txBody>
            </p:sp>
            <p:sp>
              <p:nvSpPr>
                <p:cNvPr id="27" name="任意多边形: 形状 44">
                  <a:extLst>
                    <a:ext uri="{FF2B5EF4-FFF2-40B4-BE49-F238E27FC236}">
                      <a16:creationId xmlns:a16="http://schemas.microsoft.com/office/drawing/2014/main" id="{AF1C70B1-2956-384A-2A31-2953F13498D1}"/>
                    </a:ext>
                  </a:extLst>
                </p:cNvPr>
                <p:cNvSpPr/>
                <p:nvPr/>
              </p:nvSpPr>
              <p:spPr>
                <a:xfrm>
                  <a:off x="16991331" y="11236650"/>
                  <a:ext cx="384072" cy="343800"/>
                </a:xfrm>
                <a:custGeom>
                  <a:avLst/>
                  <a:gdLst>
                    <a:gd name="connsiteX0" fmla="*/ 287122 w 384072"/>
                    <a:gd name="connsiteY0" fmla="*/ 0 h 343800"/>
                    <a:gd name="connsiteX1" fmla="*/ 384073 w 384072"/>
                    <a:gd name="connsiteY1" fmla="*/ 0 h 343800"/>
                    <a:gd name="connsiteX2" fmla="*/ 384073 w 384072"/>
                    <a:gd name="connsiteY2" fmla="*/ 343801 h 343800"/>
                    <a:gd name="connsiteX3" fmla="*/ 287122 w 384072"/>
                    <a:gd name="connsiteY3" fmla="*/ 343801 h 343800"/>
                    <a:gd name="connsiteX4" fmla="*/ 287122 w 384072"/>
                    <a:gd name="connsiteY4" fmla="*/ 202850 h 343800"/>
                    <a:gd name="connsiteX5" fmla="*/ 96950 w 384072"/>
                    <a:gd name="connsiteY5" fmla="*/ 202850 h 343800"/>
                    <a:gd name="connsiteX6" fmla="*/ 96950 w 384072"/>
                    <a:gd name="connsiteY6" fmla="*/ 343801 h 343800"/>
                    <a:gd name="connsiteX7" fmla="*/ 0 w 384072"/>
                    <a:gd name="connsiteY7" fmla="*/ 343801 h 343800"/>
                    <a:gd name="connsiteX8" fmla="*/ 0 w 384072"/>
                    <a:gd name="connsiteY8" fmla="*/ 0 h 343800"/>
                    <a:gd name="connsiteX9" fmla="*/ 96950 w 384072"/>
                    <a:gd name="connsiteY9" fmla="*/ 0 h 343800"/>
                    <a:gd name="connsiteX10" fmla="*/ 96950 w 384072"/>
                    <a:gd name="connsiteY10" fmla="*/ 135731 h 343800"/>
                    <a:gd name="connsiteX11" fmla="*/ 287122 w 384072"/>
                    <a:gd name="connsiteY11" fmla="*/ 135731 h 343800"/>
                    <a:gd name="connsiteX12" fmla="*/ 287122 w 384072"/>
                    <a:gd name="connsiteY12" fmla="*/ 0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072" h="343800">
                      <a:moveTo>
                        <a:pt x="287122" y="0"/>
                      </a:moveTo>
                      <a:lnTo>
                        <a:pt x="384073" y="0"/>
                      </a:lnTo>
                      <a:lnTo>
                        <a:pt x="384073" y="343801"/>
                      </a:lnTo>
                      <a:lnTo>
                        <a:pt x="287122" y="343801"/>
                      </a:lnTo>
                      <a:lnTo>
                        <a:pt x="287122" y="202850"/>
                      </a:lnTo>
                      <a:lnTo>
                        <a:pt x="96950" y="202850"/>
                      </a:lnTo>
                      <a:lnTo>
                        <a:pt x="96950" y="343801"/>
                      </a:lnTo>
                      <a:lnTo>
                        <a:pt x="0" y="343801"/>
                      </a:lnTo>
                      <a:lnTo>
                        <a:pt x="0" y="0"/>
                      </a:lnTo>
                      <a:lnTo>
                        <a:pt x="96950" y="0"/>
                      </a:lnTo>
                      <a:lnTo>
                        <a:pt x="96950" y="135731"/>
                      </a:lnTo>
                      <a:lnTo>
                        <a:pt x="287122" y="135731"/>
                      </a:lnTo>
                      <a:lnTo>
                        <a:pt x="287122" y="0"/>
                      </a:lnTo>
                      <a:close/>
                    </a:path>
                  </a:pathLst>
                </a:custGeom>
                <a:grpFill/>
                <a:ln w="37253" cap="flat">
                  <a:noFill/>
                  <a:prstDash val="solid"/>
                  <a:miter/>
                </a:ln>
              </p:spPr>
              <p:txBody>
                <a:bodyPr rtlCol="0" anchor="ctr"/>
                <a:lstStyle/>
                <a:p>
                  <a:endParaRPr lang="zh-CN" altLang="en-US" sz="450"/>
                </a:p>
              </p:txBody>
            </p:sp>
            <p:sp>
              <p:nvSpPr>
                <p:cNvPr id="28" name="任意多边形: 形状 45">
                  <a:extLst>
                    <a:ext uri="{FF2B5EF4-FFF2-40B4-BE49-F238E27FC236}">
                      <a16:creationId xmlns:a16="http://schemas.microsoft.com/office/drawing/2014/main" id="{CC3B674D-B04A-2078-4F22-B1B71412DC19}"/>
                    </a:ext>
                  </a:extLst>
                </p:cNvPr>
                <p:cNvSpPr/>
                <p:nvPr/>
              </p:nvSpPr>
              <p:spPr>
                <a:xfrm>
                  <a:off x="17470862" y="11236650"/>
                  <a:ext cx="379598" cy="349766"/>
                </a:xfrm>
                <a:custGeom>
                  <a:avLst/>
                  <a:gdLst>
                    <a:gd name="connsiteX0" fmla="*/ 189799 w 379598"/>
                    <a:gd name="connsiteY0" fmla="*/ 349767 h 349766"/>
                    <a:gd name="connsiteX1" fmla="*/ 50340 w 379598"/>
                    <a:gd name="connsiteY1" fmla="*/ 309122 h 349766"/>
                    <a:gd name="connsiteX2" fmla="*/ 0 w 379598"/>
                    <a:gd name="connsiteY2" fmla="*/ 192782 h 349766"/>
                    <a:gd name="connsiteX3" fmla="*/ 0 w 379598"/>
                    <a:gd name="connsiteY3" fmla="*/ 0 h 349766"/>
                    <a:gd name="connsiteX4" fmla="*/ 96950 w 379598"/>
                    <a:gd name="connsiteY4" fmla="*/ 0 h 349766"/>
                    <a:gd name="connsiteX5" fmla="*/ 96950 w 379598"/>
                    <a:gd name="connsiteY5" fmla="*/ 189799 h 349766"/>
                    <a:gd name="connsiteX6" fmla="*/ 121934 w 379598"/>
                    <a:gd name="connsiteY6" fmla="*/ 260647 h 349766"/>
                    <a:gd name="connsiteX7" fmla="*/ 190545 w 379598"/>
                    <a:gd name="connsiteY7" fmla="*/ 282274 h 349766"/>
                    <a:gd name="connsiteX8" fmla="*/ 259156 w 379598"/>
                    <a:gd name="connsiteY8" fmla="*/ 260647 h 349766"/>
                    <a:gd name="connsiteX9" fmla="*/ 283766 w 379598"/>
                    <a:gd name="connsiteY9" fmla="*/ 189799 h 349766"/>
                    <a:gd name="connsiteX10" fmla="*/ 283766 w 379598"/>
                    <a:gd name="connsiteY10" fmla="*/ 0 h 349766"/>
                    <a:gd name="connsiteX11" fmla="*/ 379598 w 379598"/>
                    <a:gd name="connsiteY11" fmla="*/ 0 h 349766"/>
                    <a:gd name="connsiteX12" fmla="*/ 379598 w 379598"/>
                    <a:gd name="connsiteY12" fmla="*/ 192782 h 349766"/>
                    <a:gd name="connsiteX13" fmla="*/ 329259 w 379598"/>
                    <a:gd name="connsiteY13" fmla="*/ 309122 h 349766"/>
                    <a:gd name="connsiteX14" fmla="*/ 189799 w 379598"/>
                    <a:gd name="connsiteY14" fmla="*/ 349767 h 3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9598" h="349766">
                      <a:moveTo>
                        <a:pt x="189799" y="349767"/>
                      </a:moveTo>
                      <a:cubicBezTo>
                        <a:pt x="130510" y="349767"/>
                        <a:pt x="83899" y="336343"/>
                        <a:pt x="50340" y="309122"/>
                      </a:cubicBezTo>
                      <a:cubicBezTo>
                        <a:pt x="16780" y="281902"/>
                        <a:pt x="0" y="243121"/>
                        <a:pt x="0" y="192782"/>
                      </a:cubicBezTo>
                      <a:lnTo>
                        <a:pt x="0" y="0"/>
                      </a:lnTo>
                      <a:lnTo>
                        <a:pt x="96950" y="0"/>
                      </a:lnTo>
                      <a:lnTo>
                        <a:pt x="96950" y="189799"/>
                      </a:lnTo>
                      <a:cubicBezTo>
                        <a:pt x="96950" y="222613"/>
                        <a:pt x="105154" y="246104"/>
                        <a:pt x="121934" y="260647"/>
                      </a:cubicBezTo>
                      <a:cubicBezTo>
                        <a:pt x="138714" y="275190"/>
                        <a:pt x="161460" y="282274"/>
                        <a:pt x="190545" y="282274"/>
                      </a:cubicBezTo>
                      <a:cubicBezTo>
                        <a:pt x="219630" y="282274"/>
                        <a:pt x="243122" y="275190"/>
                        <a:pt x="259156" y="260647"/>
                      </a:cubicBezTo>
                      <a:cubicBezTo>
                        <a:pt x="275190" y="246104"/>
                        <a:pt x="283766" y="222613"/>
                        <a:pt x="283766" y="189799"/>
                      </a:cubicBezTo>
                      <a:lnTo>
                        <a:pt x="283766" y="0"/>
                      </a:lnTo>
                      <a:lnTo>
                        <a:pt x="379598" y="0"/>
                      </a:lnTo>
                      <a:lnTo>
                        <a:pt x="379598" y="192782"/>
                      </a:lnTo>
                      <a:cubicBezTo>
                        <a:pt x="379598" y="243121"/>
                        <a:pt x="362818" y="281902"/>
                        <a:pt x="329259" y="309122"/>
                      </a:cubicBezTo>
                      <a:cubicBezTo>
                        <a:pt x="295699" y="336343"/>
                        <a:pt x="249461" y="349767"/>
                        <a:pt x="189799" y="349767"/>
                      </a:cubicBezTo>
                      <a:close/>
                    </a:path>
                  </a:pathLst>
                </a:custGeom>
                <a:grpFill/>
                <a:ln w="37253" cap="flat">
                  <a:noFill/>
                  <a:prstDash val="solid"/>
                  <a:miter/>
                </a:ln>
              </p:spPr>
              <p:txBody>
                <a:bodyPr rtlCol="0" anchor="ctr"/>
                <a:lstStyle/>
                <a:p>
                  <a:endParaRPr lang="zh-CN" altLang="en-US" sz="450"/>
                </a:p>
              </p:txBody>
            </p:sp>
            <p:sp>
              <p:nvSpPr>
                <p:cNvPr id="29" name="任意多边形: 形状 46">
                  <a:extLst>
                    <a:ext uri="{FF2B5EF4-FFF2-40B4-BE49-F238E27FC236}">
                      <a16:creationId xmlns:a16="http://schemas.microsoft.com/office/drawing/2014/main" id="{6A27E21A-712C-C20F-2837-06B830C319B6}"/>
                    </a:ext>
                  </a:extLst>
                </p:cNvPr>
                <p:cNvSpPr/>
                <p:nvPr/>
              </p:nvSpPr>
              <p:spPr>
                <a:xfrm>
                  <a:off x="17882156" y="11236650"/>
                  <a:ext cx="469463" cy="343800"/>
                </a:xfrm>
                <a:custGeom>
                  <a:avLst/>
                  <a:gdLst>
                    <a:gd name="connsiteX0" fmla="*/ 367293 w 469463"/>
                    <a:gd name="connsiteY0" fmla="*/ 343801 h 343800"/>
                    <a:gd name="connsiteX1" fmla="*/ 330377 w 469463"/>
                    <a:gd name="connsiteY1" fmla="*/ 269969 h 343800"/>
                    <a:gd name="connsiteX2" fmla="*/ 136103 w 469463"/>
                    <a:gd name="connsiteY2" fmla="*/ 269969 h 343800"/>
                    <a:gd name="connsiteX3" fmla="*/ 99188 w 469463"/>
                    <a:gd name="connsiteY3" fmla="*/ 343801 h 343800"/>
                    <a:gd name="connsiteX4" fmla="*/ 0 w 469463"/>
                    <a:gd name="connsiteY4" fmla="*/ 343801 h 343800"/>
                    <a:gd name="connsiteX5" fmla="*/ 186443 w 469463"/>
                    <a:gd name="connsiteY5" fmla="*/ 0 h 343800"/>
                    <a:gd name="connsiteX6" fmla="*/ 282275 w 469463"/>
                    <a:gd name="connsiteY6" fmla="*/ 0 h 343800"/>
                    <a:gd name="connsiteX7" fmla="*/ 469464 w 469463"/>
                    <a:gd name="connsiteY7" fmla="*/ 343801 h 343800"/>
                    <a:gd name="connsiteX8" fmla="*/ 367666 w 469463"/>
                    <a:gd name="connsiteY8" fmla="*/ 343801 h 343800"/>
                    <a:gd name="connsiteX9" fmla="*/ 167053 w 469463"/>
                    <a:gd name="connsiteY9" fmla="*/ 209562 h 343800"/>
                    <a:gd name="connsiteX10" fmla="*/ 299800 w 469463"/>
                    <a:gd name="connsiteY10" fmla="*/ 209562 h 343800"/>
                    <a:gd name="connsiteX11" fmla="*/ 233427 w 469463"/>
                    <a:gd name="connsiteY11" fmla="*/ 77933 h 343800"/>
                    <a:gd name="connsiteX12" fmla="*/ 167053 w 469463"/>
                    <a:gd name="connsiteY12" fmla="*/ 209562 h 34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9463" h="343800">
                      <a:moveTo>
                        <a:pt x="367293" y="343801"/>
                      </a:moveTo>
                      <a:lnTo>
                        <a:pt x="330377" y="269969"/>
                      </a:lnTo>
                      <a:lnTo>
                        <a:pt x="136103" y="269969"/>
                      </a:lnTo>
                      <a:lnTo>
                        <a:pt x="99188" y="343801"/>
                      </a:lnTo>
                      <a:lnTo>
                        <a:pt x="0" y="343801"/>
                      </a:lnTo>
                      <a:lnTo>
                        <a:pt x="186443" y="0"/>
                      </a:lnTo>
                      <a:lnTo>
                        <a:pt x="282275" y="0"/>
                      </a:lnTo>
                      <a:lnTo>
                        <a:pt x="469464" y="343801"/>
                      </a:lnTo>
                      <a:lnTo>
                        <a:pt x="367666" y="343801"/>
                      </a:lnTo>
                      <a:close/>
                      <a:moveTo>
                        <a:pt x="167053" y="209562"/>
                      </a:moveTo>
                      <a:lnTo>
                        <a:pt x="299800" y="209562"/>
                      </a:lnTo>
                      <a:lnTo>
                        <a:pt x="233427" y="77933"/>
                      </a:lnTo>
                      <a:lnTo>
                        <a:pt x="167053" y="209562"/>
                      </a:lnTo>
                      <a:close/>
                    </a:path>
                  </a:pathLst>
                </a:custGeom>
                <a:grpFill/>
                <a:ln w="37253" cap="flat">
                  <a:noFill/>
                  <a:prstDash val="solid"/>
                  <a:miter/>
                </a:ln>
              </p:spPr>
              <p:txBody>
                <a:bodyPr rtlCol="0" anchor="ctr"/>
                <a:lstStyle/>
                <a:p>
                  <a:endParaRPr lang="zh-CN" altLang="en-US" sz="450"/>
                </a:p>
              </p:txBody>
            </p:sp>
          </p:grpSp>
          <p:grpSp>
            <p:nvGrpSpPr>
              <p:cNvPr id="13" name="图形 3">
                <a:extLst>
                  <a:ext uri="{FF2B5EF4-FFF2-40B4-BE49-F238E27FC236}">
                    <a16:creationId xmlns:a16="http://schemas.microsoft.com/office/drawing/2014/main" id="{7BFBC227-D6DE-D420-31E0-7694C21CFDC1}"/>
                  </a:ext>
                </a:extLst>
              </p:cNvPr>
              <p:cNvGrpSpPr/>
              <p:nvPr/>
            </p:nvGrpSpPr>
            <p:grpSpPr>
              <a:xfrm>
                <a:off x="18670437" y="11231056"/>
                <a:ext cx="3927609" cy="349394"/>
                <a:chOff x="18670437" y="11231056"/>
                <a:chExt cx="3927609" cy="349394"/>
              </a:xfrm>
              <a:grpFill/>
            </p:grpSpPr>
            <p:sp>
              <p:nvSpPr>
                <p:cNvPr id="14" name="任意多边形: 形状 31">
                  <a:extLst>
                    <a:ext uri="{FF2B5EF4-FFF2-40B4-BE49-F238E27FC236}">
                      <a16:creationId xmlns:a16="http://schemas.microsoft.com/office/drawing/2014/main" id="{2369034F-8047-82EE-2454-A87EB4F6559A}"/>
                    </a:ext>
                  </a:extLst>
                </p:cNvPr>
                <p:cNvSpPr/>
                <p:nvPr/>
              </p:nvSpPr>
              <p:spPr>
                <a:xfrm>
                  <a:off x="18670437" y="11231802"/>
                  <a:ext cx="387428" cy="348275"/>
                </a:xfrm>
                <a:custGeom>
                  <a:avLst/>
                  <a:gdLst>
                    <a:gd name="connsiteX0" fmla="*/ 220003 w 387428"/>
                    <a:gd name="connsiteY0" fmla="*/ 348275 h 348275"/>
                    <a:gd name="connsiteX1" fmla="*/ 132748 w 387428"/>
                    <a:gd name="connsiteY1" fmla="*/ 335597 h 348275"/>
                    <a:gd name="connsiteX2" fmla="*/ 62645 w 387428"/>
                    <a:gd name="connsiteY2" fmla="*/ 299427 h 348275"/>
                    <a:gd name="connsiteX3" fmla="*/ 16407 w 387428"/>
                    <a:gd name="connsiteY3" fmla="*/ 244240 h 348275"/>
                    <a:gd name="connsiteX4" fmla="*/ 0 w 387428"/>
                    <a:gd name="connsiteY4" fmla="*/ 174138 h 348275"/>
                    <a:gd name="connsiteX5" fmla="*/ 16407 w 387428"/>
                    <a:gd name="connsiteY5" fmla="*/ 104035 h 348275"/>
                    <a:gd name="connsiteX6" fmla="*/ 62645 w 387428"/>
                    <a:gd name="connsiteY6" fmla="*/ 48848 h 348275"/>
                    <a:gd name="connsiteX7" fmla="*/ 132748 w 387428"/>
                    <a:gd name="connsiteY7" fmla="*/ 12678 h 348275"/>
                    <a:gd name="connsiteX8" fmla="*/ 220376 w 387428"/>
                    <a:gd name="connsiteY8" fmla="*/ 0 h 348275"/>
                    <a:gd name="connsiteX9" fmla="*/ 316208 w 387428"/>
                    <a:gd name="connsiteY9" fmla="*/ 15288 h 348275"/>
                    <a:gd name="connsiteX10" fmla="*/ 387429 w 387428"/>
                    <a:gd name="connsiteY10" fmla="*/ 59662 h 348275"/>
                    <a:gd name="connsiteX11" fmla="*/ 327021 w 387428"/>
                    <a:gd name="connsiteY11" fmla="*/ 105900 h 348275"/>
                    <a:gd name="connsiteX12" fmla="*/ 224851 w 387428"/>
                    <a:gd name="connsiteY12" fmla="*/ 66374 h 348275"/>
                    <a:gd name="connsiteX13" fmla="*/ 157358 w 387428"/>
                    <a:gd name="connsiteY13" fmla="*/ 80170 h 348275"/>
                    <a:gd name="connsiteX14" fmla="*/ 111120 w 387428"/>
                    <a:gd name="connsiteY14" fmla="*/ 118205 h 348275"/>
                    <a:gd name="connsiteX15" fmla="*/ 94713 w 387428"/>
                    <a:gd name="connsiteY15" fmla="*/ 174138 h 348275"/>
                    <a:gd name="connsiteX16" fmla="*/ 111120 w 387428"/>
                    <a:gd name="connsiteY16" fmla="*/ 230071 h 348275"/>
                    <a:gd name="connsiteX17" fmla="*/ 157358 w 387428"/>
                    <a:gd name="connsiteY17" fmla="*/ 268105 h 348275"/>
                    <a:gd name="connsiteX18" fmla="*/ 224851 w 387428"/>
                    <a:gd name="connsiteY18" fmla="*/ 281902 h 348275"/>
                    <a:gd name="connsiteX19" fmla="*/ 327021 w 387428"/>
                    <a:gd name="connsiteY19" fmla="*/ 242003 h 348275"/>
                    <a:gd name="connsiteX20" fmla="*/ 387429 w 387428"/>
                    <a:gd name="connsiteY20" fmla="*/ 288241 h 348275"/>
                    <a:gd name="connsiteX21" fmla="*/ 316208 w 387428"/>
                    <a:gd name="connsiteY21" fmla="*/ 332987 h 348275"/>
                    <a:gd name="connsiteX22" fmla="*/ 220003 w 387428"/>
                    <a:gd name="connsiteY22" fmla="*/ 348275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428" h="348275">
                      <a:moveTo>
                        <a:pt x="220003" y="348275"/>
                      </a:moveTo>
                      <a:cubicBezTo>
                        <a:pt x="188681" y="348275"/>
                        <a:pt x="159596" y="344174"/>
                        <a:pt x="132748" y="335597"/>
                      </a:cubicBezTo>
                      <a:cubicBezTo>
                        <a:pt x="105900" y="327021"/>
                        <a:pt x="82408" y="315089"/>
                        <a:pt x="62645" y="299427"/>
                      </a:cubicBezTo>
                      <a:cubicBezTo>
                        <a:pt x="42882" y="283766"/>
                        <a:pt x="27594" y="265495"/>
                        <a:pt x="16407" y="244240"/>
                      </a:cubicBezTo>
                      <a:cubicBezTo>
                        <a:pt x="5220" y="222986"/>
                        <a:pt x="0" y="199494"/>
                        <a:pt x="0" y="174138"/>
                      </a:cubicBezTo>
                      <a:cubicBezTo>
                        <a:pt x="0" y="148782"/>
                        <a:pt x="5593" y="125290"/>
                        <a:pt x="16407" y="104035"/>
                      </a:cubicBezTo>
                      <a:cubicBezTo>
                        <a:pt x="27594" y="82781"/>
                        <a:pt x="42882" y="64136"/>
                        <a:pt x="62645" y="48848"/>
                      </a:cubicBezTo>
                      <a:cubicBezTo>
                        <a:pt x="82408" y="33187"/>
                        <a:pt x="105900" y="21254"/>
                        <a:pt x="132748" y="12678"/>
                      </a:cubicBezTo>
                      <a:cubicBezTo>
                        <a:pt x="159596" y="4102"/>
                        <a:pt x="188681" y="0"/>
                        <a:pt x="220376" y="0"/>
                      </a:cubicBezTo>
                      <a:cubicBezTo>
                        <a:pt x="255427" y="0"/>
                        <a:pt x="287495" y="5220"/>
                        <a:pt x="316208" y="15288"/>
                      </a:cubicBezTo>
                      <a:cubicBezTo>
                        <a:pt x="344920" y="25729"/>
                        <a:pt x="368784" y="40272"/>
                        <a:pt x="387429" y="59662"/>
                      </a:cubicBezTo>
                      <a:lnTo>
                        <a:pt x="327021" y="105900"/>
                      </a:lnTo>
                      <a:cubicBezTo>
                        <a:pt x="299428" y="79425"/>
                        <a:pt x="265495" y="66374"/>
                        <a:pt x="224851" y="66374"/>
                      </a:cubicBezTo>
                      <a:cubicBezTo>
                        <a:pt x="199867" y="66374"/>
                        <a:pt x="177121" y="70848"/>
                        <a:pt x="157358" y="80170"/>
                      </a:cubicBezTo>
                      <a:cubicBezTo>
                        <a:pt x="137595" y="89120"/>
                        <a:pt x="122307" y="101798"/>
                        <a:pt x="111120" y="118205"/>
                      </a:cubicBezTo>
                      <a:cubicBezTo>
                        <a:pt x="99933" y="134612"/>
                        <a:pt x="94713" y="153256"/>
                        <a:pt x="94713" y="174138"/>
                      </a:cubicBezTo>
                      <a:cubicBezTo>
                        <a:pt x="94713" y="195019"/>
                        <a:pt x="100306" y="214037"/>
                        <a:pt x="111120" y="230071"/>
                      </a:cubicBezTo>
                      <a:cubicBezTo>
                        <a:pt x="121934" y="246105"/>
                        <a:pt x="137595" y="258783"/>
                        <a:pt x="157358" y="268105"/>
                      </a:cubicBezTo>
                      <a:cubicBezTo>
                        <a:pt x="177121" y="277427"/>
                        <a:pt x="199494" y="281902"/>
                        <a:pt x="224851" y="281902"/>
                      </a:cubicBezTo>
                      <a:cubicBezTo>
                        <a:pt x="265495" y="281902"/>
                        <a:pt x="299428" y="268478"/>
                        <a:pt x="327021" y="242003"/>
                      </a:cubicBezTo>
                      <a:lnTo>
                        <a:pt x="387429" y="288241"/>
                      </a:lnTo>
                      <a:cubicBezTo>
                        <a:pt x="368412" y="307631"/>
                        <a:pt x="344547" y="322919"/>
                        <a:pt x="316208" y="332987"/>
                      </a:cubicBezTo>
                      <a:cubicBezTo>
                        <a:pt x="287495" y="343428"/>
                        <a:pt x="255427" y="348275"/>
                        <a:pt x="220003" y="348275"/>
                      </a:cubicBezTo>
                      <a:close/>
                    </a:path>
                  </a:pathLst>
                </a:custGeom>
                <a:grpFill/>
                <a:ln w="37253" cap="flat">
                  <a:noFill/>
                  <a:prstDash val="solid"/>
                  <a:miter/>
                </a:ln>
              </p:spPr>
              <p:txBody>
                <a:bodyPr rtlCol="0" anchor="ctr"/>
                <a:lstStyle/>
                <a:p>
                  <a:endParaRPr lang="zh-CN" altLang="en-US" sz="450"/>
                </a:p>
              </p:txBody>
            </p:sp>
            <p:sp>
              <p:nvSpPr>
                <p:cNvPr id="15" name="任意多边形: 形状 32">
                  <a:extLst>
                    <a:ext uri="{FF2B5EF4-FFF2-40B4-BE49-F238E27FC236}">
                      <a16:creationId xmlns:a16="http://schemas.microsoft.com/office/drawing/2014/main" id="{B3AC55D9-DA5B-C630-6119-F7ED9DABB78E}"/>
                    </a:ext>
                  </a:extLst>
                </p:cNvPr>
                <p:cNvSpPr/>
                <p:nvPr/>
              </p:nvSpPr>
              <p:spPr>
                <a:xfrm>
                  <a:off x="19087696" y="11231802"/>
                  <a:ext cx="443734" cy="348275"/>
                </a:xfrm>
                <a:custGeom>
                  <a:avLst/>
                  <a:gdLst>
                    <a:gd name="connsiteX0" fmla="*/ 221867 w 443734"/>
                    <a:gd name="connsiteY0" fmla="*/ 348275 h 348275"/>
                    <a:gd name="connsiteX1" fmla="*/ 133120 w 443734"/>
                    <a:gd name="connsiteY1" fmla="*/ 335225 h 348275"/>
                    <a:gd name="connsiteX2" fmla="*/ 62645 w 443734"/>
                    <a:gd name="connsiteY2" fmla="*/ 298682 h 348275"/>
                    <a:gd name="connsiteX3" fmla="*/ 16407 w 443734"/>
                    <a:gd name="connsiteY3" fmla="*/ 243495 h 348275"/>
                    <a:gd name="connsiteX4" fmla="*/ 0 w 443734"/>
                    <a:gd name="connsiteY4" fmla="*/ 174138 h 348275"/>
                    <a:gd name="connsiteX5" fmla="*/ 16407 w 443734"/>
                    <a:gd name="connsiteY5" fmla="*/ 104781 h 348275"/>
                    <a:gd name="connsiteX6" fmla="*/ 62645 w 443734"/>
                    <a:gd name="connsiteY6" fmla="*/ 49594 h 348275"/>
                    <a:gd name="connsiteX7" fmla="*/ 133120 w 443734"/>
                    <a:gd name="connsiteY7" fmla="*/ 13051 h 348275"/>
                    <a:gd name="connsiteX8" fmla="*/ 221867 w 443734"/>
                    <a:gd name="connsiteY8" fmla="*/ 0 h 348275"/>
                    <a:gd name="connsiteX9" fmla="*/ 310241 w 443734"/>
                    <a:gd name="connsiteY9" fmla="*/ 13051 h 348275"/>
                    <a:gd name="connsiteX10" fmla="*/ 380717 w 443734"/>
                    <a:gd name="connsiteY10" fmla="*/ 49221 h 348275"/>
                    <a:gd name="connsiteX11" fmla="*/ 427327 w 443734"/>
                    <a:gd name="connsiteY11" fmla="*/ 104408 h 348275"/>
                    <a:gd name="connsiteX12" fmla="*/ 443735 w 443734"/>
                    <a:gd name="connsiteY12" fmla="*/ 173765 h 348275"/>
                    <a:gd name="connsiteX13" fmla="*/ 427327 w 443734"/>
                    <a:gd name="connsiteY13" fmla="*/ 243495 h 348275"/>
                    <a:gd name="connsiteX14" fmla="*/ 380717 w 443734"/>
                    <a:gd name="connsiteY14" fmla="*/ 298682 h 348275"/>
                    <a:gd name="connsiteX15" fmla="*/ 310241 w 443734"/>
                    <a:gd name="connsiteY15" fmla="*/ 334852 h 348275"/>
                    <a:gd name="connsiteX16" fmla="*/ 221867 w 443734"/>
                    <a:gd name="connsiteY16" fmla="*/ 347903 h 348275"/>
                    <a:gd name="connsiteX17" fmla="*/ 221867 w 443734"/>
                    <a:gd name="connsiteY17" fmla="*/ 281902 h 348275"/>
                    <a:gd name="connsiteX18" fmla="*/ 287122 w 443734"/>
                    <a:gd name="connsiteY18" fmla="*/ 268105 h 348275"/>
                    <a:gd name="connsiteX19" fmla="*/ 332242 w 443734"/>
                    <a:gd name="connsiteY19" fmla="*/ 230071 h 348275"/>
                    <a:gd name="connsiteX20" fmla="*/ 348648 w 443734"/>
                    <a:gd name="connsiteY20" fmla="*/ 174138 h 348275"/>
                    <a:gd name="connsiteX21" fmla="*/ 332242 w 443734"/>
                    <a:gd name="connsiteY21" fmla="*/ 117832 h 348275"/>
                    <a:gd name="connsiteX22" fmla="*/ 287122 w 443734"/>
                    <a:gd name="connsiteY22" fmla="*/ 80170 h 348275"/>
                    <a:gd name="connsiteX23" fmla="*/ 221867 w 443734"/>
                    <a:gd name="connsiteY23" fmla="*/ 66374 h 348275"/>
                    <a:gd name="connsiteX24" fmla="*/ 156985 w 443734"/>
                    <a:gd name="connsiteY24" fmla="*/ 80170 h 348275"/>
                    <a:gd name="connsiteX25" fmla="*/ 111493 w 443734"/>
                    <a:gd name="connsiteY25" fmla="*/ 117832 h 348275"/>
                    <a:gd name="connsiteX26" fmla="*/ 95086 w 443734"/>
                    <a:gd name="connsiteY26" fmla="*/ 174138 h 348275"/>
                    <a:gd name="connsiteX27" fmla="*/ 111493 w 443734"/>
                    <a:gd name="connsiteY27" fmla="*/ 230071 h 348275"/>
                    <a:gd name="connsiteX28" fmla="*/ 156985 w 443734"/>
                    <a:gd name="connsiteY28" fmla="*/ 268105 h 348275"/>
                    <a:gd name="connsiteX29" fmla="*/ 221867 w 443734"/>
                    <a:gd name="connsiteY29" fmla="*/ 281902 h 34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3734" h="348275">
                      <a:moveTo>
                        <a:pt x="221867" y="348275"/>
                      </a:moveTo>
                      <a:cubicBezTo>
                        <a:pt x="189799" y="348275"/>
                        <a:pt x="160341" y="343801"/>
                        <a:pt x="133120" y="335225"/>
                      </a:cubicBezTo>
                      <a:cubicBezTo>
                        <a:pt x="105900" y="326648"/>
                        <a:pt x="82408" y="314343"/>
                        <a:pt x="62645" y="298682"/>
                      </a:cubicBezTo>
                      <a:cubicBezTo>
                        <a:pt x="42882" y="283020"/>
                        <a:pt x="27221" y="264376"/>
                        <a:pt x="16407" y="243495"/>
                      </a:cubicBezTo>
                      <a:cubicBezTo>
                        <a:pt x="5220" y="222240"/>
                        <a:pt x="0" y="199121"/>
                        <a:pt x="0" y="174138"/>
                      </a:cubicBezTo>
                      <a:cubicBezTo>
                        <a:pt x="0" y="149154"/>
                        <a:pt x="5593" y="126036"/>
                        <a:pt x="16407" y="104781"/>
                      </a:cubicBezTo>
                      <a:cubicBezTo>
                        <a:pt x="27221" y="83527"/>
                        <a:pt x="42882" y="65255"/>
                        <a:pt x="62645" y="49594"/>
                      </a:cubicBezTo>
                      <a:cubicBezTo>
                        <a:pt x="82408" y="33933"/>
                        <a:pt x="105900" y="21627"/>
                        <a:pt x="133120" y="13051"/>
                      </a:cubicBezTo>
                      <a:cubicBezTo>
                        <a:pt x="160341" y="4474"/>
                        <a:pt x="189799" y="0"/>
                        <a:pt x="221867" y="0"/>
                      </a:cubicBezTo>
                      <a:cubicBezTo>
                        <a:pt x="253935" y="0"/>
                        <a:pt x="283393" y="4474"/>
                        <a:pt x="310241" y="13051"/>
                      </a:cubicBezTo>
                      <a:cubicBezTo>
                        <a:pt x="337089" y="21627"/>
                        <a:pt x="360581" y="33933"/>
                        <a:pt x="380717" y="49221"/>
                      </a:cubicBezTo>
                      <a:cubicBezTo>
                        <a:pt x="400853" y="64882"/>
                        <a:pt x="416514" y="83153"/>
                        <a:pt x="427327" y="104408"/>
                      </a:cubicBezTo>
                      <a:cubicBezTo>
                        <a:pt x="438514" y="125662"/>
                        <a:pt x="443735" y="148782"/>
                        <a:pt x="443735" y="173765"/>
                      </a:cubicBezTo>
                      <a:cubicBezTo>
                        <a:pt x="443735" y="198748"/>
                        <a:pt x="438141" y="221867"/>
                        <a:pt x="427327" y="243495"/>
                      </a:cubicBezTo>
                      <a:cubicBezTo>
                        <a:pt x="416141" y="264749"/>
                        <a:pt x="400853" y="283394"/>
                        <a:pt x="380717" y="298682"/>
                      </a:cubicBezTo>
                      <a:cubicBezTo>
                        <a:pt x="360581" y="314343"/>
                        <a:pt x="337089" y="326275"/>
                        <a:pt x="310241" y="334852"/>
                      </a:cubicBezTo>
                      <a:cubicBezTo>
                        <a:pt x="283393" y="343428"/>
                        <a:pt x="253935" y="347903"/>
                        <a:pt x="221867" y="347903"/>
                      </a:cubicBezTo>
                      <a:close/>
                      <a:moveTo>
                        <a:pt x="221867" y="281902"/>
                      </a:moveTo>
                      <a:cubicBezTo>
                        <a:pt x="246105" y="281902"/>
                        <a:pt x="268105" y="277427"/>
                        <a:pt x="287122" y="268105"/>
                      </a:cubicBezTo>
                      <a:cubicBezTo>
                        <a:pt x="306139" y="259156"/>
                        <a:pt x="321428" y="246478"/>
                        <a:pt x="332242" y="230071"/>
                      </a:cubicBezTo>
                      <a:cubicBezTo>
                        <a:pt x="343055" y="213664"/>
                        <a:pt x="348648" y="195019"/>
                        <a:pt x="348648" y="174138"/>
                      </a:cubicBezTo>
                      <a:cubicBezTo>
                        <a:pt x="348648" y="153256"/>
                        <a:pt x="343055" y="133866"/>
                        <a:pt x="332242" y="117832"/>
                      </a:cubicBezTo>
                      <a:cubicBezTo>
                        <a:pt x="321055" y="101798"/>
                        <a:pt x="306139" y="89120"/>
                        <a:pt x="287122" y="80170"/>
                      </a:cubicBezTo>
                      <a:cubicBezTo>
                        <a:pt x="268105" y="70848"/>
                        <a:pt x="246105" y="66374"/>
                        <a:pt x="221867" y="66374"/>
                      </a:cubicBezTo>
                      <a:cubicBezTo>
                        <a:pt x="197630" y="66374"/>
                        <a:pt x="176375" y="70848"/>
                        <a:pt x="156985" y="80170"/>
                      </a:cubicBezTo>
                      <a:cubicBezTo>
                        <a:pt x="137595" y="89120"/>
                        <a:pt x="122307" y="101798"/>
                        <a:pt x="111493" y="117832"/>
                      </a:cubicBezTo>
                      <a:cubicBezTo>
                        <a:pt x="100306" y="133866"/>
                        <a:pt x="95086" y="152510"/>
                        <a:pt x="95086" y="174138"/>
                      </a:cubicBezTo>
                      <a:cubicBezTo>
                        <a:pt x="95086" y="195765"/>
                        <a:pt x="100679" y="214037"/>
                        <a:pt x="111493" y="230071"/>
                      </a:cubicBezTo>
                      <a:cubicBezTo>
                        <a:pt x="122307" y="246105"/>
                        <a:pt x="137595" y="258783"/>
                        <a:pt x="156985" y="268105"/>
                      </a:cubicBezTo>
                      <a:cubicBezTo>
                        <a:pt x="176375" y="277427"/>
                        <a:pt x="198002" y="281902"/>
                        <a:pt x="221867" y="281902"/>
                      </a:cubicBezTo>
                      <a:close/>
                    </a:path>
                  </a:pathLst>
                </a:custGeom>
                <a:grpFill/>
                <a:ln w="37253" cap="flat">
                  <a:noFill/>
                  <a:prstDash val="solid"/>
                  <a:miter/>
                </a:ln>
              </p:spPr>
              <p:txBody>
                <a:bodyPr rtlCol="0" anchor="ctr"/>
                <a:lstStyle/>
                <a:p>
                  <a:endParaRPr lang="zh-CN" altLang="en-US" sz="450"/>
                </a:p>
              </p:txBody>
            </p:sp>
            <p:sp>
              <p:nvSpPr>
                <p:cNvPr id="16" name="任意多边形: 形状 33">
                  <a:extLst>
                    <a:ext uri="{FF2B5EF4-FFF2-40B4-BE49-F238E27FC236}">
                      <a16:creationId xmlns:a16="http://schemas.microsoft.com/office/drawing/2014/main" id="{9A1F5274-2489-80AE-D68C-BC548F91B498}"/>
                    </a:ext>
                  </a:extLst>
                </p:cNvPr>
                <p:cNvSpPr/>
                <p:nvPr/>
              </p:nvSpPr>
              <p:spPr>
                <a:xfrm>
                  <a:off x="19602652"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8 w 372513"/>
                    <a:gd name="connsiteY9" fmla="*/ 204714 h 336716"/>
                    <a:gd name="connsiteX10" fmla="*/ 280038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8" y="204714"/>
                      </a:lnTo>
                      <a:lnTo>
                        <a:pt x="280038" y="0"/>
                      </a:lnTo>
                      <a:close/>
                    </a:path>
                  </a:pathLst>
                </a:custGeom>
                <a:grpFill/>
                <a:ln w="37253" cap="flat">
                  <a:noFill/>
                  <a:prstDash val="solid"/>
                  <a:miter/>
                </a:ln>
              </p:spPr>
              <p:txBody>
                <a:bodyPr rtlCol="0" anchor="ctr"/>
                <a:lstStyle/>
                <a:p>
                  <a:endParaRPr lang="zh-CN" altLang="en-US" sz="450"/>
                </a:p>
              </p:txBody>
            </p:sp>
            <p:sp>
              <p:nvSpPr>
                <p:cNvPr id="17" name="任意多边形: 形状 34">
                  <a:extLst>
                    <a:ext uri="{FF2B5EF4-FFF2-40B4-BE49-F238E27FC236}">
                      <a16:creationId xmlns:a16="http://schemas.microsoft.com/office/drawing/2014/main" id="{5B2843AB-7946-96D2-AC48-A71D17F49B49}"/>
                    </a:ext>
                  </a:extLst>
                </p:cNvPr>
                <p:cNvSpPr/>
                <p:nvPr/>
              </p:nvSpPr>
              <p:spPr>
                <a:xfrm>
                  <a:off x="20039674" y="11231056"/>
                  <a:ext cx="337462" cy="349021"/>
                </a:xfrm>
                <a:custGeom>
                  <a:avLst/>
                  <a:gdLst>
                    <a:gd name="connsiteX0" fmla="*/ 165562 w 337462"/>
                    <a:gd name="connsiteY0" fmla="*/ 349021 h 349021"/>
                    <a:gd name="connsiteX1" fmla="*/ 102171 w 337462"/>
                    <a:gd name="connsiteY1" fmla="*/ 343801 h 349021"/>
                    <a:gd name="connsiteX2" fmla="*/ 44374 w 337462"/>
                    <a:gd name="connsiteY2" fmla="*/ 330004 h 349021"/>
                    <a:gd name="connsiteX3" fmla="*/ 0 w 337462"/>
                    <a:gd name="connsiteY3" fmla="*/ 309868 h 349021"/>
                    <a:gd name="connsiteX4" fmla="*/ 32068 w 337462"/>
                    <a:gd name="connsiteY4" fmla="*/ 251325 h 349021"/>
                    <a:gd name="connsiteX5" fmla="*/ 93594 w 337462"/>
                    <a:gd name="connsiteY5" fmla="*/ 276681 h 349021"/>
                    <a:gd name="connsiteX6" fmla="*/ 166307 w 337462"/>
                    <a:gd name="connsiteY6" fmla="*/ 286377 h 349021"/>
                    <a:gd name="connsiteX7" fmla="*/ 226342 w 337462"/>
                    <a:gd name="connsiteY7" fmla="*/ 275936 h 349021"/>
                    <a:gd name="connsiteX8" fmla="*/ 244613 w 337462"/>
                    <a:gd name="connsiteY8" fmla="*/ 250207 h 349021"/>
                    <a:gd name="connsiteX9" fmla="*/ 231935 w 337462"/>
                    <a:gd name="connsiteY9" fmla="*/ 228952 h 349021"/>
                    <a:gd name="connsiteX10" fmla="*/ 198003 w 337462"/>
                    <a:gd name="connsiteY10" fmla="*/ 215901 h 349021"/>
                    <a:gd name="connsiteX11" fmla="*/ 151765 w 337462"/>
                    <a:gd name="connsiteY11" fmla="*/ 206206 h 349021"/>
                    <a:gd name="connsiteX12" fmla="*/ 101425 w 337462"/>
                    <a:gd name="connsiteY12" fmla="*/ 195020 h 349021"/>
                    <a:gd name="connsiteX13" fmla="*/ 54814 w 337462"/>
                    <a:gd name="connsiteY13" fmla="*/ 177494 h 349021"/>
                    <a:gd name="connsiteX14" fmla="*/ 20882 w 337462"/>
                    <a:gd name="connsiteY14" fmla="*/ 149154 h 349021"/>
                    <a:gd name="connsiteX15" fmla="*/ 8204 w 337462"/>
                    <a:gd name="connsiteY15" fmla="*/ 104781 h 349021"/>
                    <a:gd name="connsiteX16" fmla="*/ 27221 w 337462"/>
                    <a:gd name="connsiteY16" fmla="*/ 52204 h 349021"/>
                    <a:gd name="connsiteX17" fmla="*/ 83899 w 337462"/>
                    <a:gd name="connsiteY17" fmla="*/ 14170 h 349021"/>
                    <a:gd name="connsiteX18" fmla="*/ 179358 w 337462"/>
                    <a:gd name="connsiteY18" fmla="*/ 0 h 349021"/>
                    <a:gd name="connsiteX19" fmla="*/ 254681 w 337462"/>
                    <a:gd name="connsiteY19" fmla="*/ 7458 h 349021"/>
                    <a:gd name="connsiteX20" fmla="*/ 320309 w 337462"/>
                    <a:gd name="connsiteY20" fmla="*/ 29831 h 349021"/>
                    <a:gd name="connsiteX21" fmla="*/ 291224 w 337462"/>
                    <a:gd name="connsiteY21" fmla="*/ 89120 h 349021"/>
                    <a:gd name="connsiteX22" fmla="*/ 234172 w 337462"/>
                    <a:gd name="connsiteY22" fmla="*/ 68984 h 349021"/>
                    <a:gd name="connsiteX23" fmla="*/ 178612 w 337462"/>
                    <a:gd name="connsiteY23" fmla="*/ 62645 h 349021"/>
                    <a:gd name="connsiteX24" fmla="*/ 118951 w 337462"/>
                    <a:gd name="connsiteY24" fmla="*/ 73832 h 349021"/>
                    <a:gd name="connsiteX25" fmla="*/ 101425 w 337462"/>
                    <a:gd name="connsiteY25" fmla="*/ 101052 h 349021"/>
                    <a:gd name="connsiteX26" fmla="*/ 114103 w 337462"/>
                    <a:gd name="connsiteY26" fmla="*/ 122307 h 349021"/>
                    <a:gd name="connsiteX27" fmla="*/ 148036 w 337462"/>
                    <a:gd name="connsiteY27" fmla="*/ 134985 h 349021"/>
                    <a:gd name="connsiteX28" fmla="*/ 194274 w 337462"/>
                    <a:gd name="connsiteY28" fmla="*/ 144680 h 349021"/>
                    <a:gd name="connsiteX29" fmla="*/ 244613 w 337462"/>
                    <a:gd name="connsiteY29" fmla="*/ 155493 h 349021"/>
                    <a:gd name="connsiteX30" fmla="*/ 290851 w 337462"/>
                    <a:gd name="connsiteY30" fmla="*/ 172274 h 349021"/>
                    <a:gd name="connsiteX31" fmla="*/ 324784 w 337462"/>
                    <a:gd name="connsiteY31" fmla="*/ 200240 h 349021"/>
                    <a:gd name="connsiteX32" fmla="*/ 337462 w 337462"/>
                    <a:gd name="connsiteY32" fmla="*/ 243868 h 349021"/>
                    <a:gd name="connsiteX33" fmla="*/ 318445 w 337462"/>
                    <a:gd name="connsiteY33" fmla="*/ 295699 h 349021"/>
                    <a:gd name="connsiteX34" fmla="*/ 261393 w 337462"/>
                    <a:gd name="connsiteY34" fmla="*/ 334106 h 349021"/>
                    <a:gd name="connsiteX35" fmla="*/ 165189 w 337462"/>
                    <a:gd name="connsiteY35" fmla="*/ 348649 h 3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7462" h="349021">
                      <a:moveTo>
                        <a:pt x="165562" y="349021"/>
                      </a:moveTo>
                      <a:cubicBezTo>
                        <a:pt x="144307" y="349021"/>
                        <a:pt x="123053" y="347157"/>
                        <a:pt x="102171" y="343801"/>
                      </a:cubicBezTo>
                      <a:cubicBezTo>
                        <a:pt x="81289" y="340445"/>
                        <a:pt x="61899" y="335971"/>
                        <a:pt x="44374" y="330004"/>
                      </a:cubicBezTo>
                      <a:cubicBezTo>
                        <a:pt x="26848" y="324038"/>
                        <a:pt x="11932" y="317326"/>
                        <a:pt x="0" y="309868"/>
                      </a:cubicBezTo>
                      <a:lnTo>
                        <a:pt x="32068" y="251325"/>
                      </a:lnTo>
                      <a:cubicBezTo>
                        <a:pt x="49221" y="261766"/>
                        <a:pt x="69730" y="269970"/>
                        <a:pt x="93594" y="276681"/>
                      </a:cubicBezTo>
                      <a:cubicBezTo>
                        <a:pt x="117459" y="283394"/>
                        <a:pt x="141697" y="286377"/>
                        <a:pt x="166307" y="286377"/>
                      </a:cubicBezTo>
                      <a:cubicBezTo>
                        <a:pt x="194274" y="286377"/>
                        <a:pt x="214037" y="283020"/>
                        <a:pt x="226342" y="275936"/>
                      </a:cubicBezTo>
                      <a:cubicBezTo>
                        <a:pt x="238647" y="269224"/>
                        <a:pt x="244613" y="260648"/>
                        <a:pt x="244613" y="250207"/>
                      </a:cubicBezTo>
                      <a:cubicBezTo>
                        <a:pt x="244613" y="241257"/>
                        <a:pt x="240512" y="234172"/>
                        <a:pt x="231935" y="228952"/>
                      </a:cubicBezTo>
                      <a:cubicBezTo>
                        <a:pt x="223359" y="223732"/>
                        <a:pt x="212172" y="219257"/>
                        <a:pt x="198003" y="215901"/>
                      </a:cubicBezTo>
                      <a:cubicBezTo>
                        <a:pt x="183833" y="212545"/>
                        <a:pt x="168545" y="209189"/>
                        <a:pt x="151765" y="206206"/>
                      </a:cubicBezTo>
                      <a:cubicBezTo>
                        <a:pt x="134985" y="203223"/>
                        <a:pt x="118578" y="199494"/>
                        <a:pt x="101425" y="195020"/>
                      </a:cubicBezTo>
                      <a:cubicBezTo>
                        <a:pt x="84272" y="190545"/>
                        <a:pt x="68984" y="184952"/>
                        <a:pt x="54814" y="177494"/>
                      </a:cubicBezTo>
                      <a:cubicBezTo>
                        <a:pt x="40645" y="170409"/>
                        <a:pt x="29458" y="161087"/>
                        <a:pt x="20882" y="149154"/>
                      </a:cubicBezTo>
                      <a:cubicBezTo>
                        <a:pt x="12305" y="137595"/>
                        <a:pt x="8204" y="122680"/>
                        <a:pt x="8204" y="104781"/>
                      </a:cubicBezTo>
                      <a:cubicBezTo>
                        <a:pt x="8204" y="85391"/>
                        <a:pt x="14543" y="67866"/>
                        <a:pt x="27221" y="52204"/>
                      </a:cubicBezTo>
                      <a:cubicBezTo>
                        <a:pt x="39899" y="36170"/>
                        <a:pt x="58916" y="23492"/>
                        <a:pt x="83899" y="14170"/>
                      </a:cubicBezTo>
                      <a:cubicBezTo>
                        <a:pt x="109256" y="4848"/>
                        <a:pt x="140951" y="0"/>
                        <a:pt x="179358" y="0"/>
                      </a:cubicBezTo>
                      <a:cubicBezTo>
                        <a:pt x="204715" y="0"/>
                        <a:pt x="230071" y="2610"/>
                        <a:pt x="254681" y="7458"/>
                      </a:cubicBezTo>
                      <a:cubicBezTo>
                        <a:pt x="279292" y="12305"/>
                        <a:pt x="301292" y="19763"/>
                        <a:pt x="320309" y="29831"/>
                      </a:cubicBezTo>
                      <a:lnTo>
                        <a:pt x="291224" y="89120"/>
                      </a:lnTo>
                      <a:cubicBezTo>
                        <a:pt x="272207" y="80171"/>
                        <a:pt x="253190" y="73459"/>
                        <a:pt x="234172" y="68984"/>
                      </a:cubicBezTo>
                      <a:cubicBezTo>
                        <a:pt x="215155" y="64510"/>
                        <a:pt x="196511" y="62645"/>
                        <a:pt x="178612" y="62645"/>
                      </a:cubicBezTo>
                      <a:cubicBezTo>
                        <a:pt x="150646" y="62645"/>
                        <a:pt x="130883" y="66374"/>
                        <a:pt x="118951" y="73832"/>
                      </a:cubicBezTo>
                      <a:cubicBezTo>
                        <a:pt x="107018" y="81289"/>
                        <a:pt x="101425" y="90238"/>
                        <a:pt x="101425" y="101052"/>
                      </a:cubicBezTo>
                      <a:cubicBezTo>
                        <a:pt x="101425" y="110001"/>
                        <a:pt x="105527" y="117086"/>
                        <a:pt x="114103" y="122307"/>
                      </a:cubicBezTo>
                      <a:cubicBezTo>
                        <a:pt x="122680" y="127527"/>
                        <a:pt x="133866" y="131629"/>
                        <a:pt x="148036" y="134985"/>
                      </a:cubicBezTo>
                      <a:cubicBezTo>
                        <a:pt x="162205" y="138341"/>
                        <a:pt x="177494" y="141697"/>
                        <a:pt x="194274" y="144680"/>
                      </a:cubicBezTo>
                      <a:cubicBezTo>
                        <a:pt x="211054" y="147663"/>
                        <a:pt x="227833" y="151392"/>
                        <a:pt x="244613" y="155493"/>
                      </a:cubicBezTo>
                      <a:cubicBezTo>
                        <a:pt x="261393" y="159595"/>
                        <a:pt x="276681" y="165189"/>
                        <a:pt x="290851" y="172274"/>
                      </a:cubicBezTo>
                      <a:cubicBezTo>
                        <a:pt x="305021" y="179358"/>
                        <a:pt x="316208" y="188680"/>
                        <a:pt x="324784" y="200240"/>
                      </a:cubicBezTo>
                      <a:cubicBezTo>
                        <a:pt x="333360" y="211800"/>
                        <a:pt x="337462" y="226342"/>
                        <a:pt x="337462" y="243868"/>
                      </a:cubicBezTo>
                      <a:cubicBezTo>
                        <a:pt x="337462" y="262512"/>
                        <a:pt x="331123" y="279665"/>
                        <a:pt x="318445" y="295699"/>
                      </a:cubicBezTo>
                      <a:cubicBezTo>
                        <a:pt x="305767" y="311733"/>
                        <a:pt x="286750" y="324411"/>
                        <a:pt x="261393" y="334106"/>
                      </a:cubicBezTo>
                      <a:cubicBezTo>
                        <a:pt x="236037" y="343801"/>
                        <a:pt x="203596" y="348649"/>
                        <a:pt x="165189" y="348649"/>
                      </a:cubicBezTo>
                      <a:close/>
                    </a:path>
                  </a:pathLst>
                </a:custGeom>
                <a:grpFill/>
                <a:ln w="37253" cap="flat">
                  <a:noFill/>
                  <a:prstDash val="solid"/>
                  <a:miter/>
                </a:ln>
              </p:spPr>
              <p:txBody>
                <a:bodyPr rtlCol="0" anchor="ctr"/>
                <a:lstStyle/>
                <a:p>
                  <a:endParaRPr lang="zh-CN" altLang="en-US" sz="450"/>
                </a:p>
              </p:txBody>
            </p:sp>
            <p:sp>
              <p:nvSpPr>
                <p:cNvPr id="18" name="任意多边形: 形状 35">
                  <a:extLst>
                    <a:ext uri="{FF2B5EF4-FFF2-40B4-BE49-F238E27FC236}">
                      <a16:creationId xmlns:a16="http://schemas.microsoft.com/office/drawing/2014/main" id="{1AAE272D-AB7A-5F6C-41A5-AA4B30E27522}"/>
                    </a:ext>
                  </a:extLst>
                </p:cNvPr>
                <p:cNvSpPr/>
                <p:nvPr/>
              </p:nvSpPr>
              <p:spPr>
                <a:xfrm>
                  <a:off x="20438290" y="11237395"/>
                  <a:ext cx="368038" cy="342682"/>
                </a:xfrm>
                <a:custGeom>
                  <a:avLst/>
                  <a:gdLst>
                    <a:gd name="connsiteX0" fmla="*/ 184206 w 368038"/>
                    <a:gd name="connsiteY0" fmla="*/ 342682 h 342682"/>
                    <a:gd name="connsiteX1" fmla="*/ 48848 w 368038"/>
                    <a:gd name="connsiteY1" fmla="*/ 302784 h 342682"/>
                    <a:gd name="connsiteX2" fmla="*/ 0 w 368038"/>
                    <a:gd name="connsiteY2" fmla="*/ 188681 h 342682"/>
                    <a:gd name="connsiteX3" fmla="*/ 0 w 368038"/>
                    <a:gd name="connsiteY3" fmla="*/ 0 h 342682"/>
                    <a:gd name="connsiteX4" fmla="*/ 93967 w 368038"/>
                    <a:gd name="connsiteY4" fmla="*/ 0 h 342682"/>
                    <a:gd name="connsiteX5" fmla="*/ 93967 w 368038"/>
                    <a:gd name="connsiteY5" fmla="*/ 185698 h 342682"/>
                    <a:gd name="connsiteX6" fmla="*/ 118205 w 368038"/>
                    <a:gd name="connsiteY6" fmla="*/ 255055 h 342682"/>
                    <a:gd name="connsiteX7" fmla="*/ 184579 w 368038"/>
                    <a:gd name="connsiteY7" fmla="*/ 276309 h 342682"/>
                    <a:gd name="connsiteX8" fmla="*/ 251325 w 368038"/>
                    <a:gd name="connsiteY8" fmla="*/ 255055 h 342682"/>
                    <a:gd name="connsiteX9" fmla="*/ 275190 w 368038"/>
                    <a:gd name="connsiteY9" fmla="*/ 185698 h 342682"/>
                    <a:gd name="connsiteX10" fmla="*/ 275190 w 368038"/>
                    <a:gd name="connsiteY10" fmla="*/ 0 h 342682"/>
                    <a:gd name="connsiteX11" fmla="*/ 368038 w 368038"/>
                    <a:gd name="connsiteY11" fmla="*/ 0 h 342682"/>
                    <a:gd name="connsiteX12" fmla="*/ 368038 w 368038"/>
                    <a:gd name="connsiteY12" fmla="*/ 188681 h 342682"/>
                    <a:gd name="connsiteX13" fmla="*/ 319190 w 368038"/>
                    <a:gd name="connsiteY13" fmla="*/ 302784 h 342682"/>
                    <a:gd name="connsiteX14" fmla="*/ 183833 w 368038"/>
                    <a:gd name="connsiteY14" fmla="*/ 342682 h 34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038" h="342682">
                      <a:moveTo>
                        <a:pt x="184206" y="342682"/>
                      </a:moveTo>
                      <a:cubicBezTo>
                        <a:pt x="126408" y="342682"/>
                        <a:pt x="81662" y="329258"/>
                        <a:pt x="48848" y="302784"/>
                      </a:cubicBezTo>
                      <a:cubicBezTo>
                        <a:pt x="16407" y="276309"/>
                        <a:pt x="0" y="238274"/>
                        <a:pt x="0" y="188681"/>
                      </a:cubicBezTo>
                      <a:lnTo>
                        <a:pt x="0" y="0"/>
                      </a:lnTo>
                      <a:lnTo>
                        <a:pt x="93967" y="0"/>
                      </a:lnTo>
                      <a:lnTo>
                        <a:pt x="93967" y="185698"/>
                      </a:lnTo>
                      <a:cubicBezTo>
                        <a:pt x="93967" y="217766"/>
                        <a:pt x="102171" y="240885"/>
                        <a:pt x="118205" y="255055"/>
                      </a:cubicBezTo>
                      <a:cubicBezTo>
                        <a:pt x="134239" y="269224"/>
                        <a:pt x="156239" y="276309"/>
                        <a:pt x="184579" y="276309"/>
                      </a:cubicBezTo>
                      <a:cubicBezTo>
                        <a:pt x="212918" y="276309"/>
                        <a:pt x="235291" y="269224"/>
                        <a:pt x="251325" y="255055"/>
                      </a:cubicBezTo>
                      <a:cubicBezTo>
                        <a:pt x="267359" y="240885"/>
                        <a:pt x="275190" y="217766"/>
                        <a:pt x="275190" y="185698"/>
                      </a:cubicBezTo>
                      <a:lnTo>
                        <a:pt x="275190" y="0"/>
                      </a:lnTo>
                      <a:lnTo>
                        <a:pt x="368038" y="0"/>
                      </a:lnTo>
                      <a:lnTo>
                        <a:pt x="368038" y="188681"/>
                      </a:lnTo>
                      <a:cubicBezTo>
                        <a:pt x="368038" y="238274"/>
                        <a:pt x="351631" y="275936"/>
                        <a:pt x="319190" y="302784"/>
                      </a:cubicBezTo>
                      <a:cubicBezTo>
                        <a:pt x="286750" y="329632"/>
                        <a:pt x="241630" y="342682"/>
                        <a:pt x="183833" y="342682"/>
                      </a:cubicBezTo>
                      <a:close/>
                    </a:path>
                  </a:pathLst>
                </a:custGeom>
                <a:grpFill/>
                <a:ln w="37253" cap="flat">
                  <a:noFill/>
                  <a:prstDash val="solid"/>
                  <a:miter/>
                </a:ln>
              </p:spPr>
              <p:txBody>
                <a:bodyPr rtlCol="0" anchor="ctr"/>
                <a:lstStyle/>
                <a:p>
                  <a:endParaRPr lang="zh-CN" altLang="en-US" sz="450"/>
                </a:p>
              </p:txBody>
            </p:sp>
            <p:sp>
              <p:nvSpPr>
                <p:cNvPr id="19" name="任意多边形: 形状 36">
                  <a:extLst>
                    <a:ext uri="{FF2B5EF4-FFF2-40B4-BE49-F238E27FC236}">
                      <a16:creationId xmlns:a16="http://schemas.microsoft.com/office/drawing/2014/main" id="{C0699B7A-D783-8335-CE96-7AF88209DADB}"/>
                    </a:ext>
                  </a:extLst>
                </p:cNvPr>
                <p:cNvSpPr/>
                <p:nvPr/>
              </p:nvSpPr>
              <p:spPr>
                <a:xfrm>
                  <a:off x="20899177" y="11237769"/>
                  <a:ext cx="297562" cy="336716"/>
                </a:xfrm>
                <a:custGeom>
                  <a:avLst/>
                  <a:gdLst>
                    <a:gd name="connsiteX0" fmla="*/ 0 w 297562"/>
                    <a:gd name="connsiteY0" fmla="*/ 336716 h 336716"/>
                    <a:gd name="connsiteX1" fmla="*/ 0 w 297562"/>
                    <a:gd name="connsiteY1" fmla="*/ 0 h 336716"/>
                    <a:gd name="connsiteX2" fmla="*/ 93967 w 297562"/>
                    <a:gd name="connsiteY2" fmla="*/ 0 h 336716"/>
                    <a:gd name="connsiteX3" fmla="*/ 93967 w 297562"/>
                    <a:gd name="connsiteY3" fmla="*/ 273326 h 336716"/>
                    <a:gd name="connsiteX4" fmla="*/ 297563 w 297562"/>
                    <a:gd name="connsiteY4" fmla="*/ 273326 h 336716"/>
                    <a:gd name="connsiteX5" fmla="*/ 297563 w 297562"/>
                    <a:gd name="connsiteY5" fmla="*/ 336716 h 336716"/>
                    <a:gd name="connsiteX6" fmla="*/ 0 w 297562"/>
                    <a:gd name="connsiteY6"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562" h="336716">
                      <a:moveTo>
                        <a:pt x="0" y="336716"/>
                      </a:moveTo>
                      <a:lnTo>
                        <a:pt x="0" y="0"/>
                      </a:lnTo>
                      <a:lnTo>
                        <a:pt x="93967" y="0"/>
                      </a:lnTo>
                      <a:lnTo>
                        <a:pt x="93967" y="273326"/>
                      </a:lnTo>
                      <a:lnTo>
                        <a:pt x="297563" y="273326"/>
                      </a:lnTo>
                      <a:lnTo>
                        <a:pt x="297563" y="336716"/>
                      </a:lnTo>
                      <a:lnTo>
                        <a:pt x="0" y="336716"/>
                      </a:lnTo>
                      <a:close/>
                    </a:path>
                  </a:pathLst>
                </a:custGeom>
                <a:grpFill/>
                <a:ln w="37253" cap="flat">
                  <a:noFill/>
                  <a:prstDash val="solid"/>
                  <a:miter/>
                </a:ln>
              </p:spPr>
              <p:txBody>
                <a:bodyPr rtlCol="0" anchor="ctr"/>
                <a:lstStyle/>
                <a:p>
                  <a:endParaRPr lang="zh-CN" altLang="en-US" sz="450"/>
                </a:p>
              </p:txBody>
            </p:sp>
            <p:sp>
              <p:nvSpPr>
                <p:cNvPr id="20" name="任意多边形: 形状 37">
                  <a:extLst>
                    <a:ext uri="{FF2B5EF4-FFF2-40B4-BE49-F238E27FC236}">
                      <a16:creationId xmlns:a16="http://schemas.microsoft.com/office/drawing/2014/main" id="{BA69F5CC-97C9-2CAB-A7E7-DA4B77A3E94D}"/>
                    </a:ext>
                  </a:extLst>
                </p:cNvPr>
                <p:cNvSpPr/>
                <p:nvPr/>
              </p:nvSpPr>
              <p:spPr>
                <a:xfrm>
                  <a:off x="21166164" y="11237769"/>
                  <a:ext cx="353868" cy="336716"/>
                </a:xfrm>
                <a:custGeom>
                  <a:avLst/>
                  <a:gdLst>
                    <a:gd name="connsiteX0" fmla="*/ 130137 w 353868"/>
                    <a:gd name="connsiteY0" fmla="*/ 336716 h 336716"/>
                    <a:gd name="connsiteX1" fmla="*/ 130137 w 353868"/>
                    <a:gd name="connsiteY1" fmla="*/ 63391 h 336716"/>
                    <a:gd name="connsiteX2" fmla="*/ 0 w 353868"/>
                    <a:gd name="connsiteY2" fmla="*/ 63391 h 336716"/>
                    <a:gd name="connsiteX3" fmla="*/ 0 w 353868"/>
                    <a:gd name="connsiteY3" fmla="*/ 0 h 336716"/>
                    <a:gd name="connsiteX4" fmla="*/ 353869 w 353868"/>
                    <a:gd name="connsiteY4" fmla="*/ 0 h 336716"/>
                    <a:gd name="connsiteX5" fmla="*/ 353869 w 353868"/>
                    <a:gd name="connsiteY5" fmla="*/ 63391 h 336716"/>
                    <a:gd name="connsiteX6" fmla="*/ 223732 w 353868"/>
                    <a:gd name="connsiteY6" fmla="*/ 63391 h 336716"/>
                    <a:gd name="connsiteX7" fmla="*/ 223732 w 353868"/>
                    <a:gd name="connsiteY7" fmla="*/ 336716 h 336716"/>
                    <a:gd name="connsiteX8" fmla="*/ 129764 w 353868"/>
                    <a:gd name="connsiteY8" fmla="*/ 336716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868" h="336716">
                      <a:moveTo>
                        <a:pt x="130137" y="336716"/>
                      </a:moveTo>
                      <a:lnTo>
                        <a:pt x="130137" y="63391"/>
                      </a:lnTo>
                      <a:lnTo>
                        <a:pt x="0" y="63391"/>
                      </a:lnTo>
                      <a:lnTo>
                        <a:pt x="0" y="0"/>
                      </a:lnTo>
                      <a:lnTo>
                        <a:pt x="353869" y="0"/>
                      </a:lnTo>
                      <a:lnTo>
                        <a:pt x="353869" y="63391"/>
                      </a:lnTo>
                      <a:lnTo>
                        <a:pt x="223732" y="63391"/>
                      </a:lnTo>
                      <a:lnTo>
                        <a:pt x="223732" y="336716"/>
                      </a:lnTo>
                      <a:lnTo>
                        <a:pt x="129764" y="336716"/>
                      </a:lnTo>
                      <a:close/>
                    </a:path>
                  </a:pathLst>
                </a:custGeom>
                <a:grpFill/>
                <a:ln w="37253" cap="flat">
                  <a:noFill/>
                  <a:prstDash val="solid"/>
                  <a:miter/>
                </a:ln>
              </p:spPr>
              <p:txBody>
                <a:bodyPr rtlCol="0" anchor="ctr"/>
                <a:lstStyle/>
                <a:p>
                  <a:endParaRPr lang="zh-CN" altLang="en-US" sz="450"/>
                </a:p>
              </p:txBody>
            </p:sp>
            <p:sp>
              <p:nvSpPr>
                <p:cNvPr id="21" name="任意多边形: 形状 38">
                  <a:extLst>
                    <a:ext uri="{FF2B5EF4-FFF2-40B4-BE49-F238E27FC236}">
                      <a16:creationId xmlns:a16="http://schemas.microsoft.com/office/drawing/2014/main" id="{75E700F3-DD47-380C-6BF4-A604D90EF902}"/>
                    </a:ext>
                  </a:extLst>
                </p:cNvPr>
                <p:cNvSpPr/>
                <p:nvPr/>
              </p:nvSpPr>
              <p:spPr>
                <a:xfrm>
                  <a:off x="21570745" y="11237769"/>
                  <a:ext cx="93967" cy="336716"/>
                </a:xfrm>
                <a:custGeom>
                  <a:avLst/>
                  <a:gdLst>
                    <a:gd name="connsiteX0" fmla="*/ 0 w 93967"/>
                    <a:gd name="connsiteY0" fmla="*/ 336716 h 336716"/>
                    <a:gd name="connsiteX1" fmla="*/ 0 w 93967"/>
                    <a:gd name="connsiteY1" fmla="*/ 0 h 336716"/>
                    <a:gd name="connsiteX2" fmla="*/ 93967 w 93967"/>
                    <a:gd name="connsiteY2" fmla="*/ 0 h 336716"/>
                    <a:gd name="connsiteX3" fmla="*/ 93967 w 93967"/>
                    <a:gd name="connsiteY3" fmla="*/ 336716 h 336716"/>
                    <a:gd name="connsiteX4" fmla="*/ 0 w 93967"/>
                    <a:gd name="connsiteY4" fmla="*/ 336716 h 33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67" h="336716">
                      <a:moveTo>
                        <a:pt x="0" y="336716"/>
                      </a:moveTo>
                      <a:lnTo>
                        <a:pt x="0" y="0"/>
                      </a:lnTo>
                      <a:lnTo>
                        <a:pt x="93967" y="0"/>
                      </a:lnTo>
                      <a:lnTo>
                        <a:pt x="93967" y="336716"/>
                      </a:lnTo>
                      <a:lnTo>
                        <a:pt x="0" y="336716"/>
                      </a:lnTo>
                      <a:close/>
                    </a:path>
                  </a:pathLst>
                </a:custGeom>
                <a:grpFill/>
                <a:ln w="37253" cap="flat">
                  <a:noFill/>
                  <a:prstDash val="solid"/>
                  <a:miter/>
                </a:ln>
              </p:spPr>
              <p:txBody>
                <a:bodyPr rtlCol="0" anchor="ctr"/>
                <a:lstStyle/>
                <a:p>
                  <a:endParaRPr lang="zh-CN" altLang="en-US" sz="450"/>
                </a:p>
              </p:txBody>
            </p:sp>
            <p:sp>
              <p:nvSpPr>
                <p:cNvPr id="22" name="任意多边形: 形状 39">
                  <a:extLst>
                    <a:ext uri="{FF2B5EF4-FFF2-40B4-BE49-F238E27FC236}">
                      <a16:creationId xmlns:a16="http://schemas.microsoft.com/office/drawing/2014/main" id="{0C690559-9313-08FE-5A13-A29C4F6BCC87}"/>
                    </a:ext>
                  </a:extLst>
                </p:cNvPr>
                <p:cNvSpPr/>
                <p:nvPr/>
              </p:nvSpPr>
              <p:spPr>
                <a:xfrm>
                  <a:off x="21760917" y="11237769"/>
                  <a:ext cx="372513" cy="336716"/>
                </a:xfrm>
                <a:custGeom>
                  <a:avLst/>
                  <a:gdLst>
                    <a:gd name="connsiteX0" fmla="*/ 279665 w 372513"/>
                    <a:gd name="connsiteY0" fmla="*/ 0 h 336716"/>
                    <a:gd name="connsiteX1" fmla="*/ 372513 w 372513"/>
                    <a:gd name="connsiteY1" fmla="*/ 0 h 336716"/>
                    <a:gd name="connsiteX2" fmla="*/ 372513 w 372513"/>
                    <a:gd name="connsiteY2" fmla="*/ 336716 h 336716"/>
                    <a:gd name="connsiteX3" fmla="*/ 295326 w 372513"/>
                    <a:gd name="connsiteY3" fmla="*/ 336716 h 336716"/>
                    <a:gd name="connsiteX4" fmla="*/ 92849 w 372513"/>
                    <a:gd name="connsiteY4" fmla="*/ 132001 h 336716"/>
                    <a:gd name="connsiteX5" fmla="*/ 92849 w 372513"/>
                    <a:gd name="connsiteY5" fmla="*/ 336716 h 336716"/>
                    <a:gd name="connsiteX6" fmla="*/ 0 w 372513"/>
                    <a:gd name="connsiteY6" fmla="*/ 336716 h 336716"/>
                    <a:gd name="connsiteX7" fmla="*/ 0 w 372513"/>
                    <a:gd name="connsiteY7" fmla="*/ 0 h 336716"/>
                    <a:gd name="connsiteX8" fmla="*/ 77933 w 372513"/>
                    <a:gd name="connsiteY8" fmla="*/ 0 h 336716"/>
                    <a:gd name="connsiteX9" fmla="*/ 280037 w 372513"/>
                    <a:gd name="connsiteY9" fmla="*/ 204714 h 336716"/>
                    <a:gd name="connsiteX10" fmla="*/ 280037 w 372513"/>
                    <a:gd name="connsiteY10" fmla="*/ 0 h 33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513" h="336716">
                      <a:moveTo>
                        <a:pt x="279665" y="0"/>
                      </a:moveTo>
                      <a:lnTo>
                        <a:pt x="372513" y="0"/>
                      </a:lnTo>
                      <a:lnTo>
                        <a:pt x="372513" y="336716"/>
                      </a:lnTo>
                      <a:lnTo>
                        <a:pt x="295326" y="336716"/>
                      </a:lnTo>
                      <a:lnTo>
                        <a:pt x="92849" y="132001"/>
                      </a:lnTo>
                      <a:lnTo>
                        <a:pt x="92849" y="336716"/>
                      </a:lnTo>
                      <a:lnTo>
                        <a:pt x="0" y="336716"/>
                      </a:lnTo>
                      <a:lnTo>
                        <a:pt x="0" y="0"/>
                      </a:lnTo>
                      <a:lnTo>
                        <a:pt x="77933" y="0"/>
                      </a:lnTo>
                      <a:lnTo>
                        <a:pt x="280037" y="204714"/>
                      </a:lnTo>
                      <a:lnTo>
                        <a:pt x="280037" y="0"/>
                      </a:lnTo>
                      <a:close/>
                    </a:path>
                  </a:pathLst>
                </a:custGeom>
                <a:grpFill/>
                <a:ln w="37253" cap="flat">
                  <a:noFill/>
                  <a:prstDash val="solid"/>
                  <a:miter/>
                </a:ln>
              </p:spPr>
              <p:txBody>
                <a:bodyPr rtlCol="0" anchor="ctr"/>
                <a:lstStyle/>
                <a:p>
                  <a:endParaRPr lang="zh-CN" altLang="en-US" sz="450"/>
                </a:p>
              </p:txBody>
            </p:sp>
            <p:sp>
              <p:nvSpPr>
                <p:cNvPr id="23" name="任意多边形: 形状 40">
                  <a:extLst>
                    <a:ext uri="{FF2B5EF4-FFF2-40B4-BE49-F238E27FC236}">
                      <a16:creationId xmlns:a16="http://schemas.microsoft.com/office/drawing/2014/main" id="{9797D3DB-B042-3D51-CF37-4A17D4E9E84C}"/>
                    </a:ext>
                  </a:extLst>
                </p:cNvPr>
                <p:cNvSpPr/>
                <p:nvPr/>
              </p:nvSpPr>
              <p:spPr>
                <a:xfrm>
                  <a:off x="22204651" y="11232175"/>
                  <a:ext cx="393394" cy="348276"/>
                </a:xfrm>
                <a:custGeom>
                  <a:avLst/>
                  <a:gdLst>
                    <a:gd name="connsiteX0" fmla="*/ 299801 w 393394"/>
                    <a:gd name="connsiteY0" fmla="*/ 267359 h 348276"/>
                    <a:gd name="connsiteX1" fmla="*/ 299801 w 393394"/>
                    <a:gd name="connsiteY1" fmla="*/ 168545 h 348276"/>
                    <a:gd name="connsiteX2" fmla="*/ 385565 w 393394"/>
                    <a:gd name="connsiteY2" fmla="*/ 168545 h 348276"/>
                    <a:gd name="connsiteX3" fmla="*/ 385565 w 393394"/>
                    <a:gd name="connsiteY3" fmla="*/ 305394 h 348276"/>
                    <a:gd name="connsiteX4" fmla="*/ 308377 w 393394"/>
                    <a:gd name="connsiteY4" fmla="*/ 337089 h 348276"/>
                    <a:gd name="connsiteX5" fmla="*/ 221494 w 393394"/>
                    <a:gd name="connsiteY5" fmla="*/ 348276 h 348276"/>
                    <a:gd name="connsiteX6" fmla="*/ 133121 w 393394"/>
                    <a:gd name="connsiteY6" fmla="*/ 335597 h 348276"/>
                    <a:gd name="connsiteX7" fmla="*/ 62645 w 393394"/>
                    <a:gd name="connsiteY7" fmla="*/ 299427 h 348276"/>
                    <a:gd name="connsiteX8" fmla="*/ 16407 w 393394"/>
                    <a:gd name="connsiteY8" fmla="*/ 244240 h 348276"/>
                    <a:gd name="connsiteX9" fmla="*/ 0 w 393394"/>
                    <a:gd name="connsiteY9" fmla="*/ 174138 h 348276"/>
                    <a:gd name="connsiteX10" fmla="*/ 16407 w 393394"/>
                    <a:gd name="connsiteY10" fmla="*/ 104036 h 348276"/>
                    <a:gd name="connsiteX11" fmla="*/ 63018 w 393394"/>
                    <a:gd name="connsiteY11" fmla="*/ 48848 h 348276"/>
                    <a:gd name="connsiteX12" fmla="*/ 133867 w 393394"/>
                    <a:gd name="connsiteY12" fmla="*/ 12679 h 348276"/>
                    <a:gd name="connsiteX13" fmla="*/ 223359 w 393394"/>
                    <a:gd name="connsiteY13" fmla="*/ 0 h 348276"/>
                    <a:gd name="connsiteX14" fmla="*/ 320310 w 393394"/>
                    <a:gd name="connsiteY14" fmla="*/ 14916 h 348276"/>
                    <a:gd name="connsiteX15" fmla="*/ 393395 w 393394"/>
                    <a:gd name="connsiteY15" fmla="*/ 58170 h 348276"/>
                    <a:gd name="connsiteX16" fmla="*/ 332988 w 393394"/>
                    <a:gd name="connsiteY16" fmla="*/ 104408 h 348276"/>
                    <a:gd name="connsiteX17" fmla="*/ 227833 w 393394"/>
                    <a:gd name="connsiteY17" fmla="*/ 66374 h 348276"/>
                    <a:gd name="connsiteX18" fmla="*/ 158477 w 393394"/>
                    <a:gd name="connsiteY18" fmla="*/ 80171 h 348276"/>
                    <a:gd name="connsiteX19" fmla="*/ 111866 w 393394"/>
                    <a:gd name="connsiteY19" fmla="*/ 117832 h 348276"/>
                    <a:gd name="connsiteX20" fmla="*/ 95086 w 393394"/>
                    <a:gd name="connsiteY20" fmla="*/ 174138 h 348276"/>
                    <a:gd name="connsiteX21" fmla="*/ 111866 w 393394"/>
                    <a:gd name="connsiteY21" fmla="*/ 230071 h 348276"/>
                    <a:gd name="connsiteX22" fmla="*/ 158104 w 393394"/>
                    <a:gd name="connsiteY22" fmla="*/ 268478 h 348276"/>
                    <a:gd name="connsiteX23" fmla="*/ 226715 w 393394"/>
                    <a:gd name="connsiteY23" fmla="*/ 282275 h 348276"/>
                    <a:gd name="connsiteX24" fmla="*/ 264003 w 393394"/>
                    <a:gd name="connsiteY24" fmla="*/ 278919 h 348276"/>
                    <a:gd name="connsiteX25" fmla="*/ 299801 w 393394"/>
                    <a:gd name="connsiteY25" fmla="*/ 267732 h 3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3394" h="348276">
                      <a:moveTo>
                        <a:pt x="299801" y="267359"/>
                      </a:moveTo>
                      <a:lnTo>
                        <a:pt x="299801" y="168545"/>
                      </a:lnTo>
                      <a:lnTo>
                        <a:pt x="385565" y="168545"/>
                      </a:lnTo>
                      <a:lnTo>
                        <a:pt x="385565" y="305394"/>
                      </a:lnTo>
                      <a:cubicBezTo>
                        <a:pt x="363191" y="319190"/>
                        <a:pt x="337462" y="329632"/>
                        <a:pt x="308377" y="337089"/>
                      </a:cubicBezTo>
                      <a:cubicBezTo>
                        <a:pt x="279292" y="344547"/>
                        <a:pt x="250207" y="348276"/>
                        <a:pt x="221494" y="348276"/>
                      </a:cubicBezTo>
                      <a:cubicBezTo>
                        <a:pt x="189799" y="348276"/>
                        <a:pt x="160341" y="344174"/>
                        <a:pt x="133121" y="335597"/>
                      </a:cubicBezTo>
                      <a:cubicBezTo>
                        <a:pt x="105900" y="327021"/>
                        <a:pt x="82408" y="315089"/>
                        <a:pt x="62645" y="299427"/>
                      </a:cubicBezTo>
                      <a:cubicBezTo>
                        <a:pt x="42882" y="283766"/>
                        <a:pt x="27221" y="265495"/>
                        <a:pt x="16407" y="244240"/>
                      </a:cubicBezTo>
                      <a:cubicBezTo>
                        <a:pt x="5220" y="222986"/>
                        <a:pt x="0" y="199494"/>
                        <a:pt x="0" y="174138"/>
                      </a:cubicBezTo>
                      <a:cubicBezTo>
                        <a:pt x="0" y="148782"/>
                        <a:pt x="5594" y="125290"/>
                        <a:pt x="16407" y="104036"/>
                      </a:cubicBezTo>
                      <a:cubicBezTo>
                        <a:pt x="27594" y="82781"/>
                        <a:pt x="42882" y="64136"/>
                        <a:pt x="63018" y="48848"/>
                      </a:cubicBezTo>
                      <a:cubicBezTo>
                        <a:pt x="83154" y="33187"/>
                        <a:pt x="106645" y="21255"/>
                        <a:pt x="133867" y="12679"/>
                      </a:cubicBezTo>
                      <a:cubicBezTo>
                        <a:pt x="161087" y="4102"/>
                        <a:pt x="190918" y="0"/>
                        <a:pt x="223359" y="0"/>
                      </a:cubicBezTo>
                      <a:cubicBezTo>
                        <a:pt x="258783" y="0"/>
                        <a:pt x="291224" y="4848"/>
                        <a:pt x="320310" y="14916"/>
                      </a:cubicBezTo>
                      <a:cubicBezTo>
                        <a:pt x="349395" y="24983"/>
                        <a:pt x="373632" y="39153"/>
                        <a:pt x="393395" y="58170"/>
                      </a:cubicBezTo>
                      <a:lnTo>
                        <a:pt x="332988" y="104408"/>
                      </a:lnTo>
                      <a:cubicBezTo>
                        <a:pt x="303903" y="79052"/>
                        <a:pt x="268851" y="66374"/>
                        <a:pt x="227833" y="66374"/>
                      </a:cubicBezTo>
                      <a:cubicBezTo>
                        <a:pt x="201359" y="66374"/>
                        <a:pt x="178240" y="70849"/>
                        <a:pt x="158477" y="80171"/>
                      </a:cubicBezTo>
                      <a:cubicBezTo>
                        <a:pt x="138714" y="89120"/>
                        <a:pt x="123053" y="101798"/>
                        <a:pt x="111866" y="117832"/>
                      </a:cubicBezTo>
                      <a:cubicBezTo>
                        <a:pt x="100679" y="133867"/>
                        <a:pt x="95086" y="152511"/>
                        <a:pt x="95086" y="174138"/>
                      </a:cubicBezTo>
                      <a:cubicBezTo>
                        <a:pt x="95086" y="195765"/>
                        <a:pt x="100679" y="213664"/>
                        <a:pt x="111866" y="230071"/>
                      </a:cubicBezTo>
                      <a:cubicBezTo>
                        <a:pt x="123053" y="246478"/>
                        <a:pt x="138714" y="259156"/>
                        <a:pt x="158104" y="268478"/>
                      </a:cubicBezTo>
                      <a:cubicBezTo>
                        <a:pt x="177867" y="277427"/>
                        <a:pt x="200613" y="282275"/>
                        <a:pt x="226715" y="282275"/>
                      </a:cubicBezTo>
                      <a:cubicBezTo>
                        <a:pt x="239393" y="282275"/>
                        <a:pt x="251698" y="281156"/>
                        <a:pt x="264003" y="278919"/>
                      </a:cubicBezTo>
                      <a:cubicBezTo>
                        <a:pt x="275936" y="276681"/>
                        <a:pt x="287868" y="272953"/>
                        <a:pt x="299801" y="267732"/>
                      </a:cubicBezTo>
                      <a:close/>
                    </a:path>
                  </a:pathLst>
                </a:custGeom>
                <a:grpFill/>
                <a:ln w="37253" cap="flat">
                  <a:noFill/>
                  <a:prstDash val="solid"/>
                  <a:miter/>
                </a:ln>
              </p:spPr>
              <p:txBody>
                <a:bodyPr rtlCol="0" anchor="ctr"/>
                <a:lstStyle/>
                <a:p>
                  <a:endParaRPr lang="zh-CN" altLang="en-US" sz="450"/>
                </a:p>
              </p:txBody>
            </p:sp>
          </p:grpSp>
        </p:grpSp>
      </p:grpSp>
      <p:sp>
        <p:nvSpPr>
          <p:cNvPr id="44" name="Rectangle 1">
            <a:extLst>
              <a:ext uri="{FF2B5EF4-FFF2-40B4-BE49-F238E27FC236}">
                <a16:creationId xmlns:a16="http://schemas.microsoft.com/office/drawing/2014/main" id="{693BBEDD-8B0C-4CB1-BD8E-AA24FD98E088}"/>
              </a:ext>
            </a:extLst>
          </p:cNvPr>
          <p:cNvSpPr/>
          <p:nvPr userDrawn="1"/>
        </p:nvSpPr>
        <p:spPr>
          <a:xfrm>
            <a:off x="1588" y="0"/>
            <a:ext cx="12188825" cy="6873376"/>
          </a:xfrm>
          <a:prstGeom prst="rect">
            <a:avLst/>
          </a:prstGeom>
          <a:gradFill flip="none" rotWithShape="1">
            <a:gsLst>
              <a:gs pos="5000">
                <a:srgbClr val="7C4DFF">
                  <a:alpha val="90000"/>
                </a:srgbClr>
              </a:gs>
              <a:gs pos="100000">
                <a:srgbClr val="AA00FF">
                  <a:alpha val="9000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en-US" sz="1200" dirty="0">
              <a:solidFill>
                <a:schemeClr val="bg1"/>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p:txBody>
      </p:sp>
    </p:spTree>
    <p:extLst>
      <p:ext uri="{BB962C8B-B14F-4D97-AF65-F5344CB8AC3E}">
        <p14:creationId xmlns:p14="http://schemas.microsoft.com/office/powerpoint/2010/main" val="597365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213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1135" y="365125"/>
            <a:ext cx="10752667" cy="520923"/>
          </a:xfrm>
          <a:prstGeom prst="rect">
            <a:avLst/>
          </a:prstGeom>
        </p:spPr>
        <p:txBody>
          <a:bodyPr/>
          <a:lstStyle>
            <a:lvl1pPr>
              <a:defRPr sz="2133"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9" name="小李PPT2"/>
          <p:cNvSpPr/>
          <p:nvPr userDrawn="1"/>
        </p:nvSpPr>
        <p:spPr>
          <a:xfrm>
            <a:off x="540175" y="408402"/>
            <a:ext cx="60959" cy="309332"/>
          </a:xfrm>
          <a:prstGeom prst="roundRect">
            <a:avLst>
              <a:gd name="adj" fmla="val 46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800">
              <a:solidFill>
                <a:prstClr val="white"/>
              </a:solidFill>
              <a:latin typeface="Tw Cen MT" panose="020B0602020104020603" charset="0"/>
              <a:ea typeface="华文仿宋" panose="02010600040101010101" pitchFamily="2" charset="-122"/>
            </a:endParaRP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53800" y="117068"/>
            <a:ext cx="742249" cy="133605"/>
          </a:xfrm>
          <a:prstGeom prst="rect">
            <a:avLst/>
          </a:prstGeom>
        </p:spPr>
      </p:pic>
    </p:spTree>
    <p:extLst>
      <p:ext uri="{BB962C8B-B14F-4D97-AF65-F5344CB8AC3E}">
        <p14:creationId xmlns:p14="http://schemas.microsoft.com/office/powerpoint/2010/main" val="3872158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395656"/>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3" name="文本占位符 2"/>
          <p:cNvSpPr>
            <a:spLocks noGrp="1"/>
          </p:cNvSpPr>
          <p:nvPr>
            <p:ph type="body" idx="1"/>
          </p:nvPr>
        </p:nvSpPr>
        <p:spPr>
          <a:xfrm>
            <a:off x="892454" y="1209387"/>
            <a:ext cx="10542824"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73889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 id="2147483661" r:id="rId5"/>
    <p:sldLayoutId id="2147483656" r:id="rId6"/>
    <p:sldLayoutId id="2147483657" r:id="rId7"/>
    <p:sldLayoutId id="2147483658" r:id="rId8"/>
    <p:sldLayoutId id="2147483662" r:id="rId9"/>
    <p:sldLayoutId id="2147483659" r:id="rId10"/>
    <p:sldLayoutId id="2147483660" r:id="rId11"/>
    <p:sldLayoutId id="2147483663" r:id="rId12"/>
    <p:sldLayoutId id="2147483664" r:id="rId13"/>
  </p:sldLayoutIdLst>
  <p:txStyles>
    <p:titleStyle>
      <a:lvl1pPr algn="l" defTabSz="914400" rtl="0" eaLnBrk="1" latinLnBrk="0" hangingPunct="1">
        <a:lnSpc>
          <a:spcPct val="90000"/>
        </a:lnSpc>
        <a:spcBef>
          <a:spcPct val="0"/>
        </a:spcBef>
        <a:buNone/>
        <a:defRPr sz="24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0"/>
        </a:spcBef>
        <a:spcAft>
          <a:spcPts val="600"/>
        </a:spcAft>
        <a:buFont typeface="Wingdings" panose="05000000000000000000" pitchFamily="2" charset="2"/>
        <a:buChar char="l"/>
        <a:defRPr sz="1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0"/>
        </a:spcBef>
        <a:spcAft>
          <a:spcPts val="600"/>
        </a:spcAft>
        <a:buFont typeface="Wingdings" panose="05000000000000000000" pitchFamily="2" charset="2"/>
        <a:buChar char="ü"/>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0.svg"/><Relationship Id="rId3" Type="http://schemas.openxmlformats.org/officeDocument/2006/relationships/image" Target="../media/image5.sv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 Type="http://schemas.openxmlformats.org/officeDocument/2006/relationships/image" Target="../media/image4.png"/><Relationship Id="rId16" Type="http://schemas.openxmlformats.org/officeDocument/2006/relationships/image" Target="../media/image18.svg"/><Relationship Id="rId1" Type="http://schemas.openxmlformats.org/officeDocument/2006/relationships/slideLayout" Target="../slideLayouts/slideLayout10.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2.xml.rels><?xml version="1.0" encoding="UTF-8" standalone="yes"?>
<Relationships xmlns="http://schemas.openxmlformats.org/package/2006/relationships"><Relationship Id="rId3" Type="http://schemas.openxmlformats.org/officeDocument/2006/relationships/hyperlink" Target="https://6919.h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0.svg"/></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3" Type="http://schemas.openxmlformats.org/officeDocument/2006/relationships/image" Target="../media/image29.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25.png"/><Relationship Id="rId10" Type="http://schemas.openxmlformats.org/officeDocument/2006/relationships/image" Target="../media/image35.svg"/><Relationship Id="rId4" Type="http://schemas.openxmlformats.org/officeDocument/2006/relationships/image" Target="../media/image30.svg"/><Relationship Id="rId9" Type="http://schemas.openxmlformats.org/officeDocument/2006/relationships/image" Target="../media/image34.png"/><Relationship Id="rId14" Type="http://schemas.openxmlformats.org/officeDocument/2006/relationships/image" Target="../media/image39.svg"/></Relationships>
</file>

<file path=ppt/slides/_rels/slide8.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40.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45.svg"/><Relationship Id="rId4" Type="http://schemas.openxmlformats.org/officeDocument/2006/relationships/image" Target="../media/image41.sv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notesSlide" Target="../notesSlides/notesSlide7.xml"/><Relationship Id="rId16" Type="http://schemas.openxmlformats.org/officeDocument/2006/relationships/image" Target="../media/image59.svg"/><Relationship Id="rId1" Type="http://schemas.openxmlformats.org/officeDocument/2006/relationships/slideLayout" Target="../slideLayouts/slideLayout3.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svg"/><Relationship Id="rId18" Type="http://schemas.openxmlformats.org/officeDocument/2006/relationships/image" Target="../media/image76.png"/><Relationship Id="rId3" Type="http://schemas.openxmlformats.org/officeDocument/2006/relationships/image" Target="../media/image61.svg"/><Relationship Id="rId21" Type="http://schemas.openxmlformats.org/officeDocument/2006/relationships/image" Target="../media/image79.svg"/><Relationship Id="rId7" Type="http://schemas.openxmlformats.org/officeDocument/2006/relationships/image" Target="../media/image65.svg"/><Relationship Id="rId12" Type="http://schemas.openxmlformats.org/officeDocument/2006/relationships/image" Target="../media/image70.png"/><Relationship Id="rId17" Type="http://schemas.openxmlformats.org/officeDocument/2006/relationships/image" Target="../media/image75.sv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svg"/><Relationship Id="rId5" Type="http://schemas.openxmlformats.org/officeDocument/2006/relationships/image" Target="../media/image63.svg"/><Relationship Id="rId15" Type="http://schemas.openxmlformats.org/officeDocument/2006/relationships/image" Target="../media/image73.svg"/><Relationship Id="rId10" Type="http://schemas.openxmlformats.org/officeDocument/2006/relationships/image" Target="../media/image68.png"/><Relationship Id="rId19" Type="http://schemas.openxmlformats.org/officeDocument/2006/relationships/image" Target="../media/image77.svg"/><Relationship Id="rId4" Type="http://schemas.openxmlformats.org/officeDocument/2006/relationships/image" Target="../media/image62.png"/><Relationship Id="rId9" Type="http://schemas.openxmlformats.org/officeDocument/2006/relationships/image" Target="../media/image67.svg"/><Relationship Id="rId14" Type="http://schemas.openxmlformats.org/officeDocument/2006/relationships/image" Target="../media/image72.png"/></Relationships>
</file>

<file path=ppt/slides/_rels/slide11.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85.jpeg"/><Relationship Id="rId3" Type="http://schemas.openxmlformats.org/officeDocument/2006/relationships/image" Target="../media/image80.jpeg"/><Relationship Id="rId7" Type="http://schemas.openxmlformats.org/officeDocument/2006/relationships/image" Target="../media/image84.jpe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83.jpeg"/><Relationship Id="rId5" Type="http://schemas.openxmlformats.org/officeDocument/2006/relationships/image" Target="../media/image82.jpg"/><Relationship Id="rId4" Type="http://schemas.openxmlformats.org/officeDocument/2006/relationships/image" Target="../media/image81.jpeg"/></Relationships>
</file>

<file path=ppt/slides/_rels/slide15.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6.xml"/><Relationship Id="rId6" Type="http://schemas.openxmlformats.org/officeDocument/2006/relationships/image" Target="../media/image90.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s>
</file>

<file path=ppt/slides/_rels/slide1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slideLayout" Target="../slideLayouts/slideLayout6.xml"/><Relationship Id="rId7" Type="http://schemas.openxmlformats.org/officeDocument/2006/relationships/image" Target="../media/image96.png"/><Relationship Id="rId2" Type="http://schemas.openxmlformats.org/officeDocument/2006/relationships/tags" Target="../tags/tag2.xml"/><Relationship Id="rId1" Type="http://schemas.openxmlformats.org/officeDocument/2006/relationships/tags" Target="../tags/tag1.xml"/><Relationship Id="rId6" Type="http://schemas.microsoft.com/office/2007/relationships/hdphoto" Target="../media/hdphoto1.wdp"/><Relationship Id="rId11" Type="http://schemas.openxmlformats.org/officeDocument/2006/relationships/image" Target="../media/image100.png"/><Relationship Id="rId5" Type="http://schemas.openxmlformats.org/officeDocument/2006/relationships/image" Target="../media/image95.png"/><Relationship Id="rId10" Type="http://schemas.openxmlformats.org/officeDocument/2006/relationships/image" Target="../media/image99.png"/><Relationship Id="rId4" Type="http://schemas.openxmlformats.org/officeDocument/2006/relationships/notesSlide" Target="../notesSlides/notesSlide10.xml"/><Relationship Id="rId9" Type="http://schemas.openxmlformats.org/officeDocument/2006/relationships/image" Target="../media/image98.jpeg"/></Relationships>
</file>

<file path=ppt/slides/_rels/slide17.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3" Type="http://schemas.openxmlformats.org/officeDocument/2006/relationships/image" Target="../media/image101.png"/><Relationship Id="rId21" Type="http://schemas.openxmlformats.org/officeDocument/2006/relationships/image" Target="../media/image119.jpe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5" Type="http://schemas.openxmlformats.org/officeDocument/2006/relationships/image" Target="../media/image123.jpeg"/><Relationship Id="rId2" Type="http://schemas.openxmlformats.org/officeDocument/2006/relationships/slideLayout" Target="../slideLayouts/slideLayout3.xml"/><Relationship Id="rId16" Type="http://schemas.openxmlformats.org/officeDocument/2006/relationships/image" Target="../media/image114.png"/><Relationship Id="rId20" Type="http://schemas.openxmlformats.org/officeDocument/2006/relationships/image" Target="../media/image118.png"/><Relationship Id="rId1" Type="http://schemas.openxmlformats.org/officeDocument/2006/relationships/tags" Target="../tags/tag3.xml"/><Relationship Id="rId6" Type="http://schemas.openxmlformats.org/officeDocument/2006/relationships/image" Target="../media/image104.jpeg"/><Relationship Id="rId11" Type="http://schemas.openxmlformats.org/officeDocument/2006/relationships/image" Target="../media/image109.jpeg"/><Relationship Id="rId24" Type="http://schemas.openxmlformats.org/officeDocument/2006/relationships/image" Target="../media/image122.png"/><Relationship Id="rId5" Type="http://schemas.openxmlformats.org/officeDocument/2006/relationships/image" Target="../media/image103.png"/><Relationship Id="rId15" Type="http://schemas.openxmlformats.org/officeDocument/2006/relationships/image" Target="../media/image113.jpeg"/><Relationship Id="rId23" Type="http://schemas.openxmlformats.org/officeDocument/2006/relationships/image" Target="../media/image121.png"/><Relationship Id="rId10" Type="http://schemas.openxmlformats.org/officeDocument/2006/relationships/image" Target="../media/image108.png"/><Relationship Id="rId19" Type="http://schemas.openxmlformats.org/officeDocument/2006/relationships/image" Target="../media/image117.png"/><Relationship Id="rId4" Type="http://schemas.openxmlformats.org/officeDocument/2006/relationships/image" Target="../media/image102.png"/><Relationship Id="rId9" Type="http://schemas.openxmlformats.org/officeDocument/2006/relationships/image" Target="../media/image107.jpeg"/><Relationship Id="rId14" Type="http://schemas.openxmlformats.org/officeDocument/2006/relationships/image" Target="../media/image112.jpeg"/><Relationship Id="rId22" Type="http://schemas.openxmlformats.org/officeDocument/2006/relationships/image" Target="../media/image120.jpeg"/></Relationships>
</file>

<file path=ppt/slides/_rels/slide18.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28.jpeg"/><Relationship Id="rId5" Type="http://schemas.openxmlformats.org/officeDocument/2006/relationships/image" Target="../media/image127.jpeg"/><Relationship Id="rId4" Type="http://schemas.openxmlformats.org/officeDocument/2006/relationships/image" Target="../media/image126.jpeg"/></Relationships>
</file>

<file path=ppt/slides/_rels/slide19.xml.rels><?xml version="1.0" encoding="UTF-8" standalone="yes"?>
<Relationships xmlns="http://schemas.openxmlformats.org/package/2006/relationships"><Relationship Id="rId3" Type="http://schemas.openxmlformats.org/officeDocument/2006/relationships/image" Target="../media/image131.svg"/><Relationship Id="rId2" Type="http://schemas.openxmlformats.org/officeDocument/2006/relationships/image" Target="../media/image130.png"/><Relationship Id="rId1" Type="http://schemas.openxmlformats.org/officeDocument/2006/relationships/slideLayout" Target="../slideLayouts/slideLayout5.xml"/><Relationship Id="rId5" Type="http://schemas.openxmlformats.org/officeDocument/2006/relationships/image" Target="../media/image133.svg"/><Relationship Id="rId4" Type="http://schemas.openxmlformats.org/officeDocument/2006/relationships/image" Target="../media/image1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BC990259-6B7C-FB2C-1FAE-3DC9E4A3E6CB}"/>
              </a:ext>
            </a:extLst>
          </p:cNvPr>
          <p:cNvGrpSpPr/>
          <p:nvPr/>
        </p:nvGrpSpPr>
        <p:grpSpPr>
          <a:xfrm>
            <a:off x="1566311" y="1438584"/>
            <a:ext cx="4751622" cy="380753"/>
            <a:chOff x="4594897" y="7074058"/>
            <a:chExt cx="3856958" cy="589214"/>
          </a:xfrm>
        </p:grpSpPr>
        <p:sp>
          <p:nvSpPr>
            <p:cNvPr id="25" name="文本框 24">
              <a:extLst>
                <a:ext uri="{FF2B5EF4-FFF2-40B4-BE49-F238E27FC236}">
                  <a16:creationId xmlns:a16="http://schemas.microsoft.com/office/drawing/2014/main" id="{06C26F0B-B3D4-2C23-6D94-7F42CBE47460}"/>
                </a:ext>
              </a:extLst>
            </p:cNvPr>
            <p:cNvSpPr txBox="1"/>
            <p:nvPr/>
          </p:nvSpPr>
          <p:spPr>
            <a:xfrm>
              <a:off x="4644241" y="7101258"/>
              <a:ext cx="3798719" cy="562014"/>
            </a:xfrm>
            <a:prstGeom prst="rect">
              <a:avLst/>
            </a:prstGeom>
            <a:noFill/>
          </p:spPr>
          <p:txBody>
            <a:bodyPr wrap="square">
              <a:spAutoFit/>
            </a:bodyPr>
            <a:lstStyle/>
            <a:p>
              <a:pPr algn="ctr">
                <a:lnSpc>
                  <a:spcPct val="80000"/>
                </a:lnSpc>
                <a:spcAft>
                  <a:spcPts val="500"/>
                </a:spcAft>
              </a:pPr>
              <a:r>
                <a:rPr kumimoji="1" lang="zh-CN" altLang="en-US" sz="22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管理咨询</a:t>
              </a:r>
              <a:r>
                <a:rPr kumimoji="1" lang="en-US" altLang="zh-CN" sz="22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a:t>
              </a:r>
              <a:r>
                <a:rPr kumimoji="1" lang="zh-CN" altLang="en-US" sz="22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数智化建设</a:t>
              </a:r>
              <a:r>
                <a:rPr kumimoji="1" lang="en-US" altLang="zh-CN" sz="22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a:t>
              </a:r>
              <a:r>
                <a:rPr kumimoji="1" lang="zh-CN" altLang="en-US" sz="22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陪伴式服务</a:t>
              </a:r>
              <a:endParaRPr kumimoji="1" lang="en-US" altLang="zh-CN" sz="22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endParaRPr>
            </a:p>
          </p:txBody>
        </p:sp>
        <p:grpSp>
          <p:nvGrpSpPr>
            <p:cNvPr id="26" name="组合 25">
              <a:extLst>
                <a:ext uri="{FF2B5EF4-FFF2-40B4-BE49-F238E27FC236}">
                  <a16:creationId xmlns:a16="http://schemas.microsoft.com/office/drawing/2014/main" id="{13E024B2-1CAF-D6FA-4B99-9DFEC931BC47}"/>
                </a:ext>
              </a:extLst>
            </p:cNvPr>
            <p:cNvGrpSpPr/>
            <p:nvPr/>
          </p:nvGrpSpPr>
          <p:grpSpPr>
            <a:xfrm>
              <a:off x="4594897" y="7074058"/>
              <a:ext cx="3856958" cy="506898"/>
              <a:chOff x="6366622" y="8688711"/>
              <a:chExt cx="10069960" cy="1323440"/>
            </a:xfrm>
          </p:grpSpPr>
          <p:pic>
            <p:nvPicPr>
              <p:cNvPr id="27" name="图形 3">
                <a:extLst>
                  <a:ext uri="{FF2B5EF4-FFF2-40B4-BE49-F238E27FC236}">
                    <a16:creationId xmlns:a16="http://schemas.microsoft.com/office/drawing/2014/main" id="{5F3686F1-2ACB-86C8-199B-256AC59987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66622" y="8688712"/>
                <a:ext cx="257661" cy="1323439"/>
              </a:xfrm>
              <a:prstGeom prst="rect">
                <a:avLst/>
              </a:prstGeom>
            </p:spPr>
          </p:pic>
          <p:pic>
            <p:nvPicPr>
              <p:cNvPr id="28" name="图形 4">
                <a:extLst>
                  <a:ext uri="{FF2B5EF4-FFF2-40B4-BE49-F238E27FC236}">
                    <a16:creationId xmlns:a16="http://schemas.microsoft.com/office/drawing/2014/main" id="{AEE6D456-C17B-7DB0-3D5D-223A9A4AEAAE}"/>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flipH="1">
                <a:off x="16178922" y="8688711"/>
                <a:ext cx="257660" cy="1323440"/>
              </a:xfrm>
              <a:prstGeom prst="rect">
                <a:avLst/>
              </a:prstGeom>
            </p:spPr>
          </p:pic>
        </p:grpSp>
      </p:grpSp>
      <p:grpSp>
        <p:nvGrpSpPr>
          <p:cNvPr id="29" name="图形 15">
            <a:extLst>
              <a:ext uri="{FF2B5EF4-FFF2-40B4-BE49-F238E27FC236}">
                <a16:creationId xmlns:a16="http://schemas.microsoft.com/office/drawing/2014/main" id="{4842D5C5-5DB9-BA75-3D2F-2A2C8AF5B295}"/>
              </a:ext>
            </a:extLst>
          </p:cNvPr>
          <p:cNvGrpSpPr/>
          <p:nvPr/>
        </p:nvGrpSpPr>
        <p:grpSpPr>
          <a:xfrm>
            <a:off x="850373" y="1823631"/>
            <a:ext cx="10491254" cy="5464704"/>
            <a:chOff x="4365269" y="2213472"/>
            <a:chExt cx="5877275" cy="3061366"/>
          </a:xfrm>
          <a:solidFill>
            <a:srgbClr val="FFFFFF"/>
          </a:solidFill>
        </p:grpSpPr>
        <p:sp>
          <p:nvSpPr>
            <p:cNvPr id="30" name="任意多边形: 形状 17">
              <a:extLst>
                <a:ext uri="{FF2B5EF4-FFF2-40B4-BE49-F238E27FC236}">
                  <a16:creationId xmlns:a16="http://schemas.microsoft.com/office/drawing/2014/main" id="{A4BD207B-A038-C268-9F1E-CA99AC13510A}"/>
                </a:ext>
              </a:extLst>
            </p:cNvPr>
            <p:cNvSpPr/>
            <p:nvPr/>
          </p:nvSpPr>
          <p:spPr>
            <a:xfrm>
              <a:off x="4365269" y="2288631"/>
              <a:ext cx="5802116" cy="2986207"/>
            </a:xfrm>
            <a:custGeom>
              <a:avLst/>
              <a:gdLst>
                <a:gd name="csX0" fmla="*/ 17344 w 5802116"/>
                <a:gd name="csY0" fmla="*/ 2986208 h 2986207"/>
                <a:gd name="csX1" fmla="*/ 3585 w 5802116"/>
                <a:gd name="csY1" fmla="*/ 2979444 h 2986207"/>
                <a:gd name="csX2" fmla="*/ 6822 w 5802116"/>
                <a:gd name="csY2" fmla="*/ 2955104 h 2986207"/>
                <a:gd name="csX3" fmla="*/ 235131 w 5802116"/>
                <a:gd name="csY3" fmla="*/ 2756974 h 2986207"/>
                <a:gd name="csX4" fmla="*/ 1097953 w 5802116"/>
                <a:gd name="csY4" fmla="*/ 2286538 h 2986207"/>
                <a:gd name="csX5" fmla="*/ 1579952 w 5802116"/>
                <a:gd name="csY5" fmla="*/ 2397889 h 2986207"/>
                <a:gd name="csX6" fmla="*/ 1976964 w 5802116"/>
                <a:gd name="csY6" fmla="*/ 2473452 h 2986207"/>
                <a:gd name="csX7" fmla="*/ 2692301 w 5802116"/>
                <a:gd name="csY7" fmla="*/ 1699953 h 2986207"/>
                <a:gd name="csX8" fmla="*/ 3269751 w 5802116"/>
                <a:gd name="csY8" fmla="*/ 1067464 h 2986207"/>
                <a:gd name="csX9" fmla="*/ 3831649 w 5802116"/>
                <a:gd name="csY9" fmla="*/ 1493382 h 2986207"/>
                <a:gd name="csX10" fmla="*/ 4312781 w 5802116"/>
                <a:gd name="csY10" fmla="*/ 1866690 h 2986207"/>
                <a:gd name="csX11" fmla="*/ 4787379 w 5802116"/>
                <a:gd name="csY11" fmla="*/ 1292651 h 2986207"/>
                <a:gd name="csX12" fmla="*/ 5774098 w 5802116"/>
                <a:gd name="csY12" fmla="*/ 3679 h 2986207"/>
                <a:gd name="csX13" fmla="*/ 5798438 w 5802116"/>
                <a:gd name="csY13" fmla="*/ 6685 h 2986207"/>
                <a:gd name="csX14" fmla="*/ 5795431 w 5802116"/>
                <a:gd name="csY14" fmla="*/ 31025 h 2986207"/>
                <a:gd name="csX15" fmla="*/ 4818021 w 5802116"/>
                <a:gd name="csY15" fmla="*/ 1308839 h 2986207"/>
                <a:gd name="csX16" fmla="*/ 4317926 w 5802116"/>
                <a:gd name="csY16" fmla="*/ 1901032 h 2986207"/>
                <a:gd name="csX17" fmla="*/ 4274970 w 5802116"/>
                <a:gd name="csY17" fmla="*/ 1904269 h 2986207"/>
                <a:gd name="csX18" fmla="*/ 3803552 w 5802116"/>
                <a:gd name="csY18" fmla="*/ 1513791 h 2986207"/>
                <a:gd name="csX19" fmla="*/ 3272353 w 5802116"/>
                <a:gd name="csY19" fmla="*/ 1102037 h 2986207"/>
                <a:gd name="csX20" fmla="*/ 2723058 w 5802116"/>
                <a:gd name="csY20" fmla="*/ 1715852 h 2986207"/>
                <a:gd name="csX21" fmla="*/ 2424042 w 5802116"/>
                <a:gd name="csY21" fmla="*/ 2214906 h 2986207"/>
                <a:gd name="csX22" fmla="*/ 1983150 w 5802116"/>
                <a:gd name="csY22" fmla="*/ 2507505 h 2986207"/>
                <a:gd name="csX23" fmla="*/ 1566019 w 5802116"/>
                <a:gd name="csY23" fmla="*/ 2429571 h 2986207"/>
                <a:gd name="csX24" fmla="*/ 1098936 w 5802116"/>
                <a:gd name="csY24" fmla="*/ 2321111 h 2986207"/>
                <a:gd name="csX25" fmla="*/ 258546 w 5802116"/>
                <a:gd name="csY25" fmla="*/ 2782412 h 2986207"/>
                <a:gd name="csX26" fmla="*/ 27867 w 5802116"/>
                <a:gd name="csY26" fmla="*/ 2982508 h 2986207"/>
                <a:gd name="csX27" fmla="*/ 17344 w 5802116"/>
                <a:gd name="csY27" fmla="*/ 2986208 h 2986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5802116" h="2986207">
                  <a:moveTo>
                    <a:pt x="17344" y="2986208"/>
                  </a:moveTo>
                  <a:cubicBezTo>
                    <a:pt x="12141" y="2986208"/>
                    <a:pt x="6996" y="2983895"/>
                    <a:pt x="3585" y="2979444"/>
                  </a:cubicBezTo>
                  <a:cubicBezTo>
                    <a:pt x="-2255" y="2971812"/>
                    <a:pt x="-809" y="2960943"/>
                    <a:pt x="6822" y="2955104"/>
                  </a:cubicBezTo>
                  <a:cubicBezTo>
                    <a:pt x="81865" y="2897578"/>
                    <a:pt x="156330" y="2829300"/>
                    <a:pt x="235131" y="2756974"/>
                  </a:cubicBezTo>
                  <a:cubicBezTo>
                    <a:pt x="470089" y="2541442"/>
                    <a:pt x="736440" y="2297176"/>
                    <a:pt x="1097953" y="2286538"/>
                  </a:cubicBezTo>
                  <a:cubicBezTo>
                    <a:pt x="1310595" y="2280352"/>
                    <a:pt x="1453685" y="2342791"/>
                    <a:pt x="1579952" y="2397889"/>
                  </a:cubicBezTo>
                  <a:cubicBezTo>
                    <a:pt x="1708416" y="2453969"/>
                    <a:pt x="1819361" y="2502359"/>
                    <a:pt x="1976964" y="2473452"/>
                  </a:cubicBezTo>
                  <a:cubicBezTo>
                    <a:pt x="2324949" y="2409683"/>
                    <a:pt x="2511689" y="2048863"/>
                    <a:pt x="2692301" y="1699953"/>
                  </a:cubicBezTo>
                  <a:cubicBezTo>
                    <a:pt x="2855338" y="1384980"/>
                    <a:pt x="3009298" y="1087525"/>
                    <a:pt x="3269751" y="1067464"/>
                  </a:cubicBezTo>
                  <a:cubicBezTo>
                    <a:pt x="3509045" y="1049136"/>
                    <a:pt x="3673065" y="1274960"/>
                    <a:pt x="3831649" y="1493382"/>
                  </a:cubicBezTo>
                  <a:cubicBezTo>
                    <a:pt x="3981678" y="1700011"/>
                    <a:pt x="4123381" y="1895077"/>
                    <a:pt x="4312781" y="1866690"/>
                  </a:cubicBezTo>
                  <a:cubicBezTo>
                    <a:pt x="4499522" y="1838650"/>
                    <a:pt x="4620238" y="1609647"/>
                    <a:pt x="4787379" y="1292651"/>
                  </a:cubicBezTo>
                  <a:cubicBezTo>
                    <a:pt x="4983312" y="921020"/>
                    <a:pt x="5251571" y="412080"/>
                    <a:pt x="5774098" y="3679"/>
                  </a:cubicBezTo>
                  <a:cubicBezTo>
                    <a:pt x="5781671" y="-2218"/>
                    <a:pt x="5792540" y="-889"/>
                    <a:pt x="5798438" y="6685"/>
                  </a:cubicBezTo>
                  <a:cubicBezTo>
                    <a:pt x="5804335" y="14259"/>
                    <a:pt x="5803005" y="25128"/>
                    <a:pt x="5795431" y="31025"/>
                  </a:cubicBezTo>
                  <a:cubicBezTo>
                    <a:pt x="5278802" y="434858"/>
                    <a:pt x="5012509" y="940041"/>
                    <a:pt x="4818021" y="1308839"/>
                  </a:cubicBezTo>
                  <a:cubicBezTo>
                    <a:pt x="4646139" y="1634796"/>
                    <a:pt x="4522011" y="1870332"/>
                    <a:pt x="4317926" y="1901032"/>
                  </a:cubicBezTo>
                  <a:cubicBezTo>
                    <a:pt x="4303300" y="1903229"/>
                    <a:pt x="4289019" y="1904269"/>
                    <a:pt x="4274970" y="1904269"/>
                  </a:cubicBezTo>
                  <a:cubicBezTo>
                    <a:pt x="4087073" y="1904269"/>
                    <a:pt x="3949070" y="1714233"/>
                    <a:pt x="3803552" y="1513791"/>
                  </a:cubicBezTo>
                  <a:cubicBezTo>
                    <a:pt x="3650517" y="1303057"/>
                    <a:pt x="3492279" y="1085155"/>
                    <a:pt x="3272353" y="1102037"/>
                  </a:cubicBezTo>
                  <a:cubicBezTo>
                    <a:pt x="3031209" y="1120595"/>
                    <a:pt x="2881528" y="1409725"/>
                    <a:pt x="2723058" y="1715852"/>
                  </a:cubicBezTo>
                  <a:cubicBezTo>
                    <a:pt x="2633157" y="1889584"/>
                    <a:pt x="2540134" y="2069214"/>
                    <a:pt x="2424042" y="2214906"/>
                  </a:cubicBezTo>
                  <a:cubicBezTo>
                    <a:pt x="2291011" y="2381816"/>
                    <a:pt x="2146822" y="2477499"/>
                    <a:pt x="1983150" y="2507505"/>
                  </a:cubicBezTo>
                  <a:cubicBezTo>
                    <a:pt x="1815083" y="2538262"/>
                    <a:pt x="1694135" y="2485478"/>
                    <a:pt x="1566019" y="2429571"/>
                  </a:cubicBezTo>
                  <a:cubicBezTo>
                    <a:pt x="1437035" y="2373317"/>
                    <a:pt x="1303715" y="2315099"/>
                    <a:pt x="1098936" y="2321111"/>
                  </a:cubicBezTo>
                  <a:cubicBezTo>
                    <a:pt x="750373" y="2331344"/>
                    <a:pt x="489110" y="2570985"/>
                    <a:pt x="258546" y="2782412"/>
                  </a:cubicBezTo>
                  <a:cubicBezTo>
                    <a:pt x="179167" y="2855258"/>
                    <a:pt x="104124" y="2924058"/>
                    <a:pt x="27867" y="2982508"/>
                  </a:cubicBezTo>
                  <a:cubicBezTo>
                    <a:pt x="24745" y="2985052"/>
                    <a:pt x="21045" y="2986208"/>
                    <a:pt x="17344" y="2986208"/>
                  </a:cubicBezTo>
                  <a:close/>
                </a:path>
              </a:pathLst>
            </a:custGeom>
            <a:gradFill>
              <a:gsLst>
                <a:gs pos="40000">
                  <a:srgbClr val="FFFFFF">
                    <a:alpha val="50000"/>
                  </a:srgbClr>
                </a:gs>
                <a:gs pos="0">
                  <a:srgbClr val="FFC000">
                    <a:alpha val="70000"/>
                  </a:srgbClr>
                </a:gs>
                <a:gs pos="100000">
                  <a:srgbClr val="ECD1FF">
                    <a:alpha val="20000"/>
                  </a:srgbClr>
                </a:gs>
              </a:gsLst>
              <a:lin ang="10800000" scaled="0"/>
            </a:gradFill>
            <a:ln w="5777" cap="flat">
              <a:noFill/>
              <a:prstDash val="solid"/>
              <a:miter/>
            </a:ln>
          </p:spPr>
          <p:txBody>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EEA3107B-EFB6-27E2-2ECD-3021A3F32278}"/>
                </a:ext>
              </a:extLst>
            </p:cNvPr>
            <p:cNvSpPr/>
            <p:nvPr/>
          </p:nvSpPr>
          <p:spPr>
            <a:xfrm>
              <a:off x="10092227" y="2213472"/>
              <a:ext cx="150317" cy="150317"/>
            </a:xfrm>
            <a:prstGeom prst="ellipse">
              <a:avLst/>
            </a:prstGeom>
            <a:solidFill>
              <a:srgbClr val="FFFFFF">
                <a:alpha val="90000"/>
              </a:srgbClr>
            </a:solidFill>
            <a:ln w="38100" cap="flat">
              <a:solidFill>
                <a:schemeClr val="bg1">
                  <a:alpha val="50000"/>
                </a:schemeClr>
              </a:solidFill>
              <a:prstDash val="solid"/>
              <a:miter/>
            </a:ln>
          </p:spPr>
        </p:sp>
      </p:grpSp>
      <p:pic>
        <p:nvPicPr>
          <p:cNvPr id="32" name="图形 26">
            <a:extLst>
              <a:ext uri="{FF2B5EF4-FFF2-40B4-BE49-F238E27FC236}">
                <a16:creationId xmlns:a16="http://schemas.microsoft.com/office/drawing/2014/main" id="{31C336C5-0801-8A9B-2268-1AA755E7EE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61886" y="5853113"/>
            <a:ext cx="285750" cy="295275"/>
          </a:xfrm>
          <a:prstGeom prst="rect">
            <a:avLst/>
          </a:prstGeom>
        </p:spPr>
      </p:pic>
      <p:sp>
        <p:nvSpPr>
          <p:cNvPr id="33" name="文本框 32">
            <a:extLst>
              <a:ext uri="{FF2B5EF4-FFF2-40B4-BE49-F238E27FC236}">
                <a16:creationId xmlns:a16="http://schemas.microsoft.com/office/drawing/2014/main" id="{F300FE27-BA30-BB73-3E8D-E7239C017B65}"/>
              </a:ext>
            </a:extLst>
          </p:cNvPr>
          <p:cNvSpPr txBox="1"/>
          <p:nvPr/>
        </p:nvSpPr>
        <p:spPr>
          <a:xfrm>
            <a:off x="1389728" y="1958553"/>
            <a:ext cx="6213484" cy="1785104"/>
          </a:xfrm>
          <a:prstGeom prst="rect">
            <a:avLst/>
          </a:prstGeom>
          <a:noFill/>
        </p:spPr>
        <p:txBody>
          <a:bodyPr wrap="square">
            <a:spAutoFit/>
          </a:bodyPr>
          <a:lstStyle/>
          <a:p>
            <a:pPr>
              <a:spcAft>
                <a:spcPts val="500"/>
              </a:spcAft>
            </a:pPr>
            <a:r>
              <a:rPr kumimoji="1" lang="zh-CN" altLang="en-US" sz="5500" b="1"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助力企业人效提升和利润增长</a:t>
            </a:r>
          </a:p>
        </p:txBody>
      </p:sp>
      <p:sp>
        <p:nvSpPr>
          <p:cNvPr id="34" name="文本框 33">
            <a:extLst>
              <a:ext uri="{FF2B5EF4-FFF2-40B4-BE49-F238E27FC236}">
                <a16:creationId xmlns:a16="http://schemas.microsoft.com/office/drawing/2014/main" id="{21EDF006-5DF0-C2EF-54CB-9C5995E9B762}"/>
              </a:ext>
            </a:extLst>
          </p:cNvPr>
          <p:cNvSpPr txBox="1"/>
          <p:nvPr/>
        </p:nvSpPr>
        <p:spPr>
          <a:xfrm>
            <a:off x="4485194" y="5267378"/>
            <a:ext cx="3221612" cy="587340"/>
          </a:xfrm>
          <a:prstGeom prst="rect">
            <a:avLst/>
          </a:prstGeom>
          <a:noFill/>
        </p:spPr>
        <p:txBody>
          <a:bodyPr wrap="square">
            <a:spAutoFit/>
          </a:bodyPr>
          <a:lstStyle/>
          <a:p>
            <a:pPr>
              <a:spcAft>
                <a:spcPts val="500"/>
              </a:spcAft>
            </a:pPr>
            <a:r>
              <a:rPr kumimoji="1" lang="en-US" altLang="zh-CN" sz="1400" dirty="0">
                <a:solidFill>
                  <a:srgbClr val="D0A4FF"/>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Driving Organizational Efficiency</a:t>
            </a:r>
          </a:p>
          <a:p>
            <a:pPr>
              <a:spcAft>
                <a:spcPts val="500"/>
              </a:spcAft>
            </a:pPr>
            <a:r>
              <a:rPr kumimoji="1" lang="en-US" altLang="zh-CN" sz="1400" dirty="0">
                <a:solidFill>
                  <a:srgbClr val="D0A4FF"/>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and Profit Growth</a:t>
            </a:r>
            <a:endParaRPr kumimoji="1" lang="zh-CN" altLang="en-US" sz="1400" dirty="0">
              <a:solidFill>
                <a:srgbClr val="D0A4FF"/>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endParaRPr>
          </a:p>
        </p:txBody>
      </p:sp>
      <p:cxnSp>
        <p:nvCxnSpPr>
          <p:cNvPr id="35" name="直接连接符 34">
            <a:extLst>
              <a:ext uri="{FF2B5EF4-FFF2-40B4-BE49-F238E27FC236}">
                <a16:creationId xmlns:a16="http://schemas.microsoft.com/office/drawing/2014/main" id="{A8F762E1-B51A-EDE6-2B28-F75EB2790E4A}"/>
              </a:ext>
            </a:extLst>
          </p:cNvPr>
          <p:cNvCxnSpPr>
            <a:cxnSpLocks/>
          </p:cNvCxnSpPr>
          <p:nvPr/>
        </p:nvCxnSpPr>
        <p:spPr>
          <a:xfrm>
            <a:off x="1531586" y="3865045"/>
            <a:ext cx="150161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图形 23">
            <a:extLst>
              <a:ext uri="{FF2B5EF4-FFF2-40B4-BE49-F238E27FC236}">
                <a16:creationId xmlns:a16="http://schemas.microsoft.com/office/drawing/2014/main" id="{A2F541F9-C7D6-BACC-9DFD-A82E470CFE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0825" y="4511617"/>
            <a:ext cx="1052265" cy="849906"/>
          </a:xfrm>
          <a:prstGeom prst="rect">
            <a:avLst/>
          </a:prstGeom>
        </p:spPr>
      </p:pic>
      <p:pic>
        <p:nvPicPr>
          <p:cNvPr id="37" name="图形 31">
            <a:extLst>
              <a:ext uri="{FF2B5EF4-FFF2-40B4-BE49-F238E27FC236}">
                <a16:creationId xmlns:a16="http://schemas.microsoft.com/office/drawing/2014/main" id="{0C386C37-7660-8A10-465A-BDF9255EB7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09115" y="1053343"/>
            <a:ext cx="784819" cy="668549"/>
          </a:xfrm>
          <a:prstGeom prst="rect">
            <a:avLst/>
          </a:prstGeom>
        </p:spPr>
      </p:pic>
      <p:pic>
        <p:nvPicPr>
          <p:cNvPr id="38" name="图形 33">
            <a:extLst>
              <a:ext uri="{FF2B5EF4-FFF2-40B4-BE49-F238E27FC236}">
                <a16:creationId xmlns:a16="http://schemas.microsoft.com/office/drawing/2014/main" id="{D64AF0CA-75C5-41C6-45AE-22EC90C11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83851" y="3939038"/>
            <a:ext cx="1761171" cy="1422485"/>
          </a:xfrm>
          <a:prstGeom prst="rect">
            <a:avLst/>
          </a:prstGeom>
        </p:spPr>
      </p:pic>
      <p:pic>
        <p:nvPicPr>
          <p:cNvPr id="39" name="图形 34">
            <a:extLst>
              <a:ext uri="{FF2B5EF4-FFF2-40B4-BE49-F238E27FC236}">
                <a16:creationId xmlns:a16="http://schemas.microsoft.com/office/drawing/2014/main" id="{9D2786D4-407E-D9E2-6456-7C8725C6EF0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09117" y="4045615"/>
            <a:ext cx="537841" cy="434410"/>
          </a:xfrm>
          <a:prstGeom prst="rect">
            <a:avLst/>
          </a:prstGeom>
        </p:spPr>
      </p:pic>
      <p:pic>
        <p:nvPicPr>
          <p:cNvPr id="40" name="图形 36">
            <a:extLst>
              <a:ext uri="{FF2B5EF4-FFF2-40B4-BE49-F238E27FC236}">
                <a16:creationId xmlns:a16="http://schemas.microsoft.com/office/drawing/2014/main" id="{6F9D597F-E502-0C49-6186-BAEFEC2DBE2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23014" y="1351166"/>
            <a:ext cx="1879368" cy="1517952"/>
          </a:xfrm>
          <a:prstGeom prst="rect">
            <a:avLst/>
          </a:prstGeom>
        </p:spPr>
      </p:pic>
      <p:pic>
        <p:nvPicPr>
          <p:cNvPr id="41" name="图形 2">
            <a:extLst>
              <a:ext uri="{FF2B5EF4-FFF2-40B4-BE49-F238E27FC236}">
                <a16:creationId xmlns:a16="http://schemas.microsoft.com/office/drawing/2014/main" id="{D7FE8ADC-371C-1702-640F-2E0EC4A6693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484286" y="536028"/>
            <a:ext cx="863349" cy="729236"/>
          </a:xfrm>
          <a:prstGeom prst="rect">
            <a:avLst/>
          </a:prstGeom>
        </p:spPr>
      </p:pic>
    </p:spTree>
    <p:extLst>
      <p:ext uri="{BB962C8B-B14F-4D97-AF65-F5344CB8AC3E}">
        <p14:creationId xmlns:p14="http://schemas.microsoft.com/office/powerpoint/2010/main" val="4247833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12"/>
          <p:cNvSpPr/>
          <p:nvPr/>
        </p:nvSpPr>
        <p:spPr>
          <a:xfrm>
            <a:off x="903288" y="1356719"/>
            <a:ext cx="10448925" cy="4351749"/>
          </a:xfrm>
          <a:prstGeom prst="roundRect">
            <a:avLst>
              <a:gd name="adj" fmla="val 6862"/>
            </a:avLst>
          </a:prstGeom>
          <a:solidFill>
            <a:schemeClr val="bg1">
              <a:alpha val="90000"/>
            </a:schemeClr>
          </a:solidFill>
          <a:ln>
            <a:solidFill>
              <a:schemeClr val="bg1"/>
            </a:solidFill>
          </a:ln>
          <a:effectLst>
            <a:innerShdw blurRad="381000">
              <a:srgbClr val="EAEAEA"/>
            </a:innerShdw>
          </a:effectLst>
        </p:spPr>
        <p:style>
          <a:lnRef idx="2">
            <a:schemeClr val="accent1">
              <a:shade val="15000"/>
            </a:schemeClr>
          </a:lnRef>
          <a:fillRef idx="1">
            <a:schemeClr val="accent1"/>
          </a:fillRef>
          <a:effectRef idx="0">
            <a:schemeClr val="accent1"/>
          </a:effectRef>
          <a:fontRef idx="minor">
            <a:schemeClr val="lt1"/>
          </a:fontRef>
        </p:style>
        <p:txBody>
          <a:bodyPr lIns="360000" rIns="360000" rtlCol="0" anchor="ctr"/>
          <a:lstStyle/>
          <a:p>
            <a:pPr algn="just">
              <a:lnSpc>
                <a:spcPct val="150000"/>
              </a:lnSpc>
              <a:spcAft>
                <a:spcPts val="1200"/>
              </a:spcAft>
            </a:pP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在</a:t>
            </a:r>
            <a:r>
              <a:rPr lang="zh-CN" altLang="en-GB"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人机</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共智的新质生产力时代，人才成为更加稀缺的资产。企业如何全面拥抱</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AI</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，持续优化人机配置以及人力资本的投入回报，已成为关乎未来生存与持续发展的关键课题。在此背景下，瑞华智策于</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2025</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年应时而生。</a:t>
            </a:r>
          </a:p>
          <a:p>
            <a:pPr algn="just">
              <a:lnSpc>
                <a:spcPct val="150000"/>
              </a:lnSpc>
              <a:spcAft>
                <a:spcPts val="1200"/>
              </a:spcAft>
            </a:pP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作为人瑞人才（股份代号：</a:t>
            </a:r>
            <a:r>
              <a:rPr lang="en-US" altLang="zh-CN" sz="1495"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hlinkClick r:id="rId3"/>
              </a:rPr>
              <a:t>6919.</a:t>
            </a:r>
            <a:r>
              <a:rPr lang="en-GB" altLang="zh-CN" sz="1495"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hlinkClick r:id="rId3"/>
              </a:rPr>
              <a:t>HK</a:t>
            </a:r>
            <a:r>
              <a:rPr lang="zh-CN" altLang="en-GB" sz="1495"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旗下全资子公司，我们专注于为大中型企业提供</a:t>
            </a:r>
            <a:r>
              <a:rPr lang="en-GB"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AI</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时代的</a:t>
            </a:r>
            <a:r>
              <a:rPr lang="zh-CN" altLang="en-US" sz="1495" b="1" dirty="0">
                <a:solidFill>
                  <a:srgbClr val="7547EC"/>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“人力资本价值经营”一体化解决方案</a:t>
            </a:r>
            <a:r>
              <a:rPr lang="zh-CN" altLang="en-US"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t>
            </a:r>
            <a:r>
              <a:rPr lang="en-US" altLang="zh-CN" sz="1497" dirty="0">
                <a:solidFill>
                  <a:srgbClr val="424242"/>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 </a:t>
            </a:r>
            <a:r>
              <a:rPr lang="zh-CN" altLang="en-US" sz="1497" dirty="0">
                <a:solidFill>
                  <a:srgbClr val="424242"/>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资深顾问以人机协同的</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pitchFamily="18" charset="-122"/>
                <a:sym typeface="MiSans" panose="00000500000000000000" pitchFamily="2" charset="-122"/>
              </a:rPr>
              <a:t>咨询服务，</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导入创新的管理思想、方法论和最佳实践，再通过定制开发的</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HCVM</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Human</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 </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Capital</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 </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Value</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 </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Management</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）数智化平台落地该体系，帮助企业</a:t>
            </a:r>
            <a:r>
              <a:rPr lang="zh-CN" altLang="en-US" sz="1495" b="1" dirty="0">
                <a:solidFill>
                  <a:srgbClr val="7547EC"/>
                </a:solidFill>
                <a:latin typeface="MiSans" panose="00000500000000000000" pitchFamily="2" charset="-122"/>
                <a:ea typeface="MiSans" panose="00000500000000000000" pitchFamily="2" charset="-122"/>
                <a:sym typeface="MiSans" panose="00000500000000000000" pitchFamily="2" charset="-122"/>
              </a:rPr>
              <a:t>实现可持续的人效提升和利润增长</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t>
            </a:r>
          </a:p>
          <a:p>
            <a:pPr algn="just">
              <a:lnSpc>
                <a:spcPct val="150000"/>
              </a:lnSpc>
              <a:spcAft>
                <a:spcPts val="1200"/>
              </a:spcAft>
            </a:pP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依托人瑞人才</a:t>
            </a:r>
            <a:r>
              <a:rPr lang="en-US"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15+</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年所积累的对</a:t>
            </a:r>
            <a:r>
              <a:rPr lang="zh-CN" altLang="en-US" sz="1495" b="1" dirty="0">
                <a:solidFill>
                  <a:srgbClr val="7547EC"/>
                </a:solidFill>
                <a:latin typeface="MiSans" panose="00000500000000000000" pitchFamily="2" charset="-122"/>
                <a:ea typeface="MiSans" panose="00000500000000000000" pitchFamily="2" charset="-122"/>
                <a:sym typeface="MiSans" panose="00000500000000000000" pitchFamily="2" charset="-122"/>
              </a:rPr>
              <a:t>大型组织管理的深刻洞察</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，在</a:t>
            </a:r>
            <a:r>
              <a:rPr lang="zh-CN" altLang="en-US" sz="1495" b="1" dirty="0">
                <a:solidFill>
                  <a:srgbClr val="7547EC"/>
                </a:solidFill>
                <a:latin typeface="MiSans" panose="00000500000000000000" pitchFamily="2" charset="-122"/>
                <a:ea typeface="MiSans" panose="00000500000000000000" pitchFamily="2" charset="-122"/>
                <a:sym typeface="MiSans" panose="00000500000000000000" pitchFamily="2" charset="-122"/>
              </a:rPr>
              <a:t>人效经营领域的成功实践</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，以及</a:t>
            </a:r>
            <a:r>
              <a:rPr lang="zh-CN" altLang="en-US" sz="1495" b="1" dirty="0">
                <a:solidFill>
                  <a:srgbClr val="7547EC"/>
                </a:solidFill>
                <a:latin typeface="MiSans" panose="00000500000000000000" pitchFamily="2" charset="-122"/>
                <a:ea typeface="MiSans" panose="00000500000000000000" pitchFamily="2" charset="-122"/>
                <a:sym typeface="MiSans" panose="00000500000000000000" pitchFamily="2" charset="-122"/>
              </a:rPr>
              <a:t>以效果为导向</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、广受众多行业头部客户信赖的服务理念，瑞华智策开创了</a:t>
            </a:r>
            <a:r>
              <a:rPr lang="zh-CN" altLang="en-US"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“咨询</a:t>
            </a:r>
            <a:r>
              <a:rPr lang="en-US" altLang="zh-CN"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t>
            </a:r>
            <a:r>
              <a:rPr lang="zh-CN" altLang="en-US"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技术</a:t>
            </a:r>
            <a:r>
              <a:rPr lang="en-US" altLang="zh-CN"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t>
            </a:r>
            <a:r>
              <a:rPr lang="zh-CN" altLang="en-US"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服务”三位一体的独特服务模式。</a:t>
            </a:r>
            <a:endParaRPr lang="en-US" altLang="zh-CN" sz="1495" b="1" dirty="0">
              <a:solidFill>
                <a:srgbClr val="7C4DFF"/>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endParaRPr>
          </a:p>
          <a:p>
            <a:pPr algn="just">
              <a:lnSpc>
                <a:spcPct val="150000"/>
              </a:lnSpc>
              <a:spcAft>
                <a:spcPts val="1200"/>
              </a:spcAft>
            </a:pP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我们的使命，是与企业共同探索</a:t>
            </a:r>
            <a:r>
              <a:rPr lang="en-GB" altLang="zh-CN"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AI</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时代的业务与管理新范式，打造持续进化的</a:t>
            </a:r>
            <a:r>
              <a:rPr lang="zh-CN" altLang="en-US" sz="1495" b="1" dirty="0">
                <a:solidFill>
                  <a:srgbClr val="7547EC"/>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新质组织</a:t>
            </a:r>
            <a:r>
              <a:rPr lang="zh-CN" altLang="en-US" sz="1495" dirty="0">
                <a:solidFill>
                  <a:srgbClr val="424242"/>
                </a:solidFill>
                <a:latin typeface="MiSans" panose="00000500000000000000" pitchFamily="2" charset="-122"/>
                <a:ea typeface="MiSans" panose="00000500000000000000" pitchFamily="2" charset="-122"/>
                <a:cs typeface="OPPOSans R" panose="00020600040101010101" charset="-122"/>
                <a:sym typeface="MiSans" panose="00000500000000000000" pitchFamily="2" charset="-122"/>
              </a:rPr>
              <a:t>，实现客户商业成功、企业健康增长与人才价值跃升的深度共赢。</a:t>
            </a:r>
          </a:p>
        </p:txBody>
      </p:sp>
      <p:sp>
        <p:nvSpPr>
          <p:cNvPr id="34" name="图形 26"/>
          <p:cNvSpPr/>
          <p:nvPr/>
        </p:nvSpPr>
        <p:spPr>
          <a:xfrm>
            <a:off x="3931237" y="6041537"/>
            <a:ext cx="471170" cy="241788"/>
          </a:xfrm>
          <a:custGeom>
            <a:avLst/>
            <a:gdLst>
              <a:gd name="connsiteX0" fmla="*/ 794400 w 956652"/>
              <a:gd name="connsiteY0" fmla="*/ 988 h 478292"/>
              <a:gd name="connsiteX1" fmla="*/ 575503 w 956652"/>
              <a:gd name="connsiteY1" fmla="*/ 80504 h 478292"/>
              <a:gd name="connsiteX2" fmla="*/ 381417 w 956652"/>
              <a:gd name="connsiteY2" fmla="*/ 283099 h 478292"/>
              <a:gd name="connsiteX3" fmla="*/ 48610 w 956652"/>
              <a:gd name="connsiteY3" fmla="*/ 403278 h 478292"/>
              <a:gd name="connsiteX4" fmla="*/ 33531 w 956652"/>
              <a:gd name="connsiteY4" fmla="*/ 366908 h 478292"/>
              <a:gd name="connsiteX5" fmla="*/ 80293 w 956652"/>
              <a:gd name="connsiteY5" fmla="*/ 286280 h 478292"/>
              <a:gd name="connsiteX6" fmla="*/ 297307 w 956652"/>
              <a:gd name="connsiteY6" fmla="*/ 328411 h 478292"/>
              <a:gd name="connsiteX7" fmla="*/ 299359 w 956652"/>
              <a:gd name="connsiteY7" fmla="*/ 327319 h 478292"/>
              <a:gd name="connsiteX8" fmla="*/ 101584 w 956652"/>
              <a:gd name="connsiteY8" fmla="*/ 255596 h 478292"/>
              <a:gd name="connsiteX9" fmla="*/ 21860 w 956652"/>
              <a:gd name="connsiteY9" fmla="*/ 302809 h 478292"/>
              <a:gd name="connsiteX10" fmla="*/ 88670 w 956652"/>
              <a:gd name="connsiteY10" fmla="*/ 474681 h 478292"/>
              <a:gd name="connsiteX11" fmla="*/ 398285 w 956652"/>
              <a:gd name="connsiteY11" fmla="*/ 329314 h 478292"/>
              <a:gd name="connsiteX12" fmla="*/ 730809 w 956652"/>
              <a:gd name="connsiteY12" fmla="*/ 94567 h 478292"/>
              <a:gd name="connsiteX13" fmla="*/ 851158 w 956652"/>
              <a:gd name="connsiteY13" fmla="*/ 125873 h 478292"/>
              <a:gd name="connsiteX14" fmla="*/ 877776 w 956652"/>
              <a:gd name="connsiteY14" fmla="*/ 221824 h 478292"/>
              <a:gd name="connsiteX15" fmla="*/ 833763 w 956652"/>
              <a:gd name="connsiteY15" fmla="*/ 346728 h 478292"/>
              <a:gd name="connsiteX16" fmla="*/ 373285 w 956652"/>
              <a:gd name="connsiteY16" fmla="*/ 386128 h 478292"/>
              <a:gd name="connsiteX17" fmla="*/ 366790 w 956652"/>
              <a:gd name="connsiteY17" fmla="*/ 390853 h 478292"/>
              <a:gd name="connsiteX18" fmla="*/ 495365 w 956652"/>
              <a:gd name="connsiteY18" fmla="*/ 459753 h 478292"/>
              <a:gd name="connsiteX19" fmla="*/ 681639 w 956652"/>
              <a:gd name="connsiteY19" fmla="*/ 474041 h 478292"/>
              <a:gd name="connsiteX20" fmla="*/ 916292 w 956652"/>
              <a:gd name="connsiteY20" fmla="*/ 318434 h 478292"/>
              <a:gd name="connsiteX21" fmla="*/ 925272 w 956652"/>
              <a:gd name="connsiteY21" fmla="*/ 71318 h 478292"/>
              <a:gd name="connsiteX22" fmla="*/ 794400 w 956652"/>
              <a:gd name="connsiteY22" fmla="*/ 988 h 47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56652" h="478292">
                <a:moveTo>
                  <a:pt x="794400" y="988"/>
                </a:moveTo>
                <a:cubicBezTo>
                  <a:pt x="734574" y="-4415"/>
                  <a:pt x="655340" y="11021"/>
                  <a:pt x="575503" y="80504"/>
                </a:cubicBezTo>
                <a:cubicBezTo>
                  <a:pt x="519367" y="129355"/>
                  <a:pt x="458186" y="199027"/>
                  <a:pt x="381417" y="283099"/>
                </a:cubicBezTo>
                <a:cubicBezTo>
                  <a:pt x="208209" y="472761"/>
                  <a:pt x="89310" y="455818"/>
                  <a:pt x="48610" y="403278"/>
                </a:cubicBezTo>
                <a:cubicBezTo>
                  <a:pt x="40045" y="392209"/>
                  <a:pt x="34943" y="379539"/>
                  <a:pt x="33531" y="366908"/>
                </a:cubicBezTo>
                <a:cubicBezTo>
                  <a:pt x="30218" y="336995"/>
                  <a:pt x="47838" y="303016"/>
                  <a:pt x="80293" y="286280"/>
                </a:cubicBezTo>
                <a:cubicBezTo>
                  <a:pt x="156270" y="247106"/>
                  <a:pt x="235844" y="275964"/>
                  <a:pt x="297307" y="328411"/>
                </a:cubicBezTo>
                <a:lnTo>
                  <a:pt x="299359" y="327319"/>
                </a:lnTo>
                <a:cubicBezTo>
                  <a:pt x="299359" y="327319"/>
                  <a:pt x="206345" y="231669"/>
                  <a:pt x="101584" y="255596"/>
                </a:cubicBezTo>
                <a:cubicBezTo>
                  <a:pt x="74815" y="261714"/>
                  <a:pt x="44619" y="272952"/>
                  <a:pt x="21860" y="302809"/>
                </a:cubicBezTo>
                <a:cubicBezTo>
                  <a:pt x="-23772" y="362653"/>
                  <a:pt x="3713" y="455235"/>
                  <a:pt x="88670" y="474681"/>
                </a:cubicBezTo>
                <a:cubicBezTo>
                  <a:pt x="184282" y="496575"/>
                  <a:pt x="300395" y="415269"/>
                  <a:pt x="398285" y="329314"/>
                </a:cubicBezTo>
                <a:cubicBezTo>
                  <a:pt x="524525" y="218473"/>
                  <a:pt x="625521" y="111359"/>
                  <a:pt x="730809" y="94567"/>
                </a:cubicBezTo>
                <a:cubicBezTo>
                  <a:pt x="774051" y="87677"/>
                  <a:pt x="826761" y="97428"/>
                  <a:pt x="851158" y="125873"/>
                </a:cubicBezTo>
                <a:cubicBezTo>
                  <a:pt x="872204" y="150420"/>
                  <a:pt x="879433" y="183176"/>
                  <a:pt x="877776" y="221824"/>
                </a:cubicBezTo>
                <a:cubicBezTo>
                  <a:pt x="876007" y="262674"/>
                  <a:pt x="858405" y="312428"/>
                  <a:pt x="833763" y="346728"/>
                </a:cubicBezTo>
                <a:cubicBezTo>
                  <a:pt x="749804" y="463593"/>
                  <a:pt x="557318" y="494711"/>
                  <a:pt x="373285" y="386128"/>
                </a:cubicBezTo>
                <a:lnTo>
                  <a:pt x="366790" y="390853"/>
                </a:lnTo>
                <a:cubicBezTo>
                  <a:pt x="366790" y="390853"/>
                  <a:pt x="419237" y="434188"/>
                  <a:pt x="495365" y="459753"/>
                </a:cubicBezTo>
                <a:cubicBezTo>
                  <a:pt x="546983" y="477091"/>
                  <a:pt x="605341" y="483171"/>
                  <a:pt x="681639" y="474041"/>
                </a:cubicBezTo>
                <a:cubicBezTo>
                  <a:pt x="799841" y="459885"/>
                  <a:pt x="884892" y="374890"/>
                  <a:pt x="916292" y="318434"/>
                </a:cubicBezTo>
                <a:cubicBezTo>
                  <a:pt x="968927" y="223744"/>
                  <a:pt x="968117" y="136283"/>
                  <a:pt x="925272" y="71318"/>
                </a:cubicBezTo>
                <a:cubicBezTo>
                  <a:pt x="893495" y="23163"/>
                  <a:pt x="837792" y="4903"/>
                  <a:pt x="794400" y="988"/>
                </a:cubicBezTo>
                <a:close/>
              </a:path>
            </a:pathLst>
          </a:custGeom>
          <a:solidFill>
            <a:srgbClr val="FFB300"/>
          </a:solidFill>
          <a:ln w="1875" cap="flat">
            <a:noFill/>
            <a:prstDash val="solid"/>
            <a:miter/>
          </a:ln>
        </p:spPr>
        <p:txBody>
          <a:bodyPr rtlCol="0" anchor="ctr"/>
          <a:lstStyle/>
          <a:p>
            <a:endParaRPr lang="zh-CN" altLang="en-US" sz="1498" b="1">
              <a:latin typeface="MiSans" pitchFamily="2" charset="-122"/>
              <a:ea typeface="MiSans" pitchFamily="2" charset="-122"/>
              <a:cs typeface="OPPOSans R" panose="00020600040101010101" pitchFamily="18" charset="-122"/>
              <a:sym typeface="MiSans" pitchFamily="2" charset="-122"/>
            </a:endParaRPr>
          </a:p>
        </p:txBody>
      </p:sp>
      <p:sp>
        <p:nvSpPr>
          <p:cNvPr id="35" name="矩形: 圆角 9"/>
          <p:cNvSpPr/>
          <p:nvPr/>
        </p:nvSpPr>
        <p:spPr>
          <a:xfrm>
            <a:off x="1329046" y="5856786"/>
            <a:ext cx="1799730" cy="611290"/>
          </a:xfrm>
          <a:prstGeom prst="roundRect">
            <a:avLst>
              <a:gd name="adj" fmla="val 50000"/>
            </a:avLst>
          </a:prstGeom>
          <a:solidFill>
            <a:srgbClr val="F5AE16"/>
          </a:solidFill>
          <a:ln w="3810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ctr"/>
          <a:lstStyle/>
          <a:p>
            <a:pPr algn="ctr"/>
            <a:r>
              <a:rPr lang="zh-CN" altLang="en-US" sz="2000" b="1" dirty="0">
                <a:solidFill>
                  <a:schemeClr val="bg1"/>
                </a:solidFill>
                <a:latin typeface="MiSans" pitchFamily="2" charset="-122"/>
                <a:ea typeface="MiSans" pitchFamily="2" charset="-122"/>
                <a:cs typeface="OPPOSans R" panose="00020600040101010101" charset="-122"/>
                <a:sym typeface="MiSans" pitchFamily="2" charset="-122"/>
              </a:rPr>
              <a:t>管理咨询</a:t>
            </a:r>
          </a:p>
        </p:txBody>
      </p:sp>
      <p:sp>
        <p:nvSpPr>
          <p:cNvPr id="36" name="矩形: 圆角 19"/>
          <p:cNvSpPr/>
          <p:nvPr/>
        </p:nvSpPr>
        <p:spPr>
          <a:xfrm>
            <a:off x="5204868" y="5856786"/>
            <a:ext cx="1799730" cy="611290"/>
          </a:xfrm>
          <a:prstGeom prst="roundRect">
            <a:avLst>
              <a:gd name="adj" fmla="val 50000"/>
            </a:avLst>
          </a:prstGeom>
          <a:solidFill>
            <a:srgbClr val="7C4DFF"/>
          </a:solidFill>
          <a:ln w="38100" cap="rnd">
            <a:solidFill>
              <a:schemeClr val="bg1">
                <a:alpha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68" tIns="14284" rIns="28568" bIns="14284" numCol="1" spcCol="0" rtlCol="0" fromWordArt="0" anchor="ctr" anchorCtr="0" forceAA="0" compatLnSpc="1">
            <a:noAutofit/>
          </a:bodyPr>
          <a:lstStyle/>
          <a:p>
            <a:pPr algn="ctr">
              <a:lnSpc>
                <a:spcPct val="120000"/>
              </a:lnSpc>
            </a:pPr>
            <a:r>
              <a:rPr lang="zh-CN" altLang="en-US" sz="2000" b="1" dirty="0">
                <a:solidFill>
                  <a:srgbClr val="FFFFFF"/>
                </a:solidFill>
                <a:latin typeface="MiSans" pitchFamily="2" charset="-122"/>
                <a:ea typeface="MiSans" pitchFamily="2" charset="-122"/>
                <a:cs typeface="OPPOSans B" pitchFamily="18" charset="-122"/>
                <a:sym typeface="MiSans" pitchFamily="2" charset="-122"/>
              </a:rPr>
              <a:t>数智化建设</a:t>
            </a:r>
          </a:p>
        </p:txBody>
      </p:sp>
      <p:sp>
        <p:nvSpPr>
          <p:cNvPr id="37" name="矩形: 圆角 22"/>
          <p:cNvSpPr/>
          <p:nvPr/>
        </p:nvSpPr>
        <p:spPr>
          <a:xfrm>
            <a:off x="9080688" y="5856786"/>
            <a:ext cx="1799730" cy="611290"/>
          </a:xfrm>
          <a:prstGeom prst="roundRect">
            <a:avLst>
              <a:gd name="adj" fmla="val 50000"/>
            </a:avLst>
          </a:prstGeom>
          <a:solidFill>
            <a:srgbClr val="AA00FF"/>
          </a:solidFill>
          <a:ln w="38100" cap="rnd">
            <a:solidFill>
              <a:schemeClr val="bg1">
                <a:alpha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68" tIns="14284" rIns="28568" bIns="14284" numCol="1" spcCol="0" rtlCol="0" fromWordArt="0" anchor="ctr" anchorCtr="0" forceAA="0" compatLnSpc="1">
            <a:noAutofit/>
          </a:bodyPr>
          <a:lstStyle/>
          <a:p>
            <a:pPr algn="ctr">
              <a:lnSpc>
                <a:spcPct val="120000"/>
              </a:lnSpc>
            </a:pPr>
            <a:r>
              <a:rPr lang="zh-CN" altLang="en-US" sz="2000" b="1" dirty="0">
                <a:solidFill>
                  <a:srgbClr val="FFFFFF"/>
                </a:solidFill>
                <a:latin typeface="MiSans" pitchFamily="2" charset="-122"/>
                <a:ea typeface="MiSans" pitchFamily="2" charset="-122"/>
                <a:cs typeface="OPPOSans B" pitchFamily="18" charset="-122"/>
                <a:sym typeface="MiSans" pitchFamily="2" charset="-122"/>
              </a:rPr>
              <a:t>陪伴式服务</a:t>
            </a:r>
          </a:p>
        </p:txBody>
      </p:sp>
      <p:sp>
        <p:nvSpPr>
          <p:cNvPr id="38" name="文本框 37"/>
          <p:cNvSpPr txBox="1"/>
          <p:nvPr/>
        </p:nvSpPr>
        <p:spPr>
          <a:xfrm>
            <a:off x="3079750" y="813516"/>
            <a:ext cx="6096000" cy="477888"/>
          </a:xfrm>
          <a:prstGeom prst="rect">
            <a:avLst/>
          </a:prstGeom>
          <a:noFill/>
        </p:spPr>
        <p:txBody>
          <a:bodyPr wrap="square" rtlCol="0" anchor="t">
            <a:spAutoFit/>
          </a:bodyPr>
          <a:lstStyle/>
          <a:p>
            <a:pPr algn="ctr">
              <a:lnSpc>
                <a:spcPts val="1238"/>
              </a:lnSpc>
              <a:spcAft>
                <a:spcPts val="600"/>
              </a:spcAft>
            </a:pPr>
            <a:r>
              <a:rPr lang="zh-CN" altLang="en-US" sz="2400" b="1" dirty="0">
                <a:solidFill>
                  <a:srgbClr val="7C4DFF"/>
                </a:solidFill>
                <a:latin typeface="MiSans" pitchFamily="2" charset="-122"/>
                <a:ea typeface="MiSans" pitchFamily="2" charset="-122"/>
                <a:cs typeface="OPPOSans B" pitchFamily="18" charset="-122"/>
                <a:sym typeface="MiSans" pitchFamily="2" charset="-122"/>
              </a:rPr>
              <a:t>瑞华智策</a:t>
            </a:r>
            <a:r>
              <a:rPr lang="en-US" altLang="zh-CN" sz="2400" b="1" dirty="0">
                <a:solidFill>
                  <a:srgbClr val="7C4DFF"/>
                </a:solidFill>
                <a:latin typeface="MiSans" pitchFamily="2" charset="-122"/>
                <a:ea typeface="MiSans" pitchFamily="2" charset="-122"/>
                <a:cs typeface="OPPOSans B" pitchFamily="18" charset="-122"/>
                <a:sym typeface="MiSans" pitchFamily="2" charset="-122"/>
              </a:rPr>
              <a:t>——AI</a:t>
            </a:r>
            <a:r>
              <a:rPr lang="zh-CN" altLang="en-US" sz="2400" b="1" dirty="0">
                <a:solidFill>
                  <a:srgbClr val="7C4DFF"/>
                </a:solidFill>
                <a:latin typeface="MiSans" pitchFamily="2" charset="-122"/>
                <a:ea typeface="MiSans" pitchFamily="2" charset="-122"/>
                <a:cs typeface="OPPOSans B" pitchFamily="18" charset="-122"/>
                <a:sym typeface="MiSans" pitchFamily="2" charset="-122"/>
              </a:rPr>
              <a:t>原生的本土咨询机构</a:t>
            </a:r>
            <a:endParaRPr lang="en-US" altLang="zh-CN" sz="2400" b="1" dirty="0">
              <a:solidFill>
                <a:srgbClr val="7C4DFF"/>
              </a:solidFill>
              <a:latin typeface="MiSans" pitchFamily="2" charset="-122"/>
              <a:ea typeface="MiSans" pitchFamily="2" charset="-122"/>
              <a:cs typeface="OPPOSans B" pitchFamily="18" charset="-122"/>
              <a:sym typeface="MiSans" pitchFamily="2" charset="-122"/>
            </a:endParaRPr>
          </a:p>
          <a:p>
            <a:pPr algn="ctr">
              <a:lnSpc>
                <a:spcPts val="1238"/>
              </a:lnSpc>
              <a:spcAft>
                <a:spcPts val="600"/>
              </a:spcAft>
            </a:pPr>
            <a:r>
              <a:rPr lang="en-US" altLang="zh-CN" sz="1200" b="1" dirty="0" err="1">
                <a:solidFill>
                  <a:srgbClr val="7C4DFF"/>
                </a:solidFill>
                <a:latin typeface="MiSans" pitchFamily="2" charset="-122"/>
                <a:ea typeface="MiSans" pitchFamily="2" charset="-122"/>
                <a:cs typeface="OPPOSans R" pitchFamily="18" charset="-122"/>
                <a:sym typeface="MiSans" pitchFamily="2" charset="-122"/>
              </a:rPr>
              <a:t>ruihuaconsulting.com</a:t>
            </a:r>
          </a:p>
        </p:txBody>
      </p:sp>
      <p:sp>
        <p:nvSpPr>
          <p:cNvPr id="39" name="图形 26">
            <a:extLst>
              <a:ext uri="{FF2B5EF4-FFF2-40B4-BE49-F238E27FC236}">
                <a16:creationId xmlns:a16="http://schemas.microsoft.com/office/drawing/2014/main" id="{DDAC5647-214B-B3F1-C42C-6E05889BD4E3}"/>
              </a:ext>
            </a:extLst>
          </p:cNvPr>
          <p:cNvSpPr/>
          <p:nvPr/>
        </p:nvSpPr>
        <p:spPr>
          <a:xfrm>
            <a:off x="7807059" y="6041537"/>
            <a:ext cx="471170" cy="241788"/>
          </a:xfrm>
          <a:custGeom>
            <a:avLst/>
            <a:gdLst>
              <a:gd name="connsiteX0" fmla="*/ 794400 w 956652"/>
              <a:gd name="connsiteY0" fmla="*/ 988 h 478292"/>
              <a:gd name="connsiteX1" fmla="*/ 575503 w 956652"/>
              <a:gd name="connsiteY1" fmla="*/ 80504 h 478292"/>
              <a:gd name="connsiteX2" fmla="*/ 381417 w 956652"/>
              <a:gd name="connsiteY2" fmla="*/ 283099 h 478292"/>
              <a:gd name="connsiteX3" fmla="*/ 48610 w 956652"/>
              <a:gd name="connsiteY3" fmla="*/ 403278 h 478292"/>
              <a:gd name="connsiteX4" fmla="*/ 33531 w 956652"/>
              <a:gd name="connsiteY4" fmla="*/ 366908 h 478292"/>
              <a:gd name="connsiteX5" fmla="*/ 80293 w 956652"/>
              <a:gd name="connsiteY5" fmla="*/ 286280 h 478292"/>
              <a:gd name="connsiteX6" fmla="*/ 297307 w 956652"/>
              <a:gd name="connsiteY6" fmla="*/ 328411 h 478292"/>
              <a:gd name="connsiteX7" fmla="*/ 299359 w 956652"/>
              <a:gd name="connsiteY7" fmla="*/ 327319 h 478292"/>
              <a:gd name="connsiteX8" fmla="*/ 101584 w 956652"/>
              <a:gd name="connsiteY8" fmla="*/ 255596 h 478292"/>
              <a:gd name="connsiteX9" fmla="*/ 21860 w 956652"/>
              <a:gd name="connsiteY9" fmla="*/ 302809 h 478292"/>
              <a:gd name="connsiteX10" fmla="*/ 88670 w 956652"/>
              <a:gd name="connsiteY10" fmla="*/ 474681 h 478292"/>
              <a:gd name="connsiteX11" fmla="*/ 398285 w 956652"/>
              <a:gd name="connsiteY11" fmla="*/ 329314 h 478292"/>
              <a:gd name="connsiteX12" fmla="*/ 730809 w 956652"/>
              <a:gd name="connsiteY12" fmla="*/ 94567 h 478292"/>
              <a:gd name="connsiteX13" fmla="*/ 851158 w 956652"/>
              <a:gd name="connsiteY13" fmla="*/ 125873 h 478292"/>
              <a:gd name="connsiteX14" fmla="*/ 877776 w 956652"/>
              <a:gd name="connsiteY14" fmla="*/ 221824 h 478292"/>
              <a:gd name="connsiteX15" fmla="*/ 833763 w 956652"/>
              <a:gd name="connsiteY15" fmla="*/ 346728 h 478292"/>
              <a:gd name="connsiteX16" fmla="*/ 373285 w 956652"/>
              <a:gd name="connsiteY16" fmla="*/ 386128 h 478292"/>
              <a:gd name="connsiteX17" fmla="*/ 366790 w 956652"/>
              <a:gd name="connsiteY17" fmla="*/ 390853 h 478292"/>
              <a:gd name="connsiteX18" fmla="*/ 495365 w 956652"/>
              <a:gd name="connsiteY18" fmla="*/ 459753 h 478292"/>
              <a:gd name="connsiteX19" fmla="*/ 681639 w 956652"/>
              <a:gd name="connsiteY19" fmla="*/ 474041 h 478292"/>
              <a:gd name="connsiteX20" fmla="*/ 916292 w 956652"/>
              <a:gd name="connsiteY20" fmla="*/ 318434 h 478292"/>
              <a:gd name="connsiteX21" fmla="*/ 925272 w 956652"/>
              <a:gd name="connsiteY21" fmla="*/ 71318 h 478292"/>
              <a:gd name="connsiteX22" fmla="*/ 794400 w 956652"/>
              <a:gd name="connsiteY22" fmla="*/ 988 h 47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56652" h="478292">
                <a:moveTo>
                  <a:pt x="794400" y="988"/>
                </a:moveTo>
                <a:cubicBezTo>
                  <a:pt x="734574" y="-4415"/>
                  <a:pt x="655340" y="11021"/>
                  <a:pt x="575503" y="80504"/>
                </a:cubicBezTo>
                <a:cubicBezTo>
                  <a:pt x="519367" y="129355"/>
                  <a:pt x="458186" y="199027"/>
                  <a:pt x="381417" y="283099"/>
                </a:cubicBezTo>
                <a:cubicBezTo>
                  <a:pt x="208209" y="472761"/>
                  <a:pt x="89310" y="455818"/>
                  <a:pt x="48610" y="403278"/>
                </a:cubicBezTo>
                <a:cubicBezTo>
                  <a:pt x="40045" y="392209"/>
                  <a:pt x="34943" y="379539"/>
                  <a:pt x="33531" y="366908"/>
                </a:cubicBezTo>
                <a:cubicBezTo>
                  <a:pt x="30218" y="336995"/>
                  <a:pt x="47838" y="303016"/>
                  <a:pt x="80293" y="286280"/>
                </a:cubicBezTo>
                <a:cubicBezTo>
                  <a:pt x="156270" y="247106"/>
                  <a:pt x="235844" y="275964"/>
                  <a:pt x="297307" y="328411"/>
                </a:cubicBezTo>
                <a:lnTo>
                  <a:pt x="299359" y="327319"/>
                </a:lnTo>
                <a:cubicBezTo>
                  <a:pt x="299359" y="327319"/>
                  <a:pt x="206345" y="231669"/>
                  <a:pt x="101584" y="255596"/>
                </a:cubicBezTo>
                <a:cubicBezTo>
                  <a:pt x="74815" y="261714"/>
                  <a:pt x="44619" y="272952"/>
                  <a:pt x="21860" y="302809"/>
                </a:cubicBezTo>
                <a:cubicBezTo>
                  <a:pt x="-23772" y="362653"/>
                  <a:pt x="3713" y="455235"/>
                  <a:pt x="88670" y="474681"/>
                </a:cubicBezTo>
                <a:cubicBezTo>
                  <a:pt x="184282" y="496575"/>
                  <a:pt x="300395" y="415269"/>
                  <a:pt x="398285" y="329314"/>
                </a:cubicBezTo>
                <a:cubicBezTo>
                  <a:pt x="524525" y="218473"/>
                  <a:pt x="625521" y="111359"/>
                  <a:pt x="730809" y="94567"/>
                </a:cubicBezTo>
                <a:cubicBezTo>
                  <a:pt x="774051" y="87677"/>
                  <a:pt x="826761" y="97428"/>
                  <a:pt x="851158" y="125873"/>
                </a:cubicBezTo>
                <a:cubicBezTo>
                  <a:pt x="872204" y="150420"/>
                  <a:pt x="879433" y="183176"/>
                  <a:pt x="877776" y="221824"/>
                </a:cubicBezTo>
                <a:cubicBezTo>
                  <a:pt x="876007" y="262674"/>
                  <a:pt x="858405" y="312428"/>
                  <a:pt x="833763" y="346728"/>
                </a:cubicBezTo>
                <a:cubicBezTo>
                  <a:pt x="749804" y="463593"/>
                  <a:pt x="557318" y="494711"/>
                  <a:pt x="373285" y="386128"/>
                </a:cubicBezTo>
                <a:lnTo>
                  <a:pt x="366790" y="390853"/>
                </a:lnTo>
                <a:cubicBezTo>
                  <a:pt x="366790" y="390853"/>
                  <a:pt x="419237" y="434188"/>
                  <a:pt x="495365" y="459753"/>
                </a:cubicBezTo>
                <a:cubicBezTo>
                  <a:pt x="546983" y="477091"/>
                  <a:pt x="605341" y="483171"/>
                  <a:pt x="681639" y="474041"/>
                </a:cubicBezTo>
                <a:cubicBezTo>
                  <a:pt x="799841" y="459885"/>
                  <a:pt x="884892" y="374890"/>
                  <a:pt x="916292" y="318434"/>
                </a:cubicBezTo>
                <a:cubicBezTo>
                  <a:pt x="968927" y="223744"/>
                  <a:pt x="968117" y="136283"/>
                  <a:pt x="925272" y="71318"/>
                </a:cubicBezTo>
                <a:cubicBezTo>
                  <a:pt x="893495" y="23163"/>
                  <a:pt x="837792" y="4903"/>
                  <a:pt x="794400" y="988"/>
                </a:cubicBezTo>
                <a:close/>
              </a:path>
            </a:pathLst>
          </a:custGeom>
          <a:solidFill>
            <a:srgbClr val="7C4DFF"/>
          </a:solidFill>
          <a:ln w="1875" cap="flat">
            <a:noFill/>
            <a:prstDash val="solid"/>
            <a:miter/>
          </a:ln>
        </p:spPr>
        <p:txBody>
          <a:bodyPr rtlCol="0" anchor="ctr"/>
          <a:lstStyle/>
          <a:p>
            <a:endParaRPr lang="zh-CN" altLang="en-US" sz="1498" b="1">
              <a:latin typeface="MiSans" pitchFamily="2" charset="-122"/>
              <a:ea typeface="MiSans" pitchFamily="2" charset="-122"/>
              <a:cs typeface="OPPOSans R" panose="00020600040101010101" pitchFamily="18" charset="-122"/>
              <a:sym typeface="MiSans" pitchFamily="2" charset="-122"/>
            </a:endParaRPr>
          </a:p>
        </p:txBody>
      </p:sp>
    </p:spTree>
    <p:extLst>
      <p:ext uri="{BB962C8B-B14F-4D97-AF65-F5344CB8AC3E}">
        <p14:creationId xmlns:p14="http://schemas.microsoft.com/office/powerpoint/2010/main" val="1641085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74181F9-E3F3-3E60-F75A-57FC6F0BD7A0}"/>
              </a:ext>
            </a:extLst>
          </p:cNvPr>
          <p:cNvGrpSpPr/>
          <p:nvPr/>
        </p:nvGrpSpPr>
        <p:grpSpPr>
          <a:xfrm>
            <a:off x="1682961" y="2229575"/>
            <a:ext cx="8826078" cy="2398851"/>
            <a:chOff x="1528222" y="2400300"/>
            <a:chExt cx="8826078" cy="2398851"/>
          </a:xfrm>
        </p:grpSpPr>
        <p:grpSp>
          <p:nvGrpSpPr>
            <p:cNvPr id="7" name="Group 9"/>
            <p:cNvGrpSpPr/>
            <p:nvPr/>
          </p:nvGrpSpPr>
          <p:grpSpPr>
            <a:xfrm rot="10800000">
              <a:off x="9545948" y="2400300"/>
              <a:ext cx="808352" cy="2398850"/>
              <a:chOff x="19021815" y="4800600"/>
              <a:chExt cx="1616703" cy="4797700"/>
            </a:xfrm>
          </p:grpSpPr>
          <p:grpSp>
            <p:nvGrpSpPr>
              <p:cNvPr id="18" name="Group 8"/>
              <p:cNvGrpSpPr/>
              <p:nvPr/>
            </p:nvGrpSpPr>
            <p:grpSpPr>
              <a:xfrm>
                <a:off x="19021815" y="4800600"/>
                <a:ext cx="1616703" cy="1600200"/>
                <a:chOff x="3053268" y="4800600"/>
                <a:chExt cx="1616703" cy="1600200"/>
              </a:xfrm>
            </p:grpSpPr>
            <p:cxnSp>
              <p:nvCxnSpPr>
                <p:cNvPr id="22" name="Straight Connector 52"/>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55"/>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Group 60"/>
              <p:cNvGrpSpPr/>
              <p:nvPr/>
            </p:nvGrpSpPr>
            <p:grpSpPr>
              <a:xfrm rot="16200000">
                <a:off x="19021815" y="7989849"/>
                <a:ext cx="1616703" cy="1600200"/>
                <a:chOff x="3053268" y="4800600"/>
                <a:chExt cx="1616703" cy="1600200"/>
              </a:xfrm>
            </p:grpSpPr>
            <p:cxnSp>
              <p:nvCxnSpPr>
                <p:cNvPr id="20" name="Straight Connector 61"/>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62"/>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8" name="Group 63"/>
            <p:cNvGrpSpPr/>
            <p:nvPr/>
          </p:nvGrpSpPr>
          <p:grpSpPr>
            <a:xfrm>
              <a:off x="1528222" y="2400300"/>
              <a:ext cx="808352" cy="800100"/>
              <a:chOff x="3053268" y="4800600"/>
              <a:chExt cx="1616703" cy="1600200"/>
            </a:xfrm>
          </p:grpSpPr>
          <p:cxnSp>
            <p:nvCxnSpPr>
              <p:cNvPr id="16" name="Straight Connector 64"/>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65"/>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9" name="Group 66"/>
            <p:cNvGrpSpPr/>
            <p:nvPr/>
          </p:nvGrpSpPr>
          <p:grpSpPr>
            <a:xfrm rot="16200000">
              <a:off x="1528222" y="3994925"/>
              <a:ext cx="808352" cy="800100"/>
              <a:chOff x="3053268" y="4800600"/>
              <a:chExt cx="1616703" cy="1600200"/>
            </a:xfrm>
          </p:grpSpPr>
          <p:cxnSp>
            <p:nvCxnSpPr>
              <p:cNvPr id="14" name="Straight Connector 67"/>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68"/>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Rectangle 51">
              <a:extLst>
                <a:ext uri="{FF2B5EF4-FFF2-40B4-BE49-F238E27FC236}">
                  <a16:creationId xmlns:a16="http://schemas.microsoft.com/office/drawing/2014/main" id="{D12DBACB-809A-D2CD-FF39-3FD4B1A227E3}"/>
                </a:ext>
              </a:extLst>
            </p:cNvPr>
            <p:cNvSpPr>
              <a:spLocks/>
            </p:cNvSpPr>
            <p:nvPr/>
          </p:nvSpPr>
          <p:spPr bwMode="auto">
            <a:xfrm>
              <a:off x="1692183" y="2823223"/>
              <a:ext cx="8505534" cy="7386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vert="horz" wrap="none" lIns="0" tIns="0" rIns="0" bIns="0" anchor="ctr" anchorCtr="0">
              <a:spAutoFit/>
            </a:bodyPr>
            <a:lstStyle/>
            <a:p>
              <a:pPr algn="ctr" defTabSz="2286000"/>
              <a:r>
                <a:rPr lang="zh-CN" altLang="en-US" sz="4800" b="1"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企业</a:t>
              </a:r>
              <a:r>
                <a:rPr lang="en-US" altLang="zh-CN" sz="4800" b="1"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AI</a:t>
              </a:r>
              <a:r>
                <a:rPr lang="zh-CN" altLang="en-US" sz="4800" b="1"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落地相关的咨询式培训</a:t>
              </a:r>
            </a:p>
          </p:txBody>
        </p:sp>
        <p:sp>
          <p:nvSpPr>
            <p:cNvPr id="11" name="Rectangle 51">
              <a:extLst>
                <a:ext uri="{FF2B5EF4-FFF2-40B4-BE49-F238E27FC236}">
                  <a16:creationId xmlns:a16="http://schemas.microsoft.com/office/drawing/2014/main" id="{2BE724EA-9A22-9951-2FD9-10F035EF56C2}"/>
                </a:ext>
              </a:extLst>
            </p:cNvPr>
            <p:cNvSpPr>
              <a:spLocks/>
            </p:cNvSpPr>
            <p:nvPr/>
          </p:nvSpPr>
          <p:spPr bwMode="auto">
            <a:xfrm>
              <a:off x="1674858" y="3561341"/>
              <a:ext cx="855362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vert="horz" wrap="none" lIns="0" tIns="0" rIns="0" bIns="0" anchor="ctr" anchorCtr="0">
              <a:spAutoFit/>
            </a:bodyPr>
            <a:lstStyle/>
            <a:p>
              <a:pPr algn="ctr" defTabSz="2286000"/>
              <a:r>
                <a:rPr lang="zh-CN" altLang="en-US" sz="2400" spc="5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以更轻盈的服务，让企业获得系统方法论与落地工具</a:t>
              </a:r>
              <a:endParaRPr lang="en-US" altLang="zh-CN" sz="2400" spc="5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endParaRPr>
            </a:p>
          </p:txBody>
        </p:sp>
        <p:sp>
          <p:nvSpPr>
            <p:cNvPr id="12" name="Rectangle 51">
              <a:extLst>
                <a:ext uri="{FF2B5EF4-FFF2-40B4-BE49-F238E27FC236}">
                  <a16:creationId xmlns:a16="http://schemas.microsoft.com/office/drawing/2014/main" id="{66C1AB9E-844A-6D85-3B69-B12FEAAD5457}"/>
                </a:ext>
              </a:extLst>
            </p:cNvPr>
            <p:cNvSpPr>
              <a:spLocks/>
            </p:cNvSpPr>
            <p:nvPr/>
          </p:nvSpPr>
          <p:spPr bwMode="auto">
            <a:xfrm>
              <a:off x="4159727" y="4315574"/>
              <a:ext cx="3836050" cy="192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vert="horz" wrap="none" lIns="0" tIns="0" rIns="0" bIns="0" anchor="ctr" anchorCtr="0">
              <a:spAutoFit/>
            </a:bodyPr>
            <a:lstStyle/>
            <a:p>
              <a:pPr algn="ctr" defTabSz="2286000"/>
              <a:r>
                <a:rPr lang="en-US" altLang="zh-CN"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RESULT-DRIVEN</a:t>
              </a:r>
              <a:r>
                <a:rPr lang="zh-CN" altLang="en-US"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 </a:t>
              </a:r>
              <a:r>
                <a:rPr lang="en-US" altLang="zh-CN"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TRAINING</a:t>
              </a:r>
              <a:r>
                <a:rPr lang="zh-CN" altLang="en-US"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 </a:t>
              </a:r>
              <a:r>
                <a:rPr lang="en-US" altLang="zh-CN"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SERVICES</a:t>
              </a:r>
            </a:p>
          </p:txBody>
        </p:sp>
        <p:cxnSp>
          <p:nvCxnSpPr>
            <p:cNvPr id="13" name="直接连接符 19">
              <a:extLst>
                <a:ext uri="{FF2B5EF4-FFF2-40B4-BE49-F238E27FC236}">
                  <a16:creationId xmlns:a16="http://schemas.microsoft.com/office/drawing/2014/main" id="{33182752-8619-A671-2BCD-EA35AD2D015E}"/>
                </a:ext>
              </a:extLst>
            </p:cNvPr>
            <p:cNvCxnSpPr>
              <a:cxnSpLocks/>
            </p:cNvCxnSpPr>
            <p:nvPr/>
          </p:nvCxnSpPr>
          <p:spPr>
            <a:xfrm>
              <a:off x="5426243" y="4098758"/>
              <a:ext cx="13395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9771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a:extLst>
              <a:ext uri="{FF2B5EF4-FFF2-40B4-BE49-F238E27FC236}">
                <a16:creationId xmlns:a16="http://schemas.microsoft.com/office/drawing/2014/main" id="{1DF0817E-0A31-C2AF-D65A-02FBA7ECB925}"/>
              </a:ext>
            </a:extLst>
          </p:cNvPr>
          <p:cNvGrpSpPr/>
          <p:nvPr/>
        </p:nvGrpSpPr>
        <p:grpSpPr>
          <a:xfrm>
            <a:off x="5935980" y="1651000"/>
            <a:ext cx="5646420" cy="4445000"/>
            <a:chOff x="6096000" y="1651000"/>
            <a:chExt cx="5486400" cy="4937760"/>
          </a:xfrm>
        </p:grpSpPr>
        <p:sp>
          <p:nvSpPr>
            <p:cNvPr id="15" name="AutoShape 15"/>
            <p:cNvSpPr/>
            <p:nvPr/>
          </p:nvSpPr>
          <p:spPr>
            <a:xfrm>
              <a:off x="6096000" y="165100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AutoShape 15">
              <a:extLst>
                <a:ext uri="{FF2B5EF4-FFF2-40B4-BE49-F238E27FC236}">
                  <a16:creationId xmlns:a16="http://schemas.microsoft.com/office/drawing/2014/main" id="{DD196815-CC4A-9E09-00C1-502A1BC9979C}"/>
                </a:ext>
              </a:extLst>
            </p:cNvPr>
            <p:cNvSpPr/>
            <p:nvPr/>
          </p:nvSpPr>
          <p:spPr>
            <a:xfrm>
              <a:off x="6096000" y="291592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AutoShape 15">
              <a:extLst>
                <a:ext uri="{FF2B5EF4-FFF2-40B4-BE49-F238E27FC236}">
                  <a16:creationId xmlns:a16="http://schemas.microsoft.com/office/drawing/2014/main" id="{1BA55E99-C4C6-B787-28CC-21DB49BAEC84}"/>
                </a:ext>
              </a:extLst>
            </p:cNvPr>
            <p:cNvSpPr/>
            <p:nvPr/>
          </p:nvSpPr>
          <p:spPr>
            <a:xfrm>
              <a:off x="6096000" y="418084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AutoShape 15">
              <a:extLst>
                <a:ext uri="{FF2B5EF4-FFF2-40B4-BE49-F238E27FC236}">
                  <a16:creationId xmlns:a16="http://schemas.microsoft.com/office/drawing/2014/main" id="{7B59A5A8-BC57-A611-D898-0A3353AB7927}"/>
                </a:ext>
              </a:extLst>
            </p:cNvPr>
            <p:cNvSpPr/>
            <p:nvPr/>
          </p:nvSpPr>
          <p:spPr>
            <a:xfrm>
              <a:off x="6096000" y="544576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2" name="组合 31">
            <a:extLst>
              <a:ext uri="{FF2B5EF4-FFF2-40B4-BE49-F238E27FC236}">
                <a16:creationId xmlns:a16="http://schemas.microsoft.com/office/drawing/2014/main" id="{DE71D025-E7C6-E3C9-260A-9956FC4A0897}"/>
              </a:ext>
            </a:extLst>
          </p:cNvPr>
          <p:cNvGrpSpPr/>
          <p:nvPr/>
        </p:nvGrpSpPr>
        <p:grpSpPr>
          <a:xfrm>
            <a:off x="6212840" y="1778000"/>
            <a:ext cx="5079274" cy="889000"/>
            <a:chOff x="6350000" y="1778000"/>
            <a:chExt cx="5079274" cy="889000"/>
          </a:xfrm>
        </p:grpSpPr>
        <p:sp>
          <p:nvSpPr>
            <p:cNvPr id="12" name="AutoShape 12"/>
            <p:cNvSpPr/>
            <p:nvPr/>
          </p:nvSpPr>
          <p:spPr>
            <a:xfrm>
              <a:off x="6350000" y="187960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89700" y="2019300"/>
              <a:ext cx="406400" cy="406400"/>
            </a:xfrm>
            <a:prstGeom prst="rect">
              <a:avLst/>
            </a:prstGeom>
          </p:spPr>
        </p:pic>
        <p:sp>
          <p:nvSpPr>
            <p:cNvPr id="14" name="AutoShape 14"/>
            <p:cNvSpPr/>
            <p:nvPr/>
          </p:nvSpPr>
          <p:spPr>
            <a:xfrm>
              <a:off x="7238999" y="1778000"/>
              <a:ext cx="4190275"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师资团队：瑞华智策讲师团</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瑞华智策资深</a:t>
              </a: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顾问</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团队；瑞华智策</a:t>
              </a:r>
              <a:r>
                <a:rPr lang="en-US" altLang="zh-CN"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新质组织研究中心的智库专家（来自北大、清华、人大的资深研究者，和行业实战专家）。</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grpSp>
        <p:nvGrpSpPr>
          <p:cNvPr id="33" name="组合 32">
            <a:extLst>
              <a:ext uri="{FF2B5EF4-FFF2-40B4-BE49-F238E27FC236}">
                <a16:creationId xmlns:a16="http://schemas.microsoft.com/office/drawing/2014/main" id="{BF709633-1B63-1A25-30F3-C3AC43A70A8D}"/>
              </a:ext>
            </a:extLst>
          </p:cNvPr>
          <p:cNvGrpSpPr/>
          <p:nvPr/>
        </p:nvGrpSpPr>
        <p:grpSpPr>
          <a:xfrm>
            <a:off x="6212840" y="2842260"/>
            <a:ext cx="5016500" cy="889000"/>
            <a:chOff x="6350000" y="3048000"/>
            <a:chExt cx="5016500" cy="889000"/>
          </a:xfrm>
        </p:grpSpPr>
        <p:sp>
          <p:nvSpPr>
            <p:cNvPr id="28" name="AutoShape 12">
              <a:extLst>
                <a:ext uri="{FF2B5EF4-FFF2-40B4-BE49-F238E27FC236}">
                  <a16:creationId xmlns:a16="http://schemas.microsoft.com/office/drawing/2014/main" id="{03A88C3D-4A8C-5AD9-8140-47CDDE4D1524}"/>
                </a:ext>
              </a:extLst>
            </p:cNvPr>
            <p:cNvSpPr/>
            <p:nvPr/>
          </p:nvSpPr>
          <p:spPr>
            <a:xfrm>
              <a:off x="6350000" y="312928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89700" y="3268980"/>
              <a:ext cx="406400" cy="406400"/>
            </a:xfrm>
            <a:prstGeom prst="rect">
              <a:avLst/>
            </a:prstGeom>
          </p:spPr>
        </p:pic>
        <p:sp>
          <p:nvSpPr>
            <p:cNvPr id="18" name="AutoShape 18"/>
            <p:cNvSpPr/>
            <p:nvPr/>
          </p:nvSpPr>
          <p:spPr>
            <a:xfrm>
              <a:off x="7239000" y="3048000"/>
              <a:ext cx="4127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核心价值：闭环诊断与落地</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帮助</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决策团队和核心管理团队建立基于</a:t>
              </a:r>
              <a:r>
                <a:rPr lang="en-US" altLang="zh-CN"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的共识，并在此基础上</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构建一个</a:t>
              </a:r>
              <a:r>
                <a:rPr lang="zh-CN" alt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可控</a:t>
              </a:r>
              <a:r>
                <a:rPr lang="zh-CN" alt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”的</a:t>
              </a:r>
              <a:r>
                <a:rPr lang="en-US" altLang="zh-CN"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AI</a:t>
              </a:r>
              <a:r>
                <a:rPr lang="zh-CN" alt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变革方案蓝图</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grpSp>
      <p:grpSp>
        <p:nvGrpSpPr>
          <p:cNvPr id="34" name="组合 33">
            <a:extLst>
              <a:ext uri="{FF2B5EF4-FFF2-40B4-BE49-F238E27FC236}">
                <a16:creationId xmlns:a16="http://schemas.microsoft.com/office/drawing/2014/main" id="{387E6DD8-1410-83A0-5909-B68BC9421189}"/>
              </a:ext>
            </a:extLst>
          </p:cNvPr>
          <p:cNvGrpSpPr/>
          <p:nvPr/>
        </p:nvGrpSpPr>
        <p:grpSpPr>
          <a:xfrm>
            <a:off x="6212840" y="4079240"/>
            <a:ext cx="5016500" cy="762000"/>
            <a:chOff x="6350000" y="4292600"/>
            <a:chExt cx="5016500" cy="762000"/>
          </a:xfrm>
        </p:grpSpPr>
        <p:sp>
          <p:nvSpPr>
            <p:cNvPr id="30" name="AutoShape 12">
              <a:extLst>
                <a:ext uri="{FF2B5EF4-FFF2-40B4-BE49-F238E27FC236}">
                  <a16:creationId xmlns:a16="http://schemas.microsoft.com/office/drawing/2014/main" id="{4C620325-8E81-32CF-22D7-61F88C6F8B05}"/>
                </a:ext>
              </a:extLst>
            </p:cNvPr>
            <p:cNvSpPr/>
            <p:nvPr/>
          </p:nvSpPr>
          <p:spPr>
            <a:xfrm>
              <a:off x="6350000" y="432816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3350" y="4461510"/>
              <a:ext cx="419100" cy="419100"/>
            </a:xfrm>
            <a:prstGeom prst="rect">
              <a:avLst/>
            </a:prstGeom>
          </p:spPr>
        </p:pic>
        <p:sp>
          <p:nvSpPr>
            <p:cNvPr id="22" name="AutoShape 22"/>
            <p:cNvSpPr/>
            <p:nvPr/>
          </p:nvSpPr>
          <p:spPr>
            <a:xfrm>
              <a:off x="7239000" y="4292600"/>
              <a:ext cx="412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目标人群：企业高管与决策者</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nSpc>
                  <a:spcPct val="125000"/>
                </a:lnSpc>
                <a:buFont typeface="Arial" panose="020B0604020202020204" pitchFamily="34" charset="0"/>
                <a:buChar char="•"/>
              </a:pPr>
              <a:r>
                <a:rPr lang="zh-CN" altLang="en" sz="1200" dirty="0">
                  <a:solidFill>
                    <a:srgbClr val="666666"/>
                  </a:solidFill>
                  <a:latin typeface="微软雅黑" panose="020B0503020204020204" pitchFamily="34" charset="-122"/>
                  <a:ea typeface="微软雅黑" panose="020B0503020204020204" pitchFamily="34" charset="-122"/>
                </a:rPr>
                <a:t>智能</a:t>
              </a:r>
              <a:r>
                <a:rPr lang="zh-CN" altLang="en-US" sz="1200" dirty="0">
                  <a:solidFill>
                    <a:srgbClr val="666666"/>
                  </a:solidFill>
                  <a:latin typeface="微软雅黑" panose="020B0503020204020204" pitchFamily="34" charset="-122"/>
                  <a:ea typeface="微软雅黑" panose="020B0503020204020204" pitchFamily="34" charset="-122"/>
                </a:rPr>
                <a:t>制造、高科技、专业服务行业等行业；</a:t>
              </a:r>
              <a:endParaRPr lang="en" altLang="zh-CN" sz="1200" dirty="0">
                <a:solidFill>
                  <a:srgbClr val="666666"/>
                </a:solidFill>
                <a:latin typeface="微软雅黑" panose="020B0503020204020204" pitchFamily="34" charset="-122"/>
                <a:ea typeface="微软雅黑" panose="020B0503020204020204" pitchFamily="34" charset="-122"/>
              </a:endParaRPr>
            </a:p>
            <a:p>
              <a:pPr marL="171450" indent="-171450">
                <a:lnSpc>
                  <a:spcPct val="125000"/>
                </a:lnSpc>
                <a:buFont typeface="Arial" panose="020B0604020202020204" pitchFamily="34" charset="0"/>
                <a:buChar char="•"/>
              </a:pPr>
              <a:r>
                <a:rPr lang="en" altLang="zh-CN" sz="1200" dirty="0">
                  <a:solidFill>
                    <a:srgbClr val="666666"/>
                  </a:solidFill>
                  <a:latin typeface="微软雅黑" panose="020B0503020204020204" pitchFamily="34" charset="-122"/>
                  <a:ea typeface="微软雅黑" panose="020B0503020204020204" pitchFamily="34" charset="-122"/>
                </a:rPr>
                <a:t>CEO</a:t>
              </a:r>
              <a:r>
                <a:rPr lang="zh-CN" altLang="en" sz="1200" dirty="0">
                  <a:solidFill>
                    <a:srgbClr val="666666"/>
                  </a:solidFill>
                  <a:latin typeface="微软雅黑" panose="020B0503020204020204" pitchFamily="34" charset="-122"/>
                  <a:ea typeface="微软雅黑" panose="020B0503020204020204" pitchFamily="34" charset="-122"/>
                </a:rPr>
                <a:t>、</a:t>
              </a:r>
              <a:r>
                <a:rPr lang="en" altLang="zh-CN" sz="1200" dirty="0">
                  <a:solidFill>
                    <a:srgbClr val="666666"/>
                  </a:solidFill>
                  <a:latin typeface="微软雅黑" panose="020B0503020204020204" pitchFamily="34" charset="-122"/>
                  <a:ea typeface="微软雅黑" panose="020B0503020204020204" pitchFamily="34" charset="-122"/>
                </a:rPr>
                <a:t>CTO</a:t>
              </a:r>
              <a:r>
                <a:rPr lang="zh-CN" altLang="en" sz="1200" dirty="0">
                  <a:solidFill>
                    <a:srgbClr val="666666"/>
                  </a:solidFill>
                  <a:latin typeface="微软雅黑" panose="020B0503020204020204" pitchFamily="34" charset="-122"/>
                  <a:ea typeface="微软雅黑" panose="020B0503020204020204" pitchFamily="34" charset="-122"/>
                </a:rPr>
                <a:t>、</a:t>
              </a:r>
              <a:r>
                <a:rPr lang="en" altLang="zh-CN" sz="1200" dirty="0">
                  <a:solidFill>
                    <a:srgbClr val="666666"/>
                  </a:solidFill>
                  <a:latin typeface="微软雅黑" panose="020B0503020204020204" pitchFamily="34" charset="-122"/>
                  <a:ea typeface="微软雅黑" panose="020B0503020204020204" pitchFamily="34" charset="-122"/>
                </a:rPr>
                <a:t>COO</a:t>
              </a:r>
              <a:r>
                <a:rPr lang="zh-CN" altLang="en" sz="1200" dirty="0">
                  <a:solidFill>
                    <a:srgbClr val="666666"/>
                  </a:solidFill>
                  <a:latin typeface="微软雅黑" panose="020B0503020204020204" pitchFamily="34" charset="-122"/>
                  <a:ea typeface="微软雅黑" panose="020B0503020204020204" pitchFamily="34" charset="-122"/>
                </a:rPr>
                <a:t>、</a:t>
              </a:r>
              <a:r>
                <a:rPr lang="en" altLang="zh-CN" sz="1200" dirty="0">
                  <a:solidFill>
                    <a:srgbClr val="666666"/>
                  </a:solidFill>
                  <a:latin typeface="微软雅黑" panose="020B0503020204020204" pitchFamily="34" charset="-122"/>
                  <a:ea typeface="微软雅黑" panose="020B0503020204020204" pitchFamily="34" charset="-122"/>
                </a:rPr>
                <a:t>CFO</a:t>
              </a:r>
              <a:r>
                <a:rPr lang="zh-CN" altLang="en" sz="1200" dirty="0">
                  <a:solidFill>
                    <a:srgbClr val="666666"/>
                  </a:solidFill>
                  <a:latin typeface="微软雅黑" panose="020B0503020204020204" pitchFamily="34" charset="-122"/>
                  <a:ea typeface="微软雅黑" panose="020B0503020204020204" pitchFamily="34" charset="-122"/>
                </a:rPr>
                <a:t>、</a:t>
              </a:r>
              <a:r>
                <a:rPr lang="en" altLang="zh-CN" sz="1200" dirty="0">
                  <a:solidFill>
                    <a:srgbClr val="666666"/>
                  </a:solidFill>
                  <a:latin typeface="微软雅黑" panose="020B0503020204020204" pitchFamily="34" charset="-122"/>
                  <a:ea typeface="微软雅黑" panose="020B0503020204020204" pitchFamily="34" charset="-122"/>
                </a:rPr>
                <a:t>CHO</a:t>
              </a:r>
              <a:r>
                <a:rPr lang="zh-CN" altLang="en-US" sz="1200" dirty="0">
                  <a:solidFill>
                    <a:srgbClr val="666666"/>
                  </a:solidFill>
                  <a:latin typeface="微软雅黑" panose="020B0503020204020204" pitchFamily="34" charset="-122"/>
                  <a:ea typeface="微软雅黑" panose="020B0503020204020204" pitchFamily="34" charset="-122"/>
                </a:rPr>
                <a:t>及各业务线负责人</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grpSp>
        <p:nvGrpSpPr>
          <p:cNvPr id="35" name="组合 34">
            <a:extLst>
              <a:ext uri="{FF2B5EF4-FFF2-40B4-BE49-F238E27FC236}">
                <a16:creationId xmlns:a16="http://schemas.microsoft.com/office/drawing/2014/main" id="{10C918A4-86BB-AF59-B7B6-29A041D12EC0}"/>
              </a:ext>
            </a:extLst>
          </p:cNvPr>
          <p:cNvGrpSpPr/>
          <p:nvPr/>
        </p:nvGrpSpPr>
        <p:grpSpPr>
          <a:xfrm>
            <a:off x="6212840" y="5234940"/>
            <a:ext cx="5016500" cy="685800"/>
            <a:chOff x="6350000" y="5334000"/>
            <a:chExt cx="5016500" cy="685800"/>
          </a:xfrm>
        </p:grpSpPr>
        <p:sp>
          <p:nvSpPr>
            <p:cNvPr id="31" name="AutoShape 12">
              <a:extLst>
                <a:ext uri="{FF2B5EF4-FFF2-40B4-BE49-F238E27FC236}">
                  <a16:creationId xmlns:a16="http://schemas.microsoft.com/office/drawing/2014/main" id="{FD392054-8CC9-D775-3717-EC88A4333901}"/>
                </a:ext>
              </a:extLst>
            </p:cNvPr>
            <p:cNvSpPr/>
            <p:nvPr/>
          </p:nvSpPr>
          <p:spPr>
            <a:xfrm>
              <a:off x="6350000" y="533400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92240" y="5476240"/>
              <a:ext cx="401320" cy="401320"/>
            </a:xfrm>
            <a:prstGeom prst="rect">
              <a:avLst/>
            </a:prstGeom>
          </p:spPr>
        </p:pic>
        <p:sp>
          <p:nvSpPr>
            <p:cNvPr id="26" name="AutoShape 26"/>
            <p:cNvSpPr/>
            <p:nvPr/>
          </p:nvSpPr>
          <p:spPr>
            <a:xfrm>
              <a:off x="7239000" y="5372100"/>
              <a:ext cx="412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课程安排：2天/12课时</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深度沉浸式工作坊，每日6课时，确保实战转化。</a:t>
              </a:r>
            </a:p>
          </p:txBody>
        </p:sp>
      </p:grpSp>
      <p:sp>
        <p:nvSpPr>
          <p:cNvPr id="27" name="AutoShape 7">
            <a:extLst>
              <a:ext uri="{FF2B5EF4-FFF2-40B4-BE49-F238E27FC236}">
                <a16:creationId xmlns:a16="http://schemas.microsoft.com/office/drawing/2014/main" id="{4CB8E3E9-4A97-3B3B-770E-A3464615E377}"/>
              </a:ext>
            </a:extLst>
          </p:cNvPr>
          <p:cNvSpPr/>
          <p:nvPr/>
        </p:nvSpPr>
        <p:spPr>
          <a:xfrm>
            <a:off x="635000" y="5039962"/>
            <a:ext cx="5080000" cy="1056037"/>
          </a:xfrm>
          <a:prstGeom prst="roundRect">
            <a:avLst>
              <a:gd name="adj" fmla="val 13333"/>
            </a:avLst>
          </a:prstGeom>
          <a:solidFill>
            <a:srgbClr val="800BF5"/>
          </a:solidFill>
          <a:ln w="25400" cap="flat" cmpd="sng">
            <a:noFill/>
            <a:prstDash val="solid"/>
            <a:round/>
          </a:ln>
          <a:effectLst>
            <a:outerShdw blurRad="152400" dist="63500" dir="2700000" algn="tl" rotWithShape="0">
              <a:srgbClr val="7B61FF">
                <a:alpha val="25000"/>
              </a:srgbClr>
            </a:outerShdw>
          </a:effectLst>
        </p:spPr>
        <p:txBody>
          <a:bodyPr vert="horz" wrap="square" lIns="0" tIns="0" rIns="0" bIns="0" rtlCol="0" anchor="ctr" anchorCtr="0"/>
          <a:lstStyle/>
          <a:p>
            <a:pPr algn="ctr">
              <a:lnSpc>
                <a:spcPct val="125000"/>
              </a:lnSpc>
              <a:defRPr/>
            </a:pP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有针对性的方案设计</a:t>
            </a: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a:t>
            </a:r>
            <a:r>
              <a:rPr lang="zh-CN" alt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a:t>
            </a:r>
            <a:r>
              <a:rPr lang="zh-CN" altLang="en-US" sz="1600" b="1"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确保</a:t>
            </a:r>
            <a:r>
              <a:rPr lang="en-US" altLang="zh-CN" sz="1600" b="1"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AI</a:t>
            </a:r>
            <a:r>
              <a:rPr lang="zh-CN" altLang="en-US" sz="1600" b="1"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扎实落地</a:t>
            </a:r>
            <a:endParaRPr lang="en-US" sz="1600" b="1"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algn="ctr">
              <a:lnSpc>
                <a:spcPct val="125000"/>
              </a:lnSpc>
              <a:spcBef>
                <a:spcPts val="1200"/>
              </a:spcBef>
              <a:defRPr/>
            </a:pPr>
            <a:r>
              <a:rPr lang="zh-CN" altLang="en-US" sz="1100" dirty="0">
                <a:solidFill>
                  <a:srgbClr val="FFFFFF">
                    <a:alpha val="80000"/>
                  </a:srgbClr>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掌握</a:t>
            </a:r>
            <a:r>
              <a:rPr lang="en-US" altLang="zh-CN" sz="1100" dirty="0">
                <a:solidFill>
                  <a:srgbClr val="FFFFFF">
                    <a:alpha val="80000"/>
                  </a:srgbClr>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AI</a:t>
            </a:r>
            <a:r>
              <a:rPr lang="zh-CN" altLang="en-US" sz="1100" dirty="0">
                <a:solidFill>
                  <a:srgbClr val="FFFFFF">
                    <a:alpha val="80000"/>
                  </a:srgbClr>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化变革管理的系统方法论</a:t>
            </a:r>
            <a:endParaRPr lang="en-US" altLang="zh-CN" sz="1100" dirty="0">
              <a:solidFill>
                <a:srgbClr val="FFFFFF">
                  <a:alpha val="80000"/>
                </a:srgbClr>
              </a:solidFill>
              <a:latin typeface="微软雅黑" panose="020B0503020204020204" pitchFamily="34" charset="-122"/>
              <a:ea typeface="微软雅黑" panose="020B0503020204020204" pitchFamily="34" charset="-122"/>
              <a:cs typeface="Noto Sans NKo" panose="020B0502040504020204" pitchFamily="34" charset="0"/>
              <a:sym typeface="微软雅黑" panose="020B0503020204020204" pitchFamily="34" charset="-122"/>
            </a:endParaRPr>
          </a:p>
        </p:txBody>
      </p:sp>
      <p:cxnSp>
        <p:nvCxnSpPr>
          <p:cNvPr id="29" name="Connector 5">
            <a:extLst>
              <a:ext uri="{FF2B5EF4-FFF2-40B4-BE49-F238E27FC236}">
                <a16:creationId xmlns:a16="http://schemas.microsoft.com/office/drawing/2014/main" id="{7AA54A66-849E-100B-4695-576922AEA97A}"/>
              </a:ext>
            </a:extLst>
          </p:cNvPr>
          <p:cNvCxnSpPr/>
          <p:nvPr/>
        </p:nvCxnSpPr>
        <p:spPr>
          <a:xfrm rot="-3997">
            <a:off x="635003" y="1492250"/>
            <a:ext cx="10922000" cy="12700"/>
          </a:xfrm>
          <a:prstGeom prst="straightConnector1">
            <a:avLst/>
          </a:prstGeom>
          <a:solidFill>
            <a:srgbClr val="DEE0E3">
              <a:alpha val="100000"/>
            </a:srgbClr>
          </a:solidFill>
          <a:ln w="25400" cap="flat" cmpd="sng">
            <a:solidFill>
              <a:srgbClr val="7B61FF">
                <a:alpha val="100000"/>
              </a:srgbClr>
            </a:solidFill>
            <a:prstDash val="solid"/>
            <a:round/>
            <a:headEnd type="none" w="lg" len="lg"/>
            <a:tailEnd type="none" w="lg" len="lg"/>
          </a:ln>
        </p:spPr>
      </p:cxnSp>
      <p:sp>
        <p:nvSpPr>
          <p:cNvPr id="2" name="AutoShape 11">
            <a:extLst>
              <a:ext uri="{FF2B5EF4-FFF2-40B4-BE49-F238E27FC236}">
                <a16:creationId xmlns:a16="http://schemas.microsoft.com/office/drawing/2014/main" id="{25C5A68F-7067-A985-37B6-030D6B3B6446}"/>
              </a:ext>
            </a:extLst>
          </p:cNvPr>
          <p:cNvSpPr/>
          <p:nvPr/>
        </p:nvSpPr>
        <p:spPr>
          <a:xfrm>
            <a:off x="609600" y="1651000"/>
            <a:ext cx="5105400" cy="3306312"/>
          </a:xfrm>
          <a:prstGeom prst="roundRect">
            <a:avLst>
              <a:gd name="adj" fmla="val 5947"/>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AutoShape 14">
            <a:extLst>
              <a:ext uri="{FF2B5EF4-FFF2-40B4-BE49-F238E27FC236}">
                <a16:creationId xmlns:a16="http://schemas.microsoft.com/office/drawing/2014/main" id="{C8EE2A6B-595E-7DB2-54F3-8D3B18917C99}"/>
              </a:ext>
            </a:extLst>
          </p:cNvPr>
          <p:cNvSpPr/>
          <p:nvPr/>
        </p:nvSpPr>
        <p:spPr>
          <a:xfrm>
            <a:off x="899885" y="2113418"/>
            <a:ext cx="4550229" cy="2547257"/>
          </a:xfrm>
          <a:prstGeom prst="rect">
            <a:avLst/>
          </a:prstGeom>
          <a:noFill/>
          <a:ln w="12700" cap="flat" cmpd="sng">
            <a:noFill/>
            <a:prstDash val="solid"/>
            <a:round/>
          </a:ln>
        </p:spPr>
        <p:txBody>
          <a:bodyPr vert="horz" wrap="square" lIns="0" tIns="0" rIns="0" bIns="0" rtlCol="0" anchor="ctr" anchorCtr="0"/>
          <a:lstStyle/>
          <a:p>
            <a:pPr indent="0" algn="just">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背景：</a:t>
            </a:r>
            <a:r>
              <a:rPr lang="en-US" altLang="zh-CN" sz="1500" b="1"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AI</a:t>
            </a:r>
            <a:r>
              <a:rPr lang="zh-CN" altLang="en-US" sz="1500" b="1"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在企业落地是一场系统性变革</a:t>
            </a:r>
            <a:endParaRPr lang="en-US" sz="1200" b="1"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indent="0" algn="just">
              <a:lnSpc>
                <a:spcPct val="125000"/>
              </a:lnSpc>
              <a:defRPr/>
            </a:pPr>
            <a:endParaRPr lang="en-US" altLang="zh-CN"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spcAft>
                <a:spcPts val="600"/>
              </a:spcAft>
            </a:pP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不是技术项目，而是一场涉及战略、组织、流程、文化的系统性变革。本次工作坊旨在帮助高层管理者建立“</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变革领导力”</a:t>
            </a:r>
            <a:r>
              <a:rPr lang="en-US" altLang="zh-CN" sz="1200" dirty="0">
                <a:solidFill>
                  <a:srgbClr val="666666"/>
                </a:solidFill>
                <a:latin typeface="微软雅黑" panose="020B0503020204020204" pitchFamily="34" charset="-122"/>
                <a:ea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rPr>
              <a:t>既能看清</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带来的商业机会，更能驾驭变革过程中的不确定性、风险与组织阻力。</a:t>
            </a:r>
            <a:endParaRPr lang="en-US" altLang="zh-CN" sz="1200" dirty="0">
              <a:solidFill>
                <a:srgbClr val="666666"/>
              </a:solidFill>
              <a:latin typeface="微软雅黑" panose="020B0503020204020204" pitchFamily="34" charset="-122"/>
              <a:ea typeface="微软雅黑" panose="020B0503020204020204" pitchFamily="34" charset="-122"/>
            </a:endParaRPr>
          </a:p>
          <a:p>
            <a:pPr algn="l"/>
            <a:r>
              <a:rPr lang="zh-CN" altLang="en-US" sz="1200" b="1" dirty="0">
                <a:solidFill>
                  <a:srgbClr val="7547EC"/>
                </a:solidFill>
                <a:latin typeface="微软雅黑" panose="020B0503020204020204" pitchFamily="34" charset="-122"/>
                <a:ea typeface="微软雅黑" panose="020B0503020204020204" pitchFamily="34" charset="-122"/>
              </a:rPr>
              <a:t>工作坊目标：</a:t>
            </a:r>
          </a:p>
          <a:p>
            <a:pPr algn="l">
              <a:buFont typeface="+mj-lt"/>
              <a:buAutoNum type="arabicPeriod"/>
            </a:pPr>
            <a:r>
              <a:rPr lang="zh-CN" altLang="en-US" sz="1200" dirty="0">
                <a:solidFill>
                  <a:srgbClr val="666666"/>
                </a:solidFill>
                <a:latin typeface="微软雅黑" panose="020B0503020204020204" pitchFamily="34" charset="-122"/>
                <a:ea typeface="微软雅黑" panose="020B0503020204020204" pitchFamily="34" charset="-122"/>
              </a:rPr>
              <a:t>认知对齐：理解</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能力边界、行业应用趋势，消除“神话”与“恐惧”</a:t>
            </a:r>
          </a:p>
          <a:p>
            <a:pPr algn="l">
              <a:buFont typeface="+mj-lt"/>
              <a:buAutoNum type="arabicPeriod"/>
            </a:pPr>
            <a:r>
              <a:rPr lang="zh-CN" altLang="en-US" sz="1200" dirty="0">
                <a:solidFill>
                  <a:srgbClr val="666666"/>
                </a:solidFill>
                <a:latin typeface="微软雅黑" panose="020B0503020204020204" pitchFamily="34" charset="-122"/>
                <a:ea typeface="微软雅黑" panose="020B0503020204020204" pitchFamily="34" charset="-122"/>
              </a:rPr>
              <a:t>路径共识：形成一套可执行的</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变革路线图，明确阶段、资源与里程碑</a:t>
            </a:r>
          </a:p>
          <a:p>
            <a:pPr algn="l">
              <a:buFont typeface="+mj-lt"/>
              <a:buAutoNum type="arabicPeriod"/>
            </a:pPr>
            <a:r>
              <a:rPr lang="zh-CN" altLang="en-US" sz="1200" dirty="0">
                <a:solidFill>
                  <a:srgbClr val="666666"/>
                </a:solidFill>
                <a:latin typeface="微软雅黑" panose="020B0503020204020204" pitchFamily="34" charset="-122"/>
                <a:ea typeface="微软雅黑" panose="020B0503020204020204" pitchFamily="34" charset="-122"/>
              </a:rPr>
              <a:t>风险预案：识别五大关键风险（技术、数据、组织、安全、成本），并制定应对策略</a:t>
            </a:r>
          </a:p>
          <a:p>
            <a:pPr algn="l">
              <a:buFont typeface="+mj-lt"/>
              <a:buAutoNum type="arabicPeriod"/>
            </a:pPr>
            <a:r>
              <a:rPr lang="zh-CN" altLang="en-US" sz="1200" dirty="0">
                <a:solidFill>
                  <a:srgbClr val="666666"/>
                </a:solidFill>
                <a:latin typeface="微软雅黑" panose="020B0503020204020204" pitchFamily="34" charset="-122"/>
                <a:ea typeface="微软雅黑" panose="020B0503020204020204" pitchFamily="34" charset="-122"/>
              </a:rPr>
              <a:t>行动承诺：输出本企业的“</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变革启动计划”，包括试点选择、组织保障与成功度量</a:t>
            </a:r>
          </a:p>
          <a:p>
            <a:pPr algn="just">
              <a:spcAft>
                <a:spcPts val="600"/>
              </a:spcAft>
            </a:pPr>
            <a:endParaRPr lang="en-US" altLang="zh-CN" sz="1200" dirty="0">
              <a:solidFill>
                <a:srgbClr val="666666"/>
              </a:solidFill>
              <a:latin typeface="微软雅黑" panose="020B0503020204020204" pitchFamily="34" charset="-122"/>
              <a:ea typeface="微软雅黑" panose="020B0503020204020204" pitchFamily="34" charset="-122"/>
            </a:endParaRPr>
          </a:p>
          <a:p>
            <a:pPr algn="just">
              <a:spcAft>
                <a:spcPts val="600"/>
              </a:spcAft>
            </a:pPr>
            <a:endParaRPr lang="en-US" altLang="zh-CN"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标题 1">
            <a:extLst>
              <a:ext uri="{FF2B5EF4-FFF2-40B4-BE49-F238E27FC236}">
                <a16:creationId xmlns:a16="http://schemas.microsoft.com/office/drawing/2014/main" id="{E707978C-2F93-0A10-5DB2-A076506C9CD4}"/>
              </a:ext>
            </a:extLst>
          </p:cNvPr>
          <p:cNvSpPr txBox="1"/>
          <p:nvPr/>
        </p:nvSpPr>
        <p:spPr>
          <a:xfrm>
            <a:off x="354503" y="720014"/>
            <a:ext cx="10507461"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一、</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t>
            </a:r>
            <a:r>
              <a:rPr lang="zh-CN" altLang="en-US" sz="3500" b="1" dirty="0">
                <a:solidFill>
                  <a:srgbClr val="5E35B1"/>
                </a:solidFill>
                <a:latin typeface="微软雅黑" panose="020B0503020204020204" pitchFamily="34" charset="-122"/>
                <a:ea typeface="微软雅黑" panose="020B0503020204020204" pitchFamily="34" charset="-122"/>
              </a:rPr>
              <a:t>从共识到行动：</a:t>
            </a:r>
            <a:r>
              <a:rPr lang="en-US" altLang="zh-CN" sz="3500" b="1" dirty="0">
                <a:solidFill>
                  <a:srgbClr val="5E35B1"/>
                </a:solidFill>
                <a:latin typeface="微软雅黑" panose="020B0503020204020204" pitchFamily="34" charset="-122"/>
                <a:ea typeface="微软雅黑" panose="020B0503020204020204" pitchFamily="34" charset="-122"/>
              </a:rPr>
              <a:t>AI</a:t>
            </a:r>
            <a:r>
              <a:rPr lang="zh-CN" altLang="en-US" sz="3500" b="1" dirty="0">
                <a:solidFill>
                  <a:srgbClr val="5E35B1"/>
                </a:solidFill>
                <a:latin typeface="微软雅黑" panose="020B0503020204020204" pitchFamily="34" charset="-122"/>
                <a:ea typeface="微软雅黑" panose="020B0503020204020204" pitchFamily="34" charset="-122"/>
              </a:rPr>
              <a:t>变革管理高层工作坊</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t>
            </a:r>
          </a:p>
        </p:txBody>
      </p:sp>
    </p:spTree>
    <p:extLst>
      <p:ext uri="{BB962C8B-B14F-4D97-AF65-F5344CB8AC3E}">
        <p14:creationId xmlns:p14="http://schemas.microsoft.com/office/powerpoint/2010/main" val="280035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635000" y="1365250"/>
            <a:ext cx="10922000" cy="952500"/>
          </a:xfrm>
          <a:prstGeom prst="roundRect">
            <a:avLst>
              <a:gd name="adj" fmla="val 13333"/>
            </a:avLst>
          </a:prstGeom>
          <a:solidFill>
            <a:schemeClr val="bg1">
              <a:lumMod val="95000"/>
              <a:alpha val="90000"/>
            </a:schemeClr>
          </a:solidFill>
          <a:ln w="19050">
            <a:solidFill>
              <a:srgbClr val="800BF5">
                <a:alpha val="70000"/>
              </a:srgb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581150"/>
            <a:ext cx="508000" cy="508000"/>
          </a:xfrm>
          <a:prstGeom prst="rect">
            <a:avLst/>
          </a:prstGeom>
          <a:effectLst>
            <a:outerShdw blurRad="76200" dist="114300" dir="2700000" algn="tl" rotWithShape="0">
              <a:prstClr val="black">
                <a:alpha val="12000"/>
              </a:prstClr>
            </a:outerShdw>
            <a:softEdge rad="6350"/>
          </a:effectLst>
        </p:spPr>
      </p:pic>
      <p:sp>
        <p:nvSpPr>
          <p:cNvPr id="6" name="AutoShape 6"/>
          <p:cNvSpPr/>
          <p:nvPr/>
        </p:nvSpPr>
        <p:spPr>
          <a:xfrm>
            <a:off x="1651000" y="1454150"/>
            <a:ext cx="990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交付形式</a:t>
            </a:r>
            <a:r>
              <a:rPr lang="en-US" sz="16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indent="0" algn="l">
              <a:lnSpc>
                <a:spcPct val="125000"/>
              </a:lnSpc>
              <a:defRPr/>
            </a:pPr>
            <a:r>
              <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讲授</a:t>
            </a:r>
            <a:r>
              <a:rPr lang="en-US" altLang="zh-CN"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4</a:t>
            </a:r>
            <a:r>
              <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0% + </a:t>
            </a:r>
            <a:r>
              <a:rPr lang="en-US" sz="1300"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情境模拟</a:t>
            </a:r>
            <a:r>
              <a:rPr lang="en-US" altLang="zh-CN" sz="1300"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20</a:t>
            </a:r>
            <a:r>
              <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 案例拆解</a:t>
            </a:r>
            <a:r>
              <a:rPr lang="en-US" altLang="zh-CN"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20</a:t>
            </a:r>
            <a:r>
              <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 讨论</a:t>
            </a:r>
            <a:r>
              <a:rPr lang="en-US" altLang="zh-CN" sz="1300"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20</a:t>
            </a:r>
            <a:r>
              <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，工作坊结束，让参训人员产出后续行动方案。</a:t>
            </a:r>
            <a:endPar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7" name="AutoShape 7"/>
          <p:cNvSpPr/>
          <p:nvPr/>
        </p:nvSpPr>
        <p:spPr>
          <a:xfrm>
            <a:off x="635000" y="2398711"/>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AutoShape 10"/>
          <p:cNvSpPr/>
          <p:nvPr/>
        </p:nvSpPr>
        <p:spPr>
          <a:xfrm>
            <a:off x="899160" y="2532069"/>
            <a:ext cx="1554480" cy="1881269"/>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1：</a:t>
            </a:r>
          </a:p>
          <a:p>
            <a:pPr algn="ctr" rtl="0"/>
            <a:r>
              <a:rPr lang="zh-CN" altLang="en-US" sz="1500" b="1" dirty="0">
                <a:solidFill>
                  <a:srgbClr val="333333"/>
                </a:solidFill>
                <a:latin typeface="微软雅黑" panose="020B0503020204020204" pitchFamily="34" charset="-122"/>
                <a:ea typeface="微软雅黑" panose="020B0503020204020204" pitchFamily="34" charset="-122"/>
              </a:rPr>
              <a:t>破冰与期望对齐</a:t>
            </a: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p>
          <a:p>
            <a:pPr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通过引导式对话建立安全心理场域，收集高管对</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的兴奋点与担忧，形成共识基线。</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11" name="AutoShape 11"/>
          <p:cNvSpPr/>
          <p:nvPr/>
        </p:nvSpPr>
        <p:spPr>
          <a:xfrm>
            <a:off x="2844800" y="2398711"/>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AutoShape 14"/>
          <p:cNvSpPr/>
          <p:nvPr/>
        </p:nvSpPr>
        <p:spPr>
          <a:xfrm>
            <a:off x="3116580" y="2532069"/>
            <a:ext cx="153924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a:t>
            </a:r>
          </a:p>
          <a:p>
            <a:pPr algn="ctr" rtl="0"/>
            <a:r>
              <a:rPr lang="en" altLang="zh-CN" sz="1500" b="1" dirty="0">
                <a:solidFill>
                  <a:srgbClr val="333333"/>
                </a:solidFill>
                <a:latin typeface="微软雅黑" panose="020B0503020204020204" pitchFamily="34" charset="-122"/>
                <a:ea typeface="微软雅黑" panose="020B0503020204020204" pitchFamily="34" charset="-122"/>
              </a:rPr>
              <a:t>AI</a:t>
            </a:r>
            <a:r>
              <a:rPr lang="zh-CN" altLang="en-US" sz="1500" b="1" dirty="0">
                <a:solidFill>
                  <a:srgbClr val="333333"/>
                </a:solidFill>
                <a:latin typeface="微软雅黑" panose="020B0503020204020204" pitchFamily="34" charset="-122"/>
                <a:ea typeface="微软雅黑" panose="020B0503020204020204" pitchFamily="34" charset="-122"/>
              </a:rPr>
              <a:t>能力全景分析</a:t>
            </a:r>
          </a:p>
          <a:p>
            <a:pPr indent="0" algn="ctr">
              <a:lnSpc>
                <a:spcPct val="125000"/>
              </a:lnSpc>
              <a:spcBef>
                <a:spcPts val="800"/>
              </a:spcBef>
            </a:pPr>
            <a:r>
              <a:rPr lang="en-US" altLang="zh-CN"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1.5</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系统讲解</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能力分层模型及关键趋势，帮助高管建立对</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能力的结构化认知。</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15" name="AutoShape 15"/>
          <p:cNvSpPr/>
          <p:nvPr/>
        </p:nvSpPr>
        <p:spPr>
          <a:xfrm>
            <a:off x="5054600" y="2398711"/>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AutoShape 18"/>
          <p:cNvSpPr/>
          <p:nvPr/>
        </p:nvSpPr>
        <p:spPr>
          <a:xfrm>
            <a:off x="5318760" y="2532069"/>
            <a:ext cx="155448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3：</a:t>
            </a:r>
          </a:p>
          <a:p>
            <a:pPr indent="0" algn="ctr">
              <a:lnSpc>
                <a:spcPct val="100000"/>
              </a:lnSpc>
              <a:defRPr/>
            </a:pPr>
            <a:r>
              <a:rPr lang="en-US" sz="1500" b="1"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行业实践对标</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altLang="zh-CN"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2</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通过行业及跨行业案例研讨，提取</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变革的成功要素与失败教训，引发类比思考</a:t>
            </a:r>
            <a:r>
              <a:rPr lang="zh-CN" altLang="en-US"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19" name="AutoShape 19"/>
          <p:cNvSpPr/>
          <p:nvPr/>
        </p:nvSpPr>
        <p:spPr>
          <a:xfrm>
            <a:off x="7264400" y="2398711"/>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AutoShape 22"/>
          <p:cNvSpPr/>
          <p:nvPr/>
        </p:nvSpPr>
        <p:spPr>
          <a:xfrm>
            <a:off x="7528560" y="2532069"/>
            <a:ext cx="155448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4：</a:t>
            </a:r>
          </a:p>
          <a:p>
            <a:pPr indent="0" algn="ctr">
              <a:lnSpc>
                <a:spcPct val="100000"/>
              </a:lnSpc>
              <a:defRPr/>
            </a:pPr>
            <a:r>
              <a:rPr lang="en-US" altLang="zh-CN" sz="1500" b="1"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AI</a:t>
            </a:r>
            <a:r>
              <a:rPr lang="zh-CN" altLang="en-US" sz="1500" b="1"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变革的“铁三角”</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altLang="zh-CN" sz="1200"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0.5</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构建</a:t>
            </a:r>
            <a:r>
              <a:rPr lang="en-US"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变革风险地图、成本模型和成功率提升框架，通过情境模拟让高管在决策中体会权衡</a:t>
            </a:r>
            <a:r>
              <a:rPr lang="zh-CN" altLang="en-US"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23" name="AutoShape 23"/>
          <p:cNvSpPr/>
          <p:nvPr/>
        </p:nvSpPr>
        <p:spPr>
          <a:xfrm>
            <a:off x="9474200" y="2398711"/>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AutoShape 26"/>
          <p:cNvSpPr/>
          <p:nvPr/>
        </p:nvSpPr>
        <p:spPr>
          <a:xfrm>
            <a:off x="9745980" y="2532069"/>
            <a:ext cx="153924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5：</a:t>
            </a:r>
          </a:p>
          <a:p>
            <a:pPr algn="ctr">
              <a:defRPr/>
            </a:pPr>
            <a:r>
              <a:rPr lang="zh-CN" altLang="en-US" sz="1500" b="1" dirty="0">
                <a:solidFill>
                  <a:srgbClr val="333333"/>
                </a:solidFill>
                <a:latin typeface="微软雅黑" panose="020B0503020204020204" pitchFamily="34" charset="-122"/>
                <a:ea typeface="微软雅黑" panose="020B0503020204020204" pitchFamily="34" charset="-122"/>
              </a:rPr>
              <a:t>变革管理框架</a:t>
            </a:r>
            <a:endParaRPr lang="en-US" sz="1500" b="1"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altLang="zh-CN"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将经典变革管理方法论与</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落地实践结合，帮助高管掌握分阶段推动变革的具体行动方案。</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2" name="标题 1">
            <a:extLst>
              <a:ext uri="{FF2B5EF4-FFF2-40B4-BE49-F238E27FC236}">
                <a16:creationId xmlns:a16="http://schemas.microsoft.com/office/drawing/2014/main" id="{EBFBE756-31A2-F95C-412E-1160C80A3E5A}"/>
              </a:ext>
            </a:extLst>
          </p:cNvPr>
          <p:cNvSpPr txBox="1"/>
          <p:nvPr/>
        </p:nvSpPr>
        <p:spPr>
          <a:xfrm>
            <a:off x="354503" y="720014"/>
            <a:ext cx="8718377"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工作坊课程大纲</a:t>
            </a:r>
            <a:endPar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endParaRPr>
          </a:p>
        </p:txBody>
      </p:sp>
      <p:sp>
        <p:nvSpPr>
          <p:cNvPr id="27" name="AutoShape 7">
            <a:extLst>
              <a:ext uri="{FF2B5EF4-FFF2-40B4-BE49-F238E27FC236}">
                <a16:creationId xmlns:a16="http://schemas.microsoft.com/office/drawing/2014/main" id="{D991AC36-F15F-FE15-8493-96FDF1C673FF}"/>
              </a:ext>
            </a:extLst>
          </p:cNvPr>
          <p:cNvSpPr/>
          <p:nvPr/>
        </p:nvSpPr>
        <p:spPr>
          <a:xfrm>
            <a:off x="630232" y="4479935"/>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AutoShape 10">
            <a:extLst>
              <a:ext uri="{FF2B5EF4-FFF2-40B4-BE49-F238E27FC236}">
                <a16:creationId xmlns:a16="http://schemas.microsoft.com/office/drawing/2014/main" id="{F2927608-E6BB-5315-2313-4CFB39D37B94}"/>
              </a:ext>
            </a:extLst>
          </p:cNvPr>
          <p:cNvSpPr/>
          <p:nvPr/>
        </p:nvSpPr>
        <p:spPr>
          <a:xfrm>
            <a:off x="894392" y="4613293"/>
            <a:ext cx="1554480" cy="1881269"/>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altLang="zh-CN" sz="1500" b="1"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6</a:t>
            </a: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algn="ctr" rtl="0"/>
            <a:r>
              <a:rPr lang="en" altLang="zh-CN" sz="1500" b="1" dirty="0">
                <a:solidFill>
                  <a:srgbClr val="333333"/>
                </a:solidFill>
                <a:latin typeface="微软雅黑" panose="020B0503020204020204" pitchFamily="34" charset="-122"/>
                <a:ea typeface="微软雅黑" panose="020B0503020204020204" pitchFamily="34" charset="-122"/>
              </a:rPr>
              <a:t>AI</a:t>
            </a:r>
            <a:r>
              <a:rPr lang="zh-CN" altLang="en-US" sz="1500" b="1" dirty="0">
                <a:solidFill>
                  <a:srgbClr val="333333"/>
                </a:solidFill>
                <a:latin typeface="微软雅黑" panose="020B0503020204020204" pitchFamily="34" charset="-122"/>
                <a:ea typeface="微软雅黑" panose="020B0503020204020204" pitchFamily="34" charset="-122"/>
              </a:rPr>
              <a:t>落地路径</a:t>
            </a:r>
          </a:p>
          <a:p>
            <a:pPr indent="0" algn="ctr">
              <a:lnSpc>
                <a:spcPct val="125000"/>
              </a:lnSpc>
              <a:spcBef>
                <a:spcPts val="800"/>
              </a:spcBef>
            </a:pPr>
            <a:r>
              <a:rPr lang="en-US" altLang="zh-CN"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3</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系统讲解</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 sz="1200" dirty="0">
                <a:solidFill>
                  <a:srgbClr val="666666"/>
                </a:solidFill>
                <a:latin typeface="微软雅黑" panose="020B0503020204020204" pitchFamily="34" charset="-122"/>
                <a:ea typeface="微软雅黑" panose="020B0503020204020204" pitchFamily="34" charset="-122"/>
              </a:rPr>
              <a:t>在</a:t>
            </a:r>
            <a:r>
              <a:rPr lang="zh-CN" altLang="en-US" sz="1200" dirty="0">
                <a:solidFill>
                  <a:srgbClr val="666666"/>
                </a:solidFill>
                <a:latin typeface="微软雅黑" panose="020B0503020204020204" pitchFamily="34" charset="-122"/>
                <a:ea typeface="微软雅黑" panose="020B0503020204020204" pitchFamily="34" charset="-122"/>
              </a:rPr>
              <a:t>企业落地的五阶段模型，并通过实战演练，分析企业内部核心价值链上的</a:t>
            </a:r>
            <a:r>
              <a:rPr lang="en-US"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落地场景。</a:t>
            </a:r>
            <a:endParaRPr lang="en-US"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AutoShape 11">
            <a:extLst>
              <a:ext uri="{FF2B5EF4-FFF2-40B4-BE49-F238E27FC236}">
                <a16:creationId xmlns:a16="http://schemas.microsoft.com/office/drawing/2014/main" id="{B66DFB55-5F89-D8F9-12E9-46E7EB7DE871}"/>
              </a:ext>
            </a:extLst>
          </p:cNvPr>
          <p:cNvSpPr/>
          <p:nvPr/>
        </p:nvSpPr>
        <p:spPr>
          <a:xfrm>
            <a:off x="2840032" y="4479935"/>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AutoShape 14">
            <a:extLst>
              <a:ext uri="{FF2B5EF4-FFF2-40B4-BE49-F238E27FC236}">
                <a16:creationId xmlns:a16="http://schemas.microsoft.com/office/drawing/2014/main" id="{C329133D-150B-03B0-F328-F59D586C0187}"/>
              </a:ext>
            </a:extLst>
          </p:cNvPr>
          <p:cNvSpPr/>
          <p:nvPr/>
        </p:nvSpPr>
        <p:spPr>
          <a:xfrm>
            <a:off x="3111812" y="4613293"/>
            <a:ext cx="153924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altLang="zh-CN" sz="1500" b="1"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7</a:t>
            </a: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algn="ctr"/>
            <a:r>
              <a:rPr lang="zh-CN" altLang="en-US" sz="1300" b="1" dirty="0">
                <a:solidFill>
                  <a:srgbClr val="333333"/>
                </a:solidFill>
                <a:latin typeface="微软雅黑" panose="020B0503020204020204" pitchFamily="34" charset="-122"/>
                <a:ea typeface="微软雅黑" panose="020B0503020204020204" pitchFamily="34" charset="-122"/>
              </a:rPr>
              <a:t>组织保障与人才体系</a:t>
            </a:r>
          </a:p>
          <a:p>
            <a:pPr indent="0" algn="ctr">
              <a:lnSpc>
                <a:spcPct val="125000"/>
              </a:lnSpc>
              <a:spcBef>
                <a:spcPts val="800"/>
              </a:spcBef>
            </a:pPr>
            <a:r>
              <a:rPr lang="en-US" altLang="zh-CN" sz="1200"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0.5</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探讨</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变革所需的组织架构模式、人才梯队建设，并处理中层管理者的常见抵触心理。</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31" name="AutoShape 15">
            <a:extLst>
              <a:ext uri="{FF2B5EF4-FFF2-40B4-BE49-F238E27FC236}">
                <a16:creationId xmlns:a16="http://schemas.microsoft.com/office/drawing/2014/main" id="{2D6015D3-2295-565D-A9FB-5EC7B354F5FF}"/>
              </a:ext>
            </a:extLst>
          </p:cNvPr>
          <p:cNvSpPr/>
          <p:nvPr/>
        </p:nvSpPr>
        <p:spPr>
          <a:xfrm>
            <a:off x="5049832" y="4479935"/>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AutoShape 18">
            <a:extLst>
              <a:ext uri="{FF2B5EF4-FFF2-40B4-BE49-F238E27FC236}">
                <a16:creationId xmlns:a16="http://schemas.microsoft.com/office/drawing/2014/main" id="{DDA45612-1AF8-E928-BBD2-B6C5F7CF1AB1}"/>
              </a:ext>
            </a:extLst>
          </p:cNvPr>
          <p:cNvSpPr/>
          <p:nvPr/>
        </p:nvSpPr>
        <p:spPr>
          <a:xfrm>
            <a:off x="5313992" y="4613293"/>
            <a:ext cx="155448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altLang="zh-CN" sz="1500" b="1"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8</a:t>
            </a: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algn="ctr">
              <a:defRPr/>
            </a:pPr>
            <a:r>
              <a:rPr lang="zh-CN" altLang="en-US" sz="1500" b="1" dirty="0">
                <a:solidFill>
                  <a:srgbClr val="333333"/>
                </a:solidFill>
                <a:latin typeface="微软雅黑" panose="020B0503020204020204" pitchFamily="34" charset="-122"/>
                <a:ea typeface="微软雅黑" panose="020B0503020204020204" pitchFamily="34" charset="-122"/>
              </a:rPr>
              <a:t>度量与复盘</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altLang="zh-CN"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0.5</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建立三层度量体系、快速失败与学习机制，并设计变革健康度检查工具。</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33" name="AutoShape 19">
            <a:extLst>
              <a:ext uri="{FF2B5EF4-FFF2-40B4-BE49-F238E27FC236}">
                <a16:creationId xmlns:a16="http://schemas.microsoft.com/office/drawing/2014/main" id="{BA3F46F1-A3BC-8C0E-7F32-6798CCEDB08E}"/>
              </a:ext>
            </a:extLst>
          </p:cNvPr>
          <p:cNvSpPr/>
          <p:nvPr/>
        </p:nvSpPr>
        <p:spPr>
          <a:xfrm>
            <a:off x="7259632" y="4479935"/>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AutoShape 22">
            <a:extLst>
              <a:ext uri="{FF2B5EF4-FFF2-40B4-BE49-F238E27FC236}">
                <a16:creationId xmlns:a16="http://schemas.microsoft.com/office/drawing/2014/main" id="{A013CA2C-09DA-9334-914A-62467A4B298A}"/>
              </a:ext>
            </a:extLst>
          </p:cNvPr>
          <p:cNvSpPr/>
          <p:nvPr/>
        </p:nvSpPr>
        <p:spPr>
          <a:xfrm>
            <a:off x="7523792" y="4613293"/>
            <a:ext cx="155448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altLang="zh-CN" sz="1500" b="1"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9</a:t>
            </a: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algn="ctr">
              <a:defRPr/>
            </a:pPr>
            <a:r>
              <a:rPr lang="zh-CN" altLang="en-US" sz="1500" b="1" dirty="0">
                <a:solidFill>
                  <a:srgbClr val="333333"/>
                </a:solidFill>
                <a:latin typeface="微软雅黑" panose="020B0503020204020204" pitchFamily="34" charset="-122"/>
                <a:ea typeface="微软雅黑" panose="020B0503020204020204" pitchFamily="34" charset="-122"/>
              </a:rPr>
              <a:t>情景规划与预案</a:t>
            </a: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通过五大典型危机情景模拟，训练高管在</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变革突发风险下的应急决策能力</a:t>
            </a:r>
            <a:r>
              <a:rPr lang="zh-CN" altLang="en-US"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AutoShape 23">
            <a:extLst>
              <a:ext uri="{FF2B5EF4-FFF2-40B4-BE49-F238E27FC236}">
                <a16:creationId xmlns:a16="http://schemas.microsoft.com/office/drawing/2014/main" id="{9A2C11D7-573F-8635-CB55-A9B4B7B087FD}"/>
              </a:ext>
            </a:extLst>
          </p:cNvPr>
          <p:cNvSpPr/>
          <p:nvPr/>
        </p:nvSpPr>
        <p:spPr>
          <a:xfrm>
            <a:off x="9469432" y="4479935"/>
            <a:ext cx="2082800" cy="2020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AutoShape 26">
            <a:extLst>
              <a:ext uri="{FF2B5EF4-FFF2-40B4-BE49-F238E27FC236}">
                <a16:creationId xmlns:a16="http://schemas.microsoft.com/office/drawing/2014/main" id="{6BEC370F-024C-4DBE-19EC-B6493C9BD4A7}"/>
              </a:ext>
            </a:extLst>
          </p:cNvPr>
          <p:cNvSpPr/>
          <p:nvPr/>
        </p:nvSpPr>
        <p:spPr>
          <a:xfrm>
            <a:off x="9741212" y="4613293"/>
            <a:ext cx="1539240" cy="1728383"/>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altLang="zh-CN" sz="1500" b="1"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10</a:t>
            </a: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algn="ctr">
              <a:defRPr/>
            </a:pPr>
            <a:r>
              <a:rPr lang="zh-CN" altLang="en-US" sz="1500" b="1" dirty="0">
                <a:solidFill>
                  <a:srgbClr val="333333"/>
                </a:solidFill>
                <a:latin typeface="微软雅黑" panose="020B0503020204020204" pitchFamily="34" charset="-122"/>
                <a:ea typeface="微软雅黑" panose="020B0503020204020204" pitchFamily="34" charset="-122"/>
              </a:rPr>
              <a:t>行动承诺</a:t>
            </a: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p>
          <a:p>
            <a:pPr indent="0"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引导高管团队从通用学习转向本企业实际，使用“</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变革启动画布”输出可执行的启动计划，并形成个人行动承诺。</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a:extLst>
              <a:ext uri="{FF2B5EF4-FFF2-40B4-BE49-F238E27FC236}">
                <a16:creationId xmlns:a16="http://schemas.microsoft.com/office/drawing/2014/main" id="{1DF0817E-0A31-C2AF-D65A-02FBA7ECB925}"/>
              </a:ext>
            </a:extLst>
          </p:cNvPr>
          <p:cNvGrpSpPr/>
          <p:nvPr/>
        </p:nvGrpSpPr>
        <p:grpSpPr>
          <a:xfrm>
            <a:off x="5935980" y="1651000"/>
            <a:ext cx="5646420" cy="4445000"/>
            <a:chOff x="6096000" y="1651000"/>
            <a:chExt cx="5486400" cy="4937760"/>
          </a:xfrm>
        </p:grpSpPr>
        <p:sp>
          <p:nvSpPr>
            <p:cNvPr id="15" name="AutoShape 15"/>
            <p:cNvSpPr/>
            <p:nvPr/>
          </p:nvSpPr>
          <p:spPr>
            <a:xfrm>
              <a:off x="6096000" y="165100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AutoShape 15">
              <a:extLst>
                <a:ext uri="{FF2B5EF4-FFF2-40B4-BE49-F238E27FC236}">
                  <a16:creationId xmlns:a16="http://schemas.microsoft.com/office/drawing/2014/main" id="{DD196815-CC4A-9E09-00C1-502A1BC9979C}"/>
                </a:ext>
              </a:extLst>
            </p:cNvPr>
            <p:cNvSpPr/>
            <p:nvPr/>
          </p:nvSpPr>
          <p:spPr>
            <a:xfrm>
              <a:off x="6096000" y="291592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AutoShape 15">
              <a:extLst>
                <a:ext uri="{FF2B5EF4-FFF2-40B4-BE49-F238E27FC236}">
                  <a16:creationId xmlns:a16="http://schemas.microsoft.com/office/drawing/2014/main" id="{1BA55E99-C4C6-B787-28CC-21DB49BAEC84}"/>
                </a:ext>
              </a:extLst>
            </p:cNvPr>
            <p:cNvSpPr/>
            <p:nvPr/>
          </p:nvSpPr>
          <p:spPr>
            <a:xfrm>
              <a:off x="6096000" y="418084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AutoShape 15">
              <a:extLst>
                <a:ext uri="{FF2B5EF4-FFF2-40B4-BE49-F238E27FC236}">
                  <a16:creationId xmlns:a16="http://schemas.microsoft.com/office/drawing/2014/main" id="{7B59A5A8-BC57-A611-D898-0A3353AB7927}"/>
                </a:ext>
              </a:extLst>
            </p:cNvPr>
            <p:cNvSpPr/>
            <p:nvPr/>
          </p:nvSpPr>
          <p:spPr>
            <a:xfrm>
              <a:off x="6096000" y="544576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2" name="组合 31">
            <a:extLst>
              <a:ext uri="{FF2B5EF4-FFF2-40B4-BE49-F238E27FC236}">
                <a16:creationId xmlns:a16="http://schemas.microsoft.com/office/drawing/2014/main" id="{DE71D025-E7C6-E3C9-260A-9956FC4A0897}"/>
              </a:ext>
            </a:extLst>
          </p:cNvPr>
          <p:cNvGrpSpPr/>
          <p:nvPr/>
        </p:nvGrpSpPr>
        <p:grpSpPr>
          <a:xfrm>
            <a:off x="6212840" y="1778000"/>
            <a:ext cx="5079274" cy="889000"/>
            <a:chOff x="6350000" y="1778000"/>
            <a:chExt cx="5079274" cy="889000"/>
          </a:xfrm>
        </p:grpSpPr>
        <p:sp>
          <p:nvSpPr>
            <p:cNvPr id="12" name="AutoShape 12"/>
            <p:cNvSpPr/>
            <p:nvPr/>
          </p:nvSpPr>
          <p:spPr>
            <a:xfrm>
              <a:off x="6350000" y="187960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89700" y="2019300"/>
              <a:ext cx="406400" cy="406400"/>
            </a:xfrm>
            <a:prstGeom prst="rect">
              <a:avLst/>
            </a:prstGeom>
          </p:spPr>
        </p:pic>
        <p:sp>
          <p:nvSpPr>
            <p:cNvPr id="14" name="AutoShape 14"/>
            <p:cNvSpPr/>
            <p:nvPr/>
          </p:nvSpPr>
          <p:spPr>
            <a:xfrm>
              <a:off x="7238999" y="1778000"/>
              <a:ext cx="4190275"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师资团队：瑞华智策讲师团</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altLang="zh-CN"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瑞华智策资深</a:t>
              </a:r>
              <a:r>
                <a:rPr lang="en-US" altLang="zh-CN"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顾问</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团队；瑞华智策</a:t>
              </a:r>
              <a:r>
                <a:rPr lang="en-US" altLang="zh-CN"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新质组织研究中心的智库专家（来自北大、清华、人大的资深研究者，和行业实战专家）。</a:t>
              </a:r>
              <a:endParaRPr lang="en-US" altLang="zh-CN"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grpSp>
        <p:nvGrpSpPr>
          <p:cNvPr id="33" name="组合 32">
            <a:extLst>
              <a:ext uri="{FF2B5EF4-FFF2-40B4-BE49-F238E27FC236}">
                <a16:creationId xmlns:a16="http://schemas.microsoft.com/office/drawing/2014/main" id="{BF709633-1B63-1A25-30F3-C3AC43A70A8D}"/>
              </a:ext>
            </a:extLst>
          </p:cNvPr>
          <p:cNvGrpSpPr/>
          <p:nvPr/>
        </p:nvGrpSpPr>
        <p:grpSpPr>
          <a:xfrm>
            <a:off x="6212840" y="2842260"/>
            <a:ext cx="5016500" cy="889000"/>
            <a:chOff x="6350000" y="3048000"/>
            <a:chExt cx="5016500" cy="889000"/>
          </a:xfrm>
        </p:grpSpPr>
        <p:sp>
          <p:nvSpPr>
            <p:cNvPr id="28" name="AutoShape 12">
              <a:extLst>
                <a:ext uri="{FF2B5EF4-FFF2-40B4-BE49-F238E27FC236}">
                  <a16:creationId xmlns:a16="http://schemas.microsoft.com/office/drawing/2014/main" id="{03A88C3D-4A8C-5AD9-8140-47CDDE4D1524}"/>
                </a:ext>
              </a:extLst>
            </p:cNvPr>
            <p:cNvSpPr/>
            <p:nvPr/>
          </p:nvSpPr>
          <p:spPr>
            <a:xfrm>
              <a:off x="6350000" y="312928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89700" y="3268980"/>
              <a:ext cx="406400" cy="406400"/>
            </a:xfrm>
            <a:prstGeom prst="rect">
              <a:avLst/>
            </a:prstGeom>
          </p:spPr>
        </p:pic>
        <p:sp>
          <p:nvSpPr>
            <p:cNvPr id="18" name="AutoShape 18"/>
            <p:cNvSpPr/>
            <p:nvPr/>
          </p:nvSpPr>
          <p:spPr>
            <a:xfrm>
              <a:off x="7239000" y="3048000"/>
              <a:ext cx="4127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核心价值：闭环诊断与落地</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建立“诊断-决策-迭代”闭环，实操人效诊断模板，</a:t>
              </a: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与</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Agent协同高效输出落地计划</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grpSp>
      <p:grpSp>
        <p:nvGrpSpPr>
          <p:cNvPr id="34" name="组合 33">
            <a:extLst>
              <a:ext uri="{FF2B5EF4-FFF2-40B4-BE49-F238E27FC236}">
                <a16:creationId xmlns:a16="http://schemas.microsoft.com/office/drawing/2014/main" id="{387E6DD8-1410-83A0-5909-B68BC9421189}"/>
              </a:ext>
            </a:extLst>
          </p:cNvPr>
          <p:cNvGrpSpPr/>
          <p:nvPr/>
        </p:nvGrpSpPr>
        <p:grpSpPr>
          <a:xfrm>
            <a:off x="6212840" y="4079240"/>
            <a:ext cx="5016500" cy="762000"/>
            <a:chOff x="6350000" y="4292600"/>
            <a:chExt cx="5016500" cy="762000"/>
          </a:xfrm>
        </p:grpSpPr>
        <p:sp>
          <p:nvSpPr>
            <p:cNvPr id="30" name="AutoShape 12">
              <a:extLst>
                <a:ext uri="{FF2B5EF4-FFF2-40B4-BE49-F238E27FC236}">
                  <a16:creationId xmlns:a16="http://schemas.microsoft.com/office/drawing/2014/main" id="{4C620325-8E81-32CF-22D7-61F88C6F8B05}"/>
                </a:ext>
              </a:extLst>
            </p:cNvPr>
            <p:cNvSpPr/>
            <p:nvPr/>
          </p:nvSpPr>
          <p:spPr>
            <a:xfrm>
              <a:off x="6350000" y="432816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3350" y="4461510"/>
              <a:ext cx="419100" cy="419100"/>
            </a:xfrm>
            <a:prstGeom prst="rect">
              <a:avLst/>
            </a:prstGeom>
          </p:spPr>
        </p:pic>
        <p:sp>
          <p:nvSpPr>
            <p:cNvPr id="22" name="AutoShape 22"/>
            <p:cNvSpPr/>
            <p:nvPr/>
          </p:nvSpPr>
          <p:spPr>
            <a:xfrm>
              <a:off x="7239000" y="4292600"/>
              <a:ext cx="412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目标人群：企业高管与决策者</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ct val="125000"/>
                </a:lnSpc>
                <a:buFont typeface="Arial" panose="020B0604020202020204" pitchFamily="34" charset="0"/>
                <a:buChar char="•"/>
              </a:pP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CXO、HRVP、业务负责人</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marL="171450" indent="-171450" algn="l">
                <a:lnSpc>
                  <a:spcPct val="125000"/>
                </a:lnSpc>
                <a:buFont typeface="Arial" panose="020B0604020202020204" pitchFamily="34" charset="0"/>
                <a:buChar char="•"/>
              </a:pP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人力成本占比高</a:t>
              </a: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或绝对金额大</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的大中型企业</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grpSp>
        <p:nvGrpSpPr>
          <p:cNvPr id="35" name="组合 34">
            <a:extLst>
              <a:ext uri="{FF2B5EF4-FFF2-40B4-BE49-F238E27FC236}">
                <a16:creationId xmlns:a16="http://schemas.microsoft.com/office/drawing/2014/main" id="{10C918A4-86BB-AF59-B7B6-29A041D12EC0}"/>
              </a:ext>
            </a:extLst>
          </p:cNvPr>
          <p:cNvGrpSpPr/>
          <p:nvPr/>
        </p:nvGrpSpPr>
        <p:grpSpPr>
          <a:xfrm>
            <a:off x="6212840" y="5234940"/>
            <a:ext cx="5016500" cy="685800"/>
            <a:chOff x="6350000" y="5334000"/>
            <a:chExt cx="5016500" cy="685800"/>
          </a:xfrm>
        </p:grpSpPr>
        <p:sp>
          <p:nvSpPr>
            <p:cNvPr id="31" name="AutoShape 12">
              <a:extLst>
                <a:ext uri="{FF2B5EF4-FFF2-40B4-BE49-F238E27FC236}">
                  <a16:creationId xmlns:a16="http://schemas.microsoft.com/office/drawing/2014/main" id="{FD392054-8CC9-D775-3717-EC88A4333901}"/>
                </a:ext>
              </a:extLst>
            </p:cNvPr>
            <p:cNvSpPr/>
            <p:nvPr/>
          </p:nvSpPr>
          <p:spPr>
            <a:xfrm>
              <a:off x="6350000" y="533400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92240" y="5476240"/>
              <a:ext cx="401320" cy="401320"/>
            </a:xfrm>
            <a:prstGeom prst="rect">
              <a:avLst/>
            </a:prstGeom>
          </p:spPr>
        </p:pic>
        <p:sp>
          <p:nvSpPr>
            <p:cNvPr id="26" name="AutoShape 26"/>
            <p:cNvSpPr/>
            <p:nvPr/>
          </p:nvSpPr>
          <p:spPr>
            <a:xfrm>
              <a:off x="7239000" y="5372100"/>
              <a:ext cx="412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课程安排：2天/12课时</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深度沉浸式工作坊，每日6课时，确保实战转化。</a:t>
              </a:r>
            </a:p>
          </p:txBody>
        </p:sp>
      </p:grpSp>
      <p:sp>
        <p:nvSpPr>
          <p:cNvPr id="27" name="AutoShape 7">
            <a:extLst>
              <a:ext uri="{FF2B5EF4-FFF2-40B4-BE49-F238E27FC236}">
                <a16:creationId xmlns:a16="http://schemas.microsoft.com/office/drawing/2014/main" id="{4CB8E3E9-4A97-3B3B-770E-A3464615E377}"/>
              </a:ext>
            </a:extLst>
          </p:cNvPr>
          <p:cNvSpPr/>
          <p:nvPr/>
        </p:nvSpPr>
        <p:spPr>
          <a:xfrm>
            <a:off x="635000" y="5039962"/>
            <a:ext cx="5080000" cy="1056037"/>
          </a:xfrm>
          <a:prstGeom prst="roundRect">
            <a:avLst>
              <a:gd name="adj" fmla="val 13333"/>
            </a:avLst>
          </a:prstGeom>
          <a:solidFill>
            <a:srgbClr val="800BF5"/>
          </a:solidFill>
          <a:ln w="25400" cap="flat" cmpd="sng">
            <a:noFill/>
            <a:prstDash val="solid"/>
            <a:round/>
          </a:ln>
          <a:effectLst>
            <a:outerShdw blurRad="152400" dist="63500" dir="2700000" algn="tl" rotWithShape="0">
              <a:srgbClr val="7B61FF">
                <a:alpha val="25000"/>
              </a:srgbClr>
            </a:outerShdw>
          </a:effectLst>
        </p:spPr>
        <p:txBody>
          <a:bodyPr vert="horz" wrap="square" lIns="0" tIns="0" rIns="0" bIns="0" rtlCol="0" anchor="ctr" anchorCtr="0"/>
          <a:lstStyle/>
          <a:p>
            <a:pPr algn="ctr">
              <a:lnSpc>
                <a:spcPct val="125000"/>
              </a:lnSpc>
              <a:defRPr/>
            </a:pPr>
            <a:r>
              <a:rPr lang="en-US" sz="1600" b="1" dirty="0" err="1">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重构人力资源管理理念</a:t>
            </a: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 </a:t>
            </a:r>
            <a:r>
              <a:rPr lang="en-US" sz="1600" b="1" dirty="0" err="1">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追求人效提升和利润增长</a:t>
            </a:r>
            <a:endParaRPr lang="en-US" sz="1600" b="1"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algn="ctr">
              <a:lnSpc>
                <a:spcPct val="125000"/>
              </a:lnSpc>
              <a:spcBef>
                <a:spcPts val="1200"/>
              </a:spcBef>
              <a:defRPr/>
            </a:pPr>
            <a:r>
              <a:rPr lang="zh-CN" altLang="en-US" sz="1100" dirty="0">
                <a:solidFill>
                  <a:srgbClr val="FFFFFF">
                    <a:alpha val="80000"/>
                  </a:srgbClr>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掌握构建“人力资本价值经营”体系的系统方法论</a:t>
            </a:r>
            <a:endParaRPr lang="en-US" altLang="zh-CN" sz="1100" dirty="0">
              <a:solidFill>
                <a:srgbClr val="FFFFFF">
                  <a:alpha val="80000"/>
                </a:srgbClr>
              </a:solidFill>
              <a:latin typeface="微软雅黑" panose="020B0503020204020204" pitchFamily="34" charset="-122"/>
              <a:ea typeface="微软雅黑" panose="020B0503020204020204" pitchFamily="34" charset="-122"/>
              <a:cs typeface="Noto Sans NKo" panose="020B0502040504020204" pitchFamily="34" charset="0"/>
              <a:sym typeface="微软雅黑" panose="020B0503020204020204" pitchFamily="34" charset="-122"/>
            </a:endParaRPr>
          </a:p>
        </p:txBody>
      </p:sp>
      <p:cxnSp>
        <p:nvCxnSpPr>
          <p:cNvPr id="29" name="Connector 5">
            <a:extLst>
              <a:ext uri="{FF2B5EF4-FFF2-40B4-BE49-F238E27FC236}">
                <a16:creationId xmlns:a16="http://schemas.microsoft.com/office/drawing/2014/main" id="{7AA54A66-849E-100B-4695-576922AEA97A}"/>
              </a:ext>
            </a:extLst>
          </p:cNvPr>
          <p:cNvCxnSpPr/>
          <p:nvPr/>
        </p:nvCxnSpPr>
        <p:spPr>
          <a:xfrm rot="-3997">
            <a:off x="635003" y="1492250"/>
            <a:ext cx="10922000" cy="12700"/>
          </a:xfrm>
          <a:prstGeom prst="straightConnector1">
            <a:avLst/>
          </a:prstGeom>
          <a:solidFill>
            <a:srgbClr val="DEE0E3">
              <a:alpha val="100000"/>
            </a:srgbClr>
          </a:solidFill>
          <a:ln w="25400" cap="flat" cmpd="sng">
            <a:solidFill>
              <a:srgbClr val="7B61FF">
                <a:alpha val="100000"/>
              </a:srgbClr>
            </a:solidFill>
            <a:prstDash val="solid"/>
            <a:round/>
            <a:headEnd type="none" w="lg" len="lg"/>
            <a:tailEnd type="none" w="lg" len="lg"/>
          </a:ln>
        </p:spPr>
      </p:cxnSp>
      <p:sp>
        <p:nvSpPr>
          <p:cNvPr id="2" name="AutoShape 11">
            <a:extLst>
              <a:ext uri="{FF2B5EF4-FFF2-40B4-BE49-F238E27FC236}">
                <a16:creationId xmlns:a16="http://schemas.microsoft.com/office/drawing/2014/main" id="{25C5A68F-7067-A985-37B6-030D6B3B6446}"/>
              </a:ext>
            </a:extLst>
          </p:cNvPr>
          <p:cNvSpPr/>
          <p:nvPr/>
        </p:nvSpPr>
        <p:spPr>
          <a:xfrm>
            <a:off x="609600" y="1651000"/>
            <a:ext cx="5105400" cy="3306312"/>
          </a:xfrm>
          <a:prstGeom prst="roundRect">
            <a:avLst>
              <a:gd name="adj" fmla="val 5947"/>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AutoShape 14">
            <a:extLst>
              <a:ext uri="{FF2B5EF4-FFF2-40B4-BE49-F238E27FC236}">
                <a16:creationId xmlns:a16="http://schemas.microsoft.com/office/drawing/2014/main" id="{C8EE2A6B-595E-7DB2-54F3-8D3B18917C99}"/>
              </a:ext>
            </a:extLst>
          </p:cNvPr>
          <p:cNvSpPr/>
          <p:nvPr/>
        </p:nvSpPr>
        <p:spPr>
          <a:xfrm>
            <a:off x="899885" y="2113418"/>
            <a:ext cx="4550229" cy="2547257"/>
          </a:xfrm>
          <a:prstGeom prst="rect">
            <a:avLst/>
          </a:prstGeom>
          <a:noFill/>
          <a:ln w="12700" cap="flat" cmpd="sng">
            <a:noFill/>
            <a:prstDash val="solid"/>
            <a:round/>
          </a:ln>
        </p:spPr>
        <p:txBody>
          <a:bodyPr vert="horz" wrap="square" lIns="0" tIns="0" rIns="0" bIns="0" rtlCol="0" anchor="ctr" anchorCtr="0"/>
          <a:lstStyle/>
          <a:p>
            <a:pPr indent="0" algn="just">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背景：从</a:t>
            </a:r>
            <a:r>
              <a:rPr lang="zh-CN" alt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人力成本管控</a:t>
            </a:r>
            <a:r>
              <a:rPr lang="zh-CN" alt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到</a:t>
            </a:r>
            <a:r>
              <a:rPr lang="zh-CN" alt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人力资本价值经营</a:t>
            </a:r>
            <a:r>
              <a:rPr lang="zh-CN" alt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200" b="1"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indent="0" algn="just">
              <a:lnSpc>
                <a:spcPct val="125000"/>
              </a:lnSpc>
              <a:defRPr/>
            </a:pPr>
            <a:endParaRPr lang="en-US" altLang="zh-CN" sz="12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endParaRPr>
          </a:p>
          <a:p>
            <a:pPr algn="l">
              <a:spcAft>
                <a:spcPts val="600"/>
              </a:spcAft>
            </a:pPr>
            <a:r>
              <a:rPr lang="zh-CN" altLang="en-US" sz="1200" dirty="0">
                <a:solidFill>
                  <a:srgbClr val="666666"/>
                </a:solidFill>
                <a:latin typeface="微软雅黑" panose="020B0503020204020204" pitchFamily="34" charset="-122"/>
                <a:ea typeface="微软雅黑" panose="020B0503020204020204" pitchFamily="34" charset="-122"/>
              </a:rPr>
              <a:t>人机共智时代，“人</a:t>
            </a:r>
            <a:r>
              <a:rPr lang="en-US" altLang="zh-CN" sz="1200" dirty="0">
                <a:solidFill>
                  <a:srgbClr val="666666"/>
                </a:solidFill>
                <a:latin typeface="微软雅黑" panose="020B0503020204020204" pitchFamily="34" charset="-122"/>
                <a:ea typeface="微软雅黑" panose="020B0503020204020204" pitchFamily="34" charset="-122"/>
              </a:rPr>
              <a:t>+</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成为企业核心生产要素。企业既要保证投入，又要追求回报最大化，人效因此成为经营首要议题。</a:t>
            </a:r>
          </a:p>
          <a:p>
            <a:pPr algn="l">
              <a:spcAft>
                <a:spcPts val="600"/>
              </a:spcAft>
            </a:pPr>
            <a:r>
              <a:rPr lang="zh-CN" altLang="en-US" sz="1200" dirty="0">
                <a:solidFill>
                  <a:srgbClr val="666666"/>
                </a:solidFill>
                <a:latin typeface="微软雅黑" panose="020B0503020204020204" pitchFamily="34" charset="-122"/>
                <a:ea typeface="微软雅黑" panose="020B0503020204020204" pitchFamily="34" charset="-122"/>
              </a:rPr>
              <a:t>传统降本手段（粗暴裁员、硬卡预算）不可持续，静态人效管理已无法适应动态发展。</a:t>
            </a:r>
          </a:p>
          <a:p>
            <a:pPr algn="l">
              <a:spcAft>
                <a:spcPts val="600"/>
              </a:spcAft>
            </a:pPr>
            <a:r>
              <a:rPr lang="zh-CN" altLang="en-US" sz="1200" dirty="0">
                <a:solidFill>
                  <a:srgbClr val="666666"/>
                </a:solidFill>
                <a:latin typeface="微软雅黑" panose="020B0503020204020204" pitchFamily="34" charset="-122"/>
                <a:ea typeface="微软雅黑" panose="020B0503020204020204" pitchFamily="34" charset="-122"/>
              </a:rPr>
              <a:t>瑞华智策推出“人力资本价值经营解决方案”，以 </a:t>
            </a:r>
            <a:r>
              <a:rPr lang="en" altLang="zh-CN" sz="1200" dirty="0">
                <a:solidFill>
                  <a:srgbClr val="666666"/>
                </a:solidFill>
                <a:latin typeface="微软雅黑" panose="020B0503020204020204" pitchFamily="34" charset="-122"/>
                <a:ea typeface="微软雅黑" panose="020B0503020204020204" pitchFamily="34" charset="-122"/>
              </a:rPr>
              <a:t>R = MAP × ACE </a:t>
            </a:r>
            <a:r>
              <a:rPr lang="zh-CN" altLang="en-US" sz="1200" dirty="0">
                <a:solidFill>
                  <a:srgbClr val="666666"/>
                </a:solidFill>
                <a:latin typeface="微软雅黑" panose="020B0503020204020204" pitchFamily="34" charset="-122"/>
                <a:ea typeface="微软雅黑" panose="020B0503020204020204" pitchFamily="34" charset="-122"/>
              </a:rPr>
              <a:t>为底层模型，从“降本</a:t>
            </a:r>
            <a:r>
              <a:rPr lang="en-US" altLang="zh-CN" sz="1200" dirty="0">
                <a:solidFill>
                  <a:srgbClr val="666666"/>
                </a:solidFill>
                <a:latin typeface="微软雅黑" panose="020B0503020204020204" pitchFamily="34" charset="-122"/>
                <a:ea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rPr>
              <a:t>提效</a:t>
            </a:r>
            <a:r>
              <a:rPr lang="en-US" altLang="zh-CN" sz="1200" dirty="0">
                <a:solidFill>
                  <a:srgbClr val="666666"/>
                </a:solidFill>
                <a:latin typeface="微软雅黑" panose="020B0503020204020204" pitchFamily="34" charset="-122"/>
                <a:ea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rPr>
              <a:t>价值创造”多维度入手，用数据动态检视投入，挖掘人效提升点，优化管理及业务策略。</a:t>
            </a:r>
          </a:p>
          <a:p>
            <a:pPr algn="l">
              <a:spcAft>
                <a:spcPts val="600"/>
              </a:spcAft>
            </a:pPr>
            <a:r>
              <a:rPr lang="zh-CN" altLang="en-US" sz="1200" b="1" dirty="0">
                <a:solidFill>
                  <a:srgbClr val="7547EC"/>
                </a:solidFill>
                <a:latin typeface="微软雅黑" panose="020B0503020204020204" pitchFamily="34" charset="-122"/>
                <a:ea typeface="微软雅黑" panose="020B0503020204020204" pitchFamily="34" charset="-122"/>
              </a:rPr>
              <a:t>工作坊目标：</a:t>
            </a:r>
            <a:r>
              <a:rPr lang="zh-CN" altLang="en-US" sz="1200" dirty="0">
                <a:solidFill>
                  <a:srgbClr val="666666"/>
                </a:solidFill>
                <a:latin typeface="微软雅黑" panose="020B0503020204020204" pitchFamily="34" charset="-122"/>
                <a:ea typeface="微软雅黑" panose="020B0503020204020204" pitchFamily="34" charset="-122"/>
              </a:rPr>
              <a:t>帮助决策层掌握</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驱动的动态人效方法论与工具</a:t>
            </a:r>
            <a:r>
              <a:rPr lang="en-US" altLang="zh-CN" sz="1200" dirty="0">
                <a:solidFill>
                  <a:srgbClr val="666666"/>
                </a:solidFill>
                <a:latin typeface="微软雅黑" panose="020B0503020204020204" pitchFamily="34" charset="-122"/>
                <a:ea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rPr>
              <a:t>通过人机协同精准定位问题并设计方案，再借助</a:t>
            </a:r>
            <a:r>
              <a:rPr lang="en" altLang="zh-CN" sz="1200" dirty="0">
                <a:solidFill>
                  <a:srgbClr val="666666"/>
                </a:solidFill>
                <a:latin typeface="微软雅黑" panose="020B0503020204020204" pitchFamily="34" charset="-122"/>
                <a:ea typeface="微软雅黑" panose="020B0503020204020204" pitchFamily="34" charset="-122"/>
              </a:rPr>
              <a:t>HCVM</a:t>
            </a:r>
            <a:r>
              <a:rPr lang="zh-CN" altLang="en-US" sz="1200" dirty="0">
                <a:solidFill>
                  <a:srgbClr val="666666"/>
                </a:solidFill>
                <a:latin typeface="微软雅黑" panose="020B0503020204020204" pitchFamily="34" charset="-122"/>
                <a:ea typeface="微软雅黑" panose="020B0503020204020204" pitchFamily="34" charset="-122"/>
              </a:rPr>
              <a:t>平台持续护航，实现人效优化闭环。</a:t>
            </a:r>
          </a:p>
        </p:txBody>
      </p:sp>
      <p:sp>
        <p:nvSpPr>
          <p:cNvPr id="5" name="标题 1">
            <a:extLst>
              <a:ext uri="{FF2B5EF4-FFF2-40B4-BE49-F238E27FC236}">
                <a16:creationId xmlns:a16="http://schemas.microsoft.com/office/drawing/2014/main" id="{E707978C-2F93-0A10-5DB2-A076506C9CD4}"/>
              </a:ext>
            </a:extLst>
          </p:cNvPr>
          <p:cNvSpPr txBox="1"/>
          <p:nvPr/>
        </p:nvSpPr>
        <p:spPr>
          <a:xfrm>
            <a:off x="354503" y="720014"/>
            <a:ext cx="9731606"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二、</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t>
            </a: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打造</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AI</a:t>
            </a: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驱动的动态人效管理体系工作坊</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t>
            </a:r>
          </a:p>
        </p:txBody>
      </p:sp>
    </p:spTree>
    <p:extLst>
      <p:ext uri="{BB962C8B-B14F-4D97-AF65-F5344CB8AC3E}">
        <p14:creationId xmlns:p14="http://schemas.microsoft.com/office/powerpoint/2010/main" val="3862923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508000" y="-876300"/>
            <a:ext cx="11176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400" b="1" i="0" u="none" strike="noStrike" dirty="0" err="1">
                <a:solidFill>
                  <a:srgbClr val="7B61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工作坊课程大纲</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AutoShape 4"/>
          <p:cNvSpPr/>
          <p:nvPr/>
        </p:nvSpPr>
        <p:spPr>
          <a:xfrm>
            <a:off x="635000" y="1365250"/>
            <a:ext cx="10922000" cy="952500"/>
          </a:xfrm>
          <a:prstGeom prst="roundRect">
            <a:avLst>
              <a:gd name="adj" fmla="val 13333"/>
            </a:avLst>
          </a:prstGeom>
          <a:solidFill>
            <a:schemeClr val="bg1">
              <a:lumMod val="95000"/>
              <a:alpha val="90000"/>
            </a:schemeClr>
          </a:solidFill>
          <a:ln w="19050">
            <a:solidFill>
              <a:srgbClr val="800BF5">
                <a:alpha val="70000"/>
              </a:srgb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581150"/>
            <a:ext cx="508000" cy="508000"/>
          </a:xfrm>
          <a:prstGeom prst="rect">
            <a:avLst/>
          </a:prstGeom>
          <a:effectLst>
            <a:outerShdw blurRad="76200" dist="114300" dir="2700000" algn="tl" rotWithShape="0">
              <a:prstClr val="black">
                <a:alpha val="12000"/>
              </a:prstClr>
            </a:outerShdw>
            <a:softEdge rad="6350"/>
          </a:effectLst>
        </p:spPr>
      </p:pic>
      <p:sp>
        <p:nvSpPr>
          <p:cNvPr id="6" name="AutoShape 6"/>
          <p:cNvSpPr/>
          <p:nvPr/>
        </p:nvSpPr>
        <p:spPr>
          <a:xfrm>
            <a:off x="1651000" y="1454150"/>
            <a:ext cx="990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交付形式：线下封闭式工作坊</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sz="1300" b="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讲授30% + 工具实操40% + 学员案例拆解20% + 讨论10%</a:t>
            </a:r>
          </a:p>
        </p:txBody>
      </p:sp>
      <p:sp>
        <p:nvSpPr>
          <p:cNvPr id="7" name="AutoShape 7"/>
          <p:cNvSpPr/>
          <p:nvPr/>
        </p:nvSpPr>
        <p:spPr>
          <a:xfrm>
            <a:off x="635000" y="2412999"/>
            <a:ext cx="2082800" cy="3867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AutoShape 8"/>
          <p:cNvSpPr/>
          <p:nvPr/>
        </p:nvSpPr>
        <p:spPr>
          <a:xfrm>
            <a:off x="1168400" y="2547080"/>
            <a:ext cx="1016000" cy="10160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22400" y="2801080"/>
            <a:ext cx="508000" cy="508000"/>
          </a:xfrm>
          <a:prstGeom prst="rect">
            <a:avLst/>
          </a:prstGeom>
          <a:effectLst>
            <a:outerShdw blurRad="76200" dist="114300" dir="2700000" algn="tl" rotWithShape="0">
              <a:prstClr val="black">
                <a:alpha val="12000"/>
              </a:prstClr>
            </a:outerShdw>
            <a:softEdge rad="6350"/>
          </a:effectLst>
        </p:spPr>
      </p:pic>
      <p:sp>
        <p:nvSpPr>
          <p:cNvPr id="10" name="AutoShape 10"/>
          <p:cNvSpPr/>
          <p:nvPr/>
        </p:nvSpPr>
        <p:spPr>
          <a:xfrm>
            <a:off x="899160" y="3675090"/>
            <a:ext cx="1554480" cy="2327986"/>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模块1：</a:t>
            </a:r>
          </a:p>
          <a:p>
            <a:pPr indent="0" algn="ctr">
              <a:lnSpc>
                <a:spcPct val="100000"/>
              </a:lnSpc>
              <a:defRPr/>
            </a:pPr>
            <a:r>
              <a:rPr lang="en-US" altLang="zh-CN" sz="15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HC</a:t>
            </a:r>
            <a:r>
              <a:rPr lang="en-US" altLang="zh-CN" sz="1500" b="1"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VM</a:t>
            </a:r>
            <a:r>
              <a:rPr lang="en-US" sz="15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体系讲解</a:t>
            </a:r>
            <a:endParaRPr lang="en-US" sz="15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1.5课时</a:t>
            </a:r>
          </a:p>
          <a:p>
            <a:pPr algn="just">
              <a:lnSpc>
                <a:spcPct val="108333"/>
              </a:lnSpc>
              <a:spcBef>
                <a:spcPts val="1000"/>
              </a:spcBef>
            </a:pPr>
            <a:r>
              <a:rPr lang="zh-CN" altLang="en-US" sz="1200" dirty="0">
                <a:solidFill>
                  <a:srgbClr val="666666"/>
                </a:solidFill>
                <a:latin typeface="微软雅黑" panose="020B0503020204020204" pitchFamily="34" charset="-122"/>
                <a:ea typeface="微软雅黑" panose="020B0503020204020204" pitchFamily="34" charset="-122"/>
              </a:rPr>
              <a:t>建立理念共识：在新质生产力时代，企业必须从“管控人力”转向“经营人力资本价值”，理解驱动人效持续优化的核心管理范式。</a:t>
            </a:r>
            <a:endPar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11" name="AutoShape 11"/>
          <p:cNvSpPr/>
          <p:nvPr/>
        </p:nvSpPr>
        <p:spPr>
          <a:xfrm>
            <a:off x="2844800" y="2412999"/>
            <a:ext cx="2082800" cy="3867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AutoShape 12"/>
          <p:cNvSpPr/>
          <p:nvPr/>
        </p:nvSpPr>
        <p:spPr>
          <a:xfrm>
            <a:off x="3378200" y="2547080"/>
            <a:ext cx="1016000" cy="10160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32200" y="2801080"/>
            <a:ext cx="508000" cy="508000"/>
          </a:xfrm>
          <a:prstGeom prst="rect">
            <a:avLst/>
          </a:prstGeom>
          <a:effectLst>
            <a:outerShdw blurRad="76200" dist="114300" dir="2700000" algn="tl" rotWithShape="0">
              <a:prstClr val="black">
                <a:alpha val="12000"/>
              </a:prstClr>
            </a:outerShdw>
            <a:softEdge rad="6350"/>
          </a:effectLst>
        </p:spPr>
      </p:pic>
      <p:sp>
        <p:nvSpPr>
          <p:cNvPr id="14" name="AutoShape 14"/>
          <p:cNvSpPr/>
          <p:nvPr/>
        </p:nvSpPr>
        <p:spPr>
          <a:xfrm>
            <a:off x="3116580" y="3675090"/>
            <a:ext cx="1539240" cy="16510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模块2：</a:t>
            </a:r>
          </a:p>
          <a:p>
            <a:pPr indent="0" algn="ctr">
              <a:lnSpc>
                <a:spcPct val="100000"/>
              </a:lnSpc>
              <a:defRPr/>
            </a:pPr>
            <a:r>
              <a:rPr lang="en-US" sz="15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诊断模型与演练</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4课时</a:t>
            </a:r>
          </a:p>
          <a:p>
            <a:pPr indent="0" algn="just">
              <a:lnSpc>
                <a:spcPct val="108333"/>
              </a:lnSpc>
              <a:spcBef>
                <a:spcPts val="1000"/>
              </a:spcBef>
            </a:pP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掌握</a:t>
            </a:r>
            <a:r>
              <a:rPr lang="en-US" altLang="zh-CN"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R</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MAP×ACE</a:t>
            </a:r>
            <a:r>
              <a:rPr lang="en-US" altLang="zh-CN"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原创模型，</a:t>
            </a: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在</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诊断Agent辅助下</a:t>
            </a:r>
            <a:r>
              <a:rPr lang="zh-CN" alt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进行系统性组织人效诊断</a:t>
            </a:r>
            <a:r>
              <a:rPr lang="zh-CN" alt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，发现组织层面和业务层面的人效提升点</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sp>
        <p:nvSpPr>
          <p:cNvPr id="15" name="AutoShape 15"/>
          <p:cNvSpPr/>
          <p:nvPr/>
        </p:nvSpPr>
        <p:spPr>
          <a:xfrm>
            <a:off x="5054600" y="2412999"/>
            <a:ext cx="2082800" cy="3867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AutoShape 16"/>
          <p:cNvSpPr/>
          <p:nvPr/>
        </p:nvSpPr>
        <p:spPr>
          <a:xfrm>
            <a:off x="5588000" y="2547080"/>
            <a:ext cx="1016000" cy="10160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42000" y="2801080"/>
            <a:ext cx="508000" cy="508000"/>
          </a:xfrm>
          <a:prstGeom prst="rect">
            <a:avLst/>
          </a:prstGeom>
          <a:effectLst>
            <a:outerShdw blurRad="76200" dist="114300" dir="2700000" algn="tl" rotWithShape="0">
              <a:prstClr val="black">
                <a:alpha val="12000"/>
              </a:prstClr>
            </a:outerShdw>
            <a:softEdge rad="6350"/>
          </a:effectLst>
        </p:spPr>
      </p:pic>
      <p:sp>
        <p:nvSpPr>
          <p:cNvPr id="18" name="AutoShape 18"/>
          <p:cNvSpPr/>
          <p:nvPr/>
        </p:nvSpPr>
        <p:spPr>
          <a:xfrm>
            <a:off x="5318760" y="3675090"/>
            <a:ext cx="1554480" cy="2462896"/>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模块3：</a:t>
            </a:r>
          </a:p>
          <a:p>
            <a:pPr indent="0" algn="ctr">
              <a:lnSpc>
                <a:spcPct val="100000"/>
              </a:lnSpc>
              <a:defRPr/>
            </a:pPr>
            <a:r>
              <a:rPr lang="en-US" sz="15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人效优化方案设计</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altLang="zh-CN" sz="1200"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4</a:t>
            </a: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课时</a:t>
            </a:r>
          </a:p>
          <a:p>
            <a:pPr indent="0" algn="just">
              <a:lnSpc>
                <a:spcPct val="108333"/>
              </a:lnSpc>
              <a:spcBef>
                <a:spcPts val="1000"/>
              </a:spcBef>
            </a:pP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根据人效诊断结果</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，根据潜在人效提升点，将解决方案细化到具体的人效提升行动计划，并规划合理的落地路径及工作优先级</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sp>
        <p:nvSpPr>
          <p:cNvPr id="19" name="AutoShape 19"/>
          <p:cNvSpPr/>
          <p:nvPr/>
        </p:nvSpPr>
        <p:spPr>
          <a:xfrm>
            <a:off x="7264400" y="2412999"/>
            <a:ext cx="2082800" cy="3867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AutoShape 20"/>
          <p:cNvSpPr/>
          <p:nvPr/>
        </p:nvSpPr>
        <p:spPr>
          <a:xfrm>
            <a:off x="7797800" y="2547080"/>
            <a:ext cx="1016000" cy="10160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051800" y="2801080"/>
            <a:ext cx="508000" cy="508000"/>
          </a:xfrm>
          <a:prstGeom prst="rect">
            <a:avLst/>
          </a:prstGeom>
          <a:effectLst>
            <a:outerShdw blurRad="76200" dist="114300" dir="2700000" algn="tl" rotWithShape="0">
              <a:prstClr val="black">
                <a:alpha val="12000"/>
              </a:prstClr>
            </a:outerShdw>
            <a:softEdge rad="6350"/>
          </a:effectLst>
        </p:spPr>
      </p:pic>
      <p:sp>
        <p:nvSpPr>
          <p:cNvPr id="22" name="AutoShape 22"/>
          <p:cNvSpPr/>
          <p:nvPr/>
        </p:nvSpPr>
        <p:spPr>
          <a:xfrm>
            <a:off x="7528560" y="3675090"/>
            <a:ext cx="1554480" cy="2327986"/>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模块4：</a:t>
            </a:r>
          </a:p>
          <a:p>
            <a:pPr indent="0" algn="ctr">
              <a:lnSpc>
                <a:spcPct val="100000"/>
              </a:lnSpc>
              <a:defRPr/>
            </a:pPr>
            <a:r>
              <a:rPr lang="en-US" sz="15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数智化平台建设</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1.5课时</a:t>
            </a:r>
          </a:p>
          <a:p>
            <a:pPr indent="0" algn="just">
              <a:lnSpc>
                <a:spcPct val="108333"/>
              </a:lnSpc>
              <a:spcBef>
                <a:spcPts val="1000"/>
              </a:spcBef>
            </a:pPr>
            <a:r>
              <a:rPr lang="en-US"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了解怎样的数智化平台能够支撑人效管理的常态化运行</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，规划</a:t>
            </a: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从诊断到平台上线的合理路径，构建企业内部长效的动态人效管理体系</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sp>
        <p:nvSpPr>
          <p:cNvPr id="23" name="AutoShape 23"/>
          <p:cNvSpPr/>
          <p:nvPr/>
        </p:nvSpPr>
        <p:spPr>
          <a:xfrm>
            <a:off x="9474200" y="2412999"/>
            <a:ext cx="2082800" cy="3867879"/>
          </a:xfrm>
          <a:prstGeom prst="roundRect">
            <a:avLst>
              <a:gd name="adj" fmla="val 4878"/>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AutoShape 24"/>
          <p:cNvSpPr/>
          <p:nvPr/>
        </p:nvSpPr>
        <p:spPr>
          <a:xfrm>
            <a:off x="10007600" y="2547080"/>
            <a:ext cx="1016000" cy="10160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261600" y="2801080"/>
            <a:ext cx="508000" cy="508000"/>
          </a:xfrm>
          <a:prstGeom prst="rect">
            <a:avLst/>
          </a:prstGeom>
          <a:effectLst>
            <a:outerShdw blurRad="76200" dist="114300" dir="2700000" algn="tl" rotWithShape="0">
              <a:prstClr val="black">
                <a:alpha val="12000"/>
              </a:prstClr>
            </a:outerShdw>
            <a:softEdge rad="6350"/>
          </a:effectLst>
        </p:spPr>
      </p:pic>
      <p:sp>
        <p:nvSpPr>
          <p:cNvPr id="26" name="AutoShape 26"/>
          <p:cNvSpPr/>
          <p:nvPr/>
        </p:nvSpPr>
        <p:spPr>
          <a:xfrm>
            <a:off x="9745980" y="3675090"/>
            <a:ext cx="1539240" cy="16510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5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模块5：</a:t>
            </a:r>
          </a:p>
          <a:p>
            <a:pPr indent="0" algn="ctr">
              <a:lnSpc>
                <a:spcPct val="100000"/>
              </a:lnSpc>
              <a:defRPr/>
            </a:pPr>
            <a:r>
              <a:rPr lang="en-US" sz="15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成果共创与承诺</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sz="1200" b="0" i="0" u="none" strike="noStrike" dirty="0">
                <a:solidFill>
                  <a:srgbClr val="FFFFFF"/>
                </a:solidFill>
                <a:highlight>
                  <a:srgbClr val="7B61FF">
                    <a:alpha val="100000"/>
                  </a:srgbClr>
                </a:highlight>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p>
          <a:p>
            <a:pPr indent="0" algn="just">
              <a:lnSpc>
                <a:spcPct val="108333"/>
              </a:lnSpc>
              <a:spcBef>
                <a:spcPts val="1000"/>
              </a:spcBef>
            </a:pPr>
            <a:r>
              <a:rPr lang="en-US"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固化成果，在课堂上形成可追踪的落地承诺，为后续内部的方案落地铺路</a:t>
            </a:r>
            <a:r>
              <a:rPr lang="en-US"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sp>
        <p:nvSpPr>
          <p:cNvPr id="2" name="标题 1">
            <a:extLst>
              <a:ext uri="{FF2B5EF4-FFF2-40B4-BE49-F238E27FC236}">
                <a16:creationId xmlns:a16="http://schemas.microsoft.com/office/drawing/2014/main" id="{EBFBE756-31A2-F95C-412E-1160C80A3E5A}"/>
              </a:ext>
            </a:extLst>
          </p:cNvPr>
          <p:cNvSpPr txBox="1"/>
          <p:nvPr/>
        </p:nvSpPr>
        <p:spPr>
          <a:xfrm>
            <a:off x="354503" y="720014"/>
            <a:ext cx="8718377"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工作坊课程大纲</a:t>
            </a:r>
            <a:endPar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endParaRPr>
          </a:p>
        </p:txBody>
      </p:sp>
    </p:spTree>
    <p:extLst>
      <p:ext uri="{BB962C8B-B14F-4D97-AF65-F5344CB8AC3E}">
        <p14:creationId xmlns:p14="http://schemas.microsoft.com/office/powerpoint/2010/main" val="248127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C0EEA4AB-DB77-1546-AC70-2B5C9E4E1B7C}"/>
              </a:ext>
            </a:extLst>
          </p:cNvPr>
          <p:cNvGrpSpPr/>
          <p:nvPr/>
        </p:nvGrpSpPr>
        <p:grpSpPr>
          <a:xfrm>
            <a:off x="5935980" y="1651000"/>
            <a:ext cx="5646420" cy="4445000"/>
            <a:chOff x="6096000" y="1651000"/>
            <a:chExt cx="5486400" cy="4937760"/>
          </a:xfrm>
        </p:grpSpPr>
        <p:sp>
          <p:nvSpPr>
            <p:cNvPr id="20" name="AutoShape 15">
              <a:extLst>
                <a:ext uri="{FF2B5EF4-FFF2-40B4-BE49-F238E27FC236}">
                  <a16:creationId xmlns:a16="http://schemas.microsoft.com/office/drawing/2014/main" id="{84D926C4-FD35-5540-F8EC-16DDE43ECD27}"/>
                </a:ext>
              </a:extLst>
            </p:cNvPr>
            <p:cNvSpPr/>
            <p:nvPr/>
          </p:nvSpPr>
          <p:spPr>
            <a:xfrm>
              <a:off x="6096000" y="165100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AutoShape 15">
              <a:extLst>
                <a:ext uri="{FF2B5EF4-FFF2-40B4-BE49-F238E27FC236}">
                  <a16:creationId xmlns:a16="http://schemas.microsoft.com/office/drawing/2014/main" id="{3336F202-C2DF-D366-DDE2-57397D08CA24}"/>
                </a:ext>
              </a:extLst>
            </p:cNvPr>
            <p:cNvSpPr/>
            <p:nvPr/>
          </p:nvSpPr>
          <p:spPr>
            <a:xfrm>
              <a:off x="6096000" y="291592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AutoShape 15">
              <a:extLst>
                <a:ext uri="{FF2B5EF4-FFF2-40B4-BE49-F238E27FC236}">
                  <a16:creationId xmlns:a16="http://schemas.microsoft.com/office/drawing/2014/main" id="{5528BEEE-3500-4B8D-7849-CBBB3BA2EC77}"/>
                </a:ext>
              </a:extLst>
            </p:cNvPr>
            <p:cNvSpPr/>
            <p:nvPr/>
          </p:nvSpPr>
          <p:spPr>
            <a:xfrm>
              <a:off x="6096000" y="418084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AutoShape 15">
              <a:extLst>
                <a:ext uri="{FF2B5EF4-FFF2-40B4-BE49-F238E27FC236}">
                  <a16:creationId xmlns:a16="http://schemas.microsoft.com/office/drawing/2014/main" id="{CB9343EB-976B-6993-2F75-5316463C14F4}"/>
                </a:ext>
              </a:extLst>
            </p:cNvPr>
            <p:cNvSpPr/>
            <p:nvPr/>
          </p:nvSpPr>
          <p:spPr>
            <a:xfrm>
              <a:off x="6096000" y="5445760"/>
              <a:ext cx="5486400" cy="1143000"/>
            </a:xfrm>
            <a:prstGeom prst="roundRect">
              <a:avLst>
                <a:gd name="adj" fmla="val 11111"/>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AutoShape 7"/>
          <p:cNvSpPr/>
          <p:nvPr/>
        </p:nvSpPr>
        <p:spPr>
          <a:xfrm>
            <a:off x="635000" y="5067064"/>
            <a:ext cx="5080000" cy="1033247"/>
          </a:xfrm>
          <a:prstGeom prst="roundRect">
            <a:avLst>
              <a:gd name="adj" fmla="val 13333"/>
            </a:avLst>
          </a:prstGeom>
          <a:solidFill>
            <a:srgbClr val="800BF5"/>
          </a:solidFill>
          <a:ln w="25400" cap="flat" cmpd="sng">
            <a:noFill/>
            <a:prstDash val="solid"/>
            <a:round/>
          </a:ln>
          <a:effectLst>
            <a:outerShdw blurRad="152400" dist="63500" dir="2700000" algn="tl" rotWithShape="0">
              <a:srgbClr val="7B61FF">
                <a:alpha val="25000"/>
              </a:srgbClr>
            </a:outerShdw>
          </a:effectLst>
        </p:spPr>
        <p:txBody>
          <a:bodyPr vert="horz" wrap="square" lIns="0" tIns="0" rIns="0" bIns="0" rtlCol="0" anchor="ctr" anchorCtr="0"/>
          <a:lstStyle/>
          <a:p>
            <a:pPr indent="0" algn="ctr">
              <a:lnSpc>
                <a:spcPct val="125000"/>
              </a:lnSpc>
              <a:defRPr/>
            </a:pP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重构人机协作模式</a:t>
            </a:r>
            <a:r>
              <a:rPr lang="en-US" sz="1600" b="1" i="0" u="none" strike="noStrike" dirty="0">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 </a:t>
            </a:r>
            <a:r>
              <a:rPr lang="en-US" sz="1600" b="1" i="0" u="none" strike="noStrike" dirty="0" err="1">
                <a:solidFill>
                  <a:srgbClr val="FFFF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升级组织核心能力</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a:p>
            <a:pPr indent="0" algn="ctr">
              <a:lnSpc>
                <a:spcPct val="125000"/>
              </a:lnSpc>
              <a:spcBef>
                <a:spcPts val="800"/>
              </a:spcBef>
            </a:pPr>
            <a:r>
              <a:rPr lang="en-US" sz="1200" b="0" i="0" u="none" strike="noStrike" dirty="0" err="1">
                <a:solidFill>
                  <a:srgbClr val="FFFFFF">
                    <a:alpha val="80000"/>
                  </a:srgbClr>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从对话模型到并肩作战的硅基员工</a:t>
            </a:r>
            <a:endParaRPr lang="en-US" sz="1200" b="0" i="0" u="none" strike="noStrike" dirty="0">
              <a:solidFill>
                <a:srgbClr val="FFFFFF">
                  <a:alpha val="80000"/>
                </a:srgbClr>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nvGrpSpPr>
          <p:cNvPr id="28" name="组合 27">
            <a:extLst>
              <a:ext uri="{FF2B5EF4-FFF2-40B4-BE49-F238E27FC236}">
                <a16:creationId xmlns:a16="http://schemas.microsoft.com/office/drawing/2014/main" id="{F4526435-EC83-910B-78B3-DD86D2C9D6B2}"/>
              </a:ext>
            </a:extLst>
          </p:cNvPr>
          <p:cNvGrpSpPr/>
          <p:nvPr/>
        </p:nvGrpSpPr>
        <p:grpSpPr>
          <a:xfrm>
            <a:off x="6267450" y="2898140"/>
            <a:ext cx="5035550" cy="762000"/>
            <a:chOff x="6267450" y="2882900"/>
            <a:chExt cx="5035550" cy="762000"/>
          </a:xfrm>
        </p:grpSpPr>
        <p:sp>
          <p:nvSpPr>
            <p:cNvPr id="27" name="AutoShape 12">
              <a:extLst>
                <a:ext uri="{FF2B5EF4-FFF2-40B4-BE49-F238E27FC236}">
                  <a16:creationId xmlns:a16="http://schemas.microsoft.com/office/drawing/2014/main" id="{1F1057A8-E067-3574-02A8-CA1ED015A228}"/>
                </a:ext>
              </a:extLst>
            </p:cNvPr>
            <p:cNvSpPr/>
            <p:nvPr/>
          </p:nvSpPr>
          <p:spPr>
            <a:xfrm>
              <a:off x="6267450" y="288290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6350" y="3009900"/>
              <a:ext cx="508000" cy="508000"/>
            </a:xfrm>
            <a:prstGeom prst="rect">
              <a:avLst/>
            </a:prstGeom>
          </p:spPr>
        </p:pic>
        <p:sp>
          <p:nvSpPr>
            <p:cNvPr id="13" name="AutoShape 13"/>
            <p:cNvSpPr/>
            <p:nvPr/>
          </p:nvSpPr>
          <p:spPr>
            <a:xfrm>
              <a:off x="7048500" y="2882900"/>
              <a:ext cx="4254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核心价值：理念跃迁与工具落地</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spcBef>
                  <a:spcPts val="400"/>
                </a:spcBef>
              </a:pPr>
              <a:r>
                <a:rPr lang="en-US" sz="1200" b="0" i="0" u="none" strike="noStrike" dirty="0" err="1">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升级AI时代人力资源管理理念，掌握混合劳动力下的组织设计与人力规划实操工具</a:t>
              </a:r>
              <a:r>
                <a:rPr lang="en-US" sz="1200" b="0" i="0" u="none" strike="noStrike" dirty="0">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p:txBody>
        </p:sp>
      </p:grpSp>
      <p:grpSp>
        <p:nvGrpSpPr>
          <p:cNvPr id="32" name="组合 31">
            <a:extLst>
              <a:ext uri="{FF2B5EF4-FFF2-40B4-BE49-F238E27FC236}">
                <a16:creationId xmlns:a16="http://schemas.microsoft.com/office/drawing/2014/main" id="{9EFC9319-59E8-1C54-CB2B-B8652DA693C9}"/>
              </a:ext>
            </a:extLst>
          </p:cNvPr>
          <p:cNvGrpSpPr/>
          <p:nvPr/>
        </p:nvGrpSpPr>
        <p:grpSpPr>
          <a:xfrm>
            <a:off x="6252210" y="4066540"/>
            <a:ext cx="5050790" cy="762000"/>
            <a:chOff x="6252210" y="4089400"/>
            <a:chExt cx="5050790" cy="762000"/>
          </a:xfrm>
        </p:grpSpPr>
        <p:sp>
          <p:nvSpPr>
            <p:cNvPr id="30" name="AutoShape 12">
              <a:extLst>
                <a:ext uri="{FF2B5EF4-FFF2-40B4-BE49-F238E27FC236}">
                  <a16:creationId xmlns:a16="http://schemas.microsoft.com/office/drawing/2014/main" id="{226E31A3-3163-ADFC-8922-4F0EB7934E42}"/>
                </a:ext>
              </a:extLst>
            </p:cNvPr>
            <p:cNvSpPr/>
            <p:nvPr/>
          </p:nvSpPr>
          <p:spPr>
            <a:xfrm>
              <a:off x="6252210" y="4143829"/>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41110" y="4232729"/>
              <a:ext cx="508000" cy="508000"/>
            </a:xfrm>
            <a:prstGeom prst="rect">
              <a:avLst/>
            </a:prstGeom>
          </p:spPr>
        </p:pic>
        <p:sp>
          <p:nvSpPr>
            <p:cNvPr id="16" name="AutoShape 16"/>
            <p:cNvSpPr/>
            <p:nvPr/>
          </p:nvSpPr>
          <p:spPr>
            <a:xfrm>
              <a:off x="7048500" y="4089400"/>
              <a:ext cx="4254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目标人群：决策层与HR团队</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ct val="125000"/>
                </a:lnSpc>
                <a:spcBef>
                  <a:spcPts val="400"/>
                </a:spcBef>
                <a:buFont typeface="Arial" panose="020B0604020202020204" pitchFamily="34" charset="0"/>
                <a:buChar char="•"/>
              </a:pPr>
              <a:r>
                <a:rPr lang="en-US" sz="1200" b="0" i="0" u="none" strike="noStrike" dirty="0" err="1">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CEO、业务负责人、CHO及HR核心团队</a:t>
              </a:r>
              <a:endParaRPr lang="en-US" sz="1200" b="0" i="0" u="none" strike="noStrike" dirty="0">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marL="171450" indent="-171450" algn="l">
                <a:lnSpc>
                  <a:spcPct val="125000"/>
                </a:lnSpc>
                <a:spcBef>
                  <a:spcPts val="400"/>
                </a:spcBef>
                <a:buFont typeface="Arial" panose="020B0604020202020204" pitchFamily="34" charset="0"/>
                <a:buChar char="•"/>
              </a:pPr>
              <a:r>
                <a:rPr lang="en-US" sz="1200" b="0" i="0" u="none" strike="noStrike" dirty="0" err="1">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科技</a:t>
              </a:r>
              <a:r>
                <a:rPr lang="en-US" sz="1200" b="0" i="0" u="none" strike="noStrike" dirty="0">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制造</a:t>
              </a:r>
              <a:r>
                <a:rPr lang="en-US" sz="1200" b="0" i="0" u="none" strike="noStrike" dirty="0">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200" b="0" i="0" u="none" strike="noStrike" dirty="0" err="1">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服务业的大中型企业</a:t>
              </a:r>
              <a:endParaRPr lang="en-US" sz="1200" b="0" i="0" u="none" strike="noStrike" dirty="0">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grpSp>
        <p:nvGrpSpPr>
          <p:cNvPr id="33" name="组合 32">
            <a:extLst>
              <a:ext uri="{FF2B5EF4-FFF2-40B4-BE49-F238E27FC236}">
                <a16:creationId xmlns:a16="http://schemas.microsoft.com/office/drawing/2014/main" id="{183ECE08-D9BC-8A09-DEC8-B1A0CC79A351}"/>
              </a:ext>
            </a:extLst>
          </p:cNvPr>
          <p:cNvGrpSpPr/>
          <p:nvPr/>
        </p:nvGrpSpPr>
        <p:grpSpPr>
          <a:xfrm>
            <a:off x="6252210" y="5233489"/>
            <a:ext cx="5050790" cy="685800"/>
            <a:chOff x="6252210" y="5233489"/>
            <a:chExt cx="5050790" cy="685800"/>
          </a:xfrm>
        </p:grpSpPr>
        <p:sp>
          <p:nvSpPr>
            <p:cNvPr id="31" name="AutoShape 12">
              <a:extLst>
                <a:ext uri="{FF2B5EF4-FFF2-40B4-BE49-F238E27FC236}">
                  <a16:creationId xmlns:a16="http://schemas.microsoft.com/office/drawing/2014/main" id="{F596D44C-8F75-1EB0-60F3-286ED3D7F024}"/>
                </a:ext>
              </a:extLst>
            </p:cNvPr>
            <p:cNvSpPr/>
            <p:nvPr/>
          </p:nvSpPr>
          <p:spPr>
            <a:xfrm>
              <a:off x="6252210" y="5233489"/>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99530" y="5373189"/>
              <a:ext cx="406400" cy="406400"/>
            </a:xfrm>
            <a:prstGeom prst="rect">
              <a:avLst/>
            </a:prstGeom>
          </p:spPr>
        </p:pic>
        <p:sp>
          <p:nvSpPr>
            <p:cNvPr id="19" name="AutoShape 19"/>
            <p:cNvSpPr/>
            <p:nvPr/>
          </p:nvSpPr>
          <p:spPr>
            <a:xfrm>
              <a:off x="7048500" y="5270500"/>
              <a:ext cx="42545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课程时长：2天高强度工作坊</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spcBef>
                  <a:spcPts val="300"/>
                </a:spcBef>
              </a:pPr>
              <a:r>
                <a:rPr lang="en-US" sz="1200" b="0" i="0" u="none" strike="noStrike" dirty="0">
                  <a:solidFill>
                    <a:srgbClr val="525252"/>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共6大核心模块，总计约12个课时深度实战。</a:t>
              </a:r>
            </a:p>
          </p:txBody>
        </p:sp>
      </p:grpSp>
      <p:grpSp>
        <p:nvGrpSpPr>
          <p:cNvPr id="29" name="组合 28">
            <a:extLst>
              <a:ext uri="{FF2B5EF4-FFF2-40B4-BE49-F238E27FC236}">
                <a16:creationId xmlns:a16="http://schemas.microsoft.com/office/drawing/2014/main" id="{F0EE4B57-D417-E9BC-CF3C-F709B377B33F}"/>
              </a:ext>
            </a:extLst>
          </p:cNvPr>
          <p:cNvGrpSpPr/>
          <p:nvPr/>
        </p:nvGrpSpPr>
        <p:grpSpPr>
          <a:xfrm>
            <a:off x="6261100" y="1719580"/>
            <a:ext cx="5041900" cy="889000"/>
            <a:chOff x="6261100" y="1612900"/>
            <a:chExt cx="5041900" cy="889000"/>
          </a:xfrm>
        </p:grpSpPr>
        <p:grpSp>
          <p:nvGrpSpPr>
            <p:cNvPr id="26" name="组合 25">
              <a:extLst>
                <a:ext uri="{FF2B5EF4-FFF2-40B4-BE49-F238E27FC236}">
                  <a16:creationId xmlns:a16="http://schemas.microsoft.com/office/drawing/2014/main" id="{BDE0CF80-702F-4BC1-7C97-01574FEA9B62}"/>
                </a:ext>
              </a:extLst>
            </p:cNvPr>
            <p:cNvGrpSpPr/>
            <p:nvPr/>
          </p:nvGrpSpPr>
          <p:grpSpPr>
            <a:xfrm>
              <a:off x="6261100" y="1714500"/>
              <a:ext cx="685800" cy="685800"/>
              <a:chOff x="6261100" y="1714500"/>
              <a:chExt cx="685800" cy="685800"/>
            </a:xfrm>
          </p:grpSpPr>
          <p:sp>
            <p:nvSpPr>
              <p:cNvPr id="25" name="AutoShape 12">
                <a:extLst>
                  <a:ext uri="{FF2B5EF4-FFF2-40B4-BE49-F238E27FC236}">
                    <a16:creationId xmlns:a16="http://schemas.microsoft.com/office/drawing/2014/main" id="{0F54ABE5-1BFE-E61B-5191-6AF51C24B4A2}"/>
                  </a:ext>
                </a:extLst>
              </p:cNvPr>
              <p:cNvSpPr/>
              <p:nvPr/>
            </p:nvSpPr>
            <p:spPr>
              <a:xfrm>
                <a:off x="6261100" y="1714500"/>
                <a:ext cx="685800" cy="685800"/>
              </a:xfrm>
              <a:prstGeom prst="ellipse">
                <a:avLst/>
              </a:prstGeom>
              <a:solidFill>
                <a:schemeClr val="bg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Picture 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1803400"/>
                <a:ext cx="508000" cy="508000"/>
              </a:xfrm>
              <a:prstGeom prst="rect">
                <a:avLst/>
              </a:prstGeom>
            </p:spPr>
          </p:pic>
        </p:grpSp>
        <p:sp>
          <p:nvSpPr>
            <p:cNvPr id="21" name="AutoShape 14">
              <a:extLst>
                <a:ext uri="{FF2B5EF4-FFF2-40B4-BE49-F238E27FC236}">
                  <a16:creationId xmlns:a16="http://schemas.microsoft.com/office/drawing/2014/main" id="{ED5F7B9B-9790-B430-E6C7-64D8921AB734}"/>
                </a:ext>
              </a:extLst>
            </p:cNvPr>
            <p:cNvSpPr/>
            <p:nvPr/>
          </p:nvSpPr>
          <p:spPr>
            <a:xfrm>
              <a:off x="7048500" y="1612900"/>
              <a:ext cx="4254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师资团队：瑞华智策讲师团</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indent="0" algn="l">
                <a:lnSpc>
                  <a:spcPct val="125000"/>
                </a:lnSpc>
              </a:pPr>
              <a:r>
                <a:rPr lang="en-US" altLang="zh-CN" sz="12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瑞华智策资深</a:t>
              </a:r>
              <a:r>
                <a:rPr lang="en-US" altLang="zh-CN" sz="12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顾问</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团队；瑞华智策</a:t>
              </a:r>
              <a:r>
                <a:rPr lang="en-US" altLang="zh-CN"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新质组织研究中心的智库专家（来自北大、清华、人大的资深研究者，和行业实战专家）。</a:t>
              </a:r>
              <a:endParaRPr lang="en-US" altLang="zh-CN" sz="12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grpSp>
      <p:sp>
        <p:nvSpPr>
          <p:cNvPr id="2" name="AutoShape 11">
            <a:extLst>
              <a:ext uri="{FF2B5EF4-FFF2-40B4-BE49-F238E27FC236}">
                <a16:creationId xmlns:a16="http://schemas.microsoft.com/office/drawing/2014/main" id="{E6AD527A-E54C-1C54-8996-09C2303ADEF8}"/>
              </a:ext>
            </a:extLst>
          </p:cNvPr>
          <p:cNvSpPr/>
          <p:nvPr/>
        </p:nvSpPr>
        <p:spPr>
          <a:xfrm>
            <a:off x="609600" y="1650998"/>
            <a:ext cx="5105400" cy="3306313"/>
          </a:xfrm>
          <a:prstGeom prst="roundRect">
            <a:avLst>
              <a:gd name="adj" fmla="val 5947"/>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AutoShape 14">
            <a:extLst>
              <a:ext uri="{FF2B5EF4-FFF2-40B4-BE49-F238E27FC236}">
                <a16:creationId xmlns:a16="http://schemas.microsoft.com/office/drawing/2014/main" id="{EDAD2D91-6ACC-74AD-AF80-04FE9FAAA75E}"/>
              </a:ext>
            </a:extLst>
          </p:cNvPr>
          <p:cNvSpPr/>
          <p:nvPr/>
        </p:nvSpPr>
        <p:spPr>
          <a:xfrm>
            <a:off x="899885" y="2042065"/>
            <a:ext cx="4550229" cy="2549071"/>
          </a:xfrm>
          <a:prstGeom prst="rect">
            <a:avLst/>
          </a:prstGeom>
          <a:noFill/>
          <a:ln w="12700" cap="flat" cmpd="sng">
            <a:noFill/>
            <a:prstDash val="solid"/>
            <a:round/>
          </a:ln>
        </p:spPr>
        <p:txBody>
          <a:bodyPr vert="horz" wrap="square" lIns="0" tIns="0" rIns="0" bIns="0" rtlCol="0" anchor="ctr" anchorCtr="0"/>
          <a:lstStyle/>
          <a:p>
            <a:pPr indent="0" algn="just">
              <a:lnSpc>
                <a:spcPct val="125000"/>
              </a:lnSpc>
              <a:defRPr/>
            </a:pPr>
            <a:r>
              <a:rPr lang="en-US" sz="1500" b="1" i="0" u="none" strike="noStrike"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背景：新质组织已来</a:t>
            </a:r>
            <a:r>
              <a:rPr lang="zh-CN" alt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altLang="zh-CN"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HR</a:t>
            </a:r>
            <a:r>
              <a:rPr lang="zh-CN" altLang="en-US" sz="1500" b="1" i="0" u="none" strike="noStrike" dirty="0">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管理需要重构</a:t>
            </a:r>
            <a:r>
              <a:rPr lang="en-US" sz="1500" b="1" dirty="0" err="1">
                <a:solidFill>
                  <a:srgbClr val="7547EC"/>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新范式</a:t>
            </a:r>
            <a:endParaRPr lang="en-US" sz="1100" dirty="0">
              <a:solidFill>
                <a:srgbClr val="7547EC"/>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spcAft>
                <a:spcPts val="600"/>
              </a:spcAft>
            </a:pPr>
            <a:endParaRPr lang="en-US" altLang="zh-CN" sz="1200" dirty="0">
              <a:solidFill>
                <a:srgbClr val="666666"/>
              </a:solidFill>
              <a:latin typeface="微软雅黑" panose="020B0503020204020204" pitchFamily="34" charset="-122"/>
              <a:ea typeface="微软雅黑" panose="020B0503020204020204" pitchFamily="34" charset="-122"/>
            </a:endParaRPr>
          </a:p>
          <a:p>
            <a:pPr algn="just">
              <a:spcAft>
                <a:spcPts val="600"/>
              </a:spcAft>
            </a:pPr>
            <a:r>
              <a:rPr lang="zh-CN" altLang="en-US" sz="1200" dirty="0">
                <a:solidFill>
                  <a:srgbClr val="666666"/>
                </a:solidFill>
                <a:latin typeface="微软雅黑" panose="020B0503020204020204" pitchFamily="34" charset="-122"/>
                <a:ea typeface="微软雅黑" panose="020B0503020204020204" pitchFamily="34" charset="-122"/>
              </a:rPr>
              <a:t>当</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从对话大模型进化为能执行任务的</a:t>
            </a:r>
            <a:r>
              <a:rPr lang="en" altLang="zh-CN" sz="1200" dirty="0">
                <a:solidFill>
                  <a:srgbClr val="666666"/>
                </a:solidFill>
                <a:latin typeface="微软雅黑" panose="020B0503020204020204" pitchFamily="34" charset="-122"/>
                <a:ea typeface="微软雅黑" panose="020B0503020204020204" pitchFamily="34" charset="-122"/>
              </a:rPr>
              <a:t>Agent</a:t>
            </a:r>
            <a:r>
              <a:rPr lang="zh-CN" altLang="en" sz="1200" dirty="0">
                <a:solidFill>
                  <a:srgbClr val="666666"/>
                </a:solidFill>
                <a:latin typeface="微软雅黑" panose="020B0503020204020204" pitchFamily="34" charset="-122"/>
                <a:ea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rPr>
              <a:t>再到长期并肩作战的“硅基员工”，企业劳动力结构正被重新定义。企业必须思考：组织如何重构，才能让</a:t>
            </a:r>
            <a:r>
              <a:rPr lang="en" altLang="zh-CN" sz="1200" dirty="0">
                <a:solidFill>
                  <a:srgbClr val="666666"/>
                </a:solidFill>
                <a:latin typeface="微软雅黑" panose="020B0503020204020204" pitchFamily="34" charset="-122"/>
                <a:ea typeface="微软雅黑" panose="020B0503020204020204" pitchFamily="34" charset="-122"/>
              </a:rPr>
              <a:t>Agent</a:t>
            </a:r>
            <a:r>
              <a:rPr lang="zh-CN" altLang="en-US" sz="1200" dirty="0">
                <a:solidFill>
                  <a:srgbClr val="666666"/>
                </a:solidFill>
                <a:latin typeface="微软雅黑" panose="020B0503020204020204" pitchFamily="34" charset="-122"/>
                <a:ea typeface="微软雅黑" panose="020B0503020204020204" pitchFamily="34" charset="-122"/>
              </a:rPr>
              <a:t>与人高效协作？碳基与硅基员工的分工边界、协作逻辑及数量配置如何规划，才能实现最优效能与</a:t>
            </a:r>
            <a:r>
              <a:rPr lang="en" altLang="zh-CN" sz="1200" dirty="0">
                <a:solidFill>
                  <a:srgbClr val="666666"/>
                </a:solidFill>
                <a:latin typeface="微软雅黑" panose="020B0503020204020204" pitchFamily="34" charset="-122"/>
                <a:ea typeface="微软雅黑" panose="020B0503020204020204" pitchFamily="34" charset="-122"/>
              </a:rPr>
              <a:t>ROI</a:t>
            </a:r>
            <a:r>
              <a:rPr lang="zh-CN" altLang="en" sz="1200" dirty="0">
                <a:solidFill>
                  <a:srgbClr val="666666"/>
                </a:solidFill>
                <a:latin typeface="微软雅黑" panose="020B0503020204020204" pitchFamily="34" charset="-122"/>
                <a:ea typeface="微软雅黑" panose="020B0503020204020204" pitchFamily="34" charset="-122"/>
              </a:rPr>
              <a:t>？</a:t>
            </a:r>
          </a:p>
          <a:p>
            <a:pPr algn="l">
              <a:spcAft>
                <a:spcPts val="600"/>
              </a:spcAft>
            </a:pPr>
            <a:r>
              <a:rPr lang="zh-CN" altLang="en-US" sz="1200" dirty="0">
                <a:solidFill>
                  <a:srgbClr val="666666"/>
                </a:solidFill>
                <a:latin typeface="微软雅黑" panose="020B0503020204020204" pitchFamily="34" charset="-122"/>
                <a:ea typeface="微软雅黑" panose="020B0503020204020204" pitchFamily="34" charset="-122"/>
              </a:rPr>
              <a:t>瑞华智策推出“基于‘人</a:t>
            </a:r>
            <a:r>
              <a:rPr lang="en-US" altLang="zh-CN" sz="1200" dirty="0">
                <a:solidFill>
                  <a:srgbClr val="666666"/>
                </a:solidFill>
                <a:latin typeface="微软雅黑" panose="020B0503020204020204" pitchFamily="34" charset="-122"/>
                <a:ea typeface="微软雅黑" panose="020B0503020204020204" pitchFamily="34" charset="-122"/>
              </a:rPr>
              <a:t>+</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的混合劳动力规划”方法论，以人机效能最优配置模型为核心，从分工设计、协作重构、动态调优等维度入手，用数据驱动检视人机组合的产出效率。</a:t>
            </a:r>
          </a:p>
          <a:p>
            <a:pPr algn="l">
              <a:spcAft>
                <a:spcPts val="600"/>
              </a:spcAft>
            </a:pPr>
            <a:r>
              <a:rPr lang="zh-CN" altLang="en-US" sz="1200" b="1" dirty="0">
                <a:solidFill>
                  <a:srgbClr val="7547EC"/>
                </a:solidFill>
                <a:latin typeface="微软雅黑" panose="020B0503020204020204" pitchFamily="34" charset="-122"/>
                <a:ea typeface="微软雅黑" panose="020B0503020204020204" pitchFamily="34" charset="-122"/>
              </a:rPr>
              <a:t>工作坊目标：</a:t>
            </a:r>
            <a:r>
              <a:rPr lang="zh-CN" altLang="en-US" sz="1200" dirty="0">
                <a:solidFill>
                  <a:srgbClr val="666666"/>
                </a:solidFill>
                <a:latin typeface="微软雅黑" panose="020B0503020204020204" pitchFamily="34" charset="-122"/>
                <a:ea typeface="微软雅黑" panose="020B0503020204020204" pitchFamily="34" charset="-122"/>
              </a:rPr>
              <a:t>帮助决策层掌握混合劳动力规划的方法论与工具</a:t>
            </a:r>
            <a:r>
              <a:rPr lang="en-US" altLang="zh-CN" sz="1200" dirty="0">
                <a:solidFill>
                  <a:srgbClr val="666666"/>
                </a:solidFill>
                <a:latin typeface="微软雅黑" panose="020B0503020204020204" pitchFamily="34" charset="-122"/>
                <a:ea typeface="微软雅黑" panose="020B0503020204020204" pitchFamily="34" charset="-122"/>
              </a:rPr>
              <a:t>——</a:t>
            </a:r>
            <a:r>
              <a:rPr lang="zh-CN" altLang="en-US" sz="1200" dirty="0">
                <a:solidFill>
                  <a:srgbClr val="666666"/>
                </a:solidFill>
                <a:latin typeface="微软雅黑" panose="020B0503020204020204" pitchFamily="34" charset="-122"/>
                <a:ea typeface="微软雅黑" panose="020B0503020204020204" pitchFamily="34" charset="-122"/>
              </a:rPr>
              <a:t>通过趋势洞察明确方向，借助</a:t>
            </a:r>
            <a:r>
              <a:rPr lang="en" altLang="zh-CN" sz="1200" dirty="0">
                <a:solidFill>
                  <a:srgbClr val="666666"/>
                </a:solidFill>
                <a:latin typeface="微软雅黑" panose="020B0503020204020204" pitchFamily="34" charset="-122"/>
                <a:ea typeface="微软雅黑" panose="020B0503020204020204" pitchFamily="34" charset="-122"/>
              </a:rPr>
              <a:t>AI</a:t>
            </a:r>
            <a:r>
              <a:rPr lang="zh-CN" altLang="en-US" sz="1200" dirty="0">
                <a:solidFill>
                  <a:srgbClr val="666666"/>
                </a:solidFill>
                <a:latin typeface="微软雅黑" panose="020B0503020204020204" pitchFamily="34" charset="-122"/>
                <a:ea typeface="微软雅黑" panose="020B0503020204020204" pitchFamily="34" charset="-122"/>
              </a:rPr>
              <a:t>规划平台科学设计人机分工与配置方案，实现组织能力升级。</a:t>
            </a:r>
          </a:p>
          <a:p>
            <a:pPr algn="l">
              <a:spcAft>
                <a:spcPts val="600"/>
              </a:spcAft>
            </a:pPr>
            <a:endParaRPr lang="zh-CN" altLang="en-US" sz="1200" dirty="0">
              <a:solidFill>
                <a:srgbClr val="666666"/>
              </a:solidFill>
              <a:latin typeface="微软雅黑" panose="020B0503020204020204" pitchFamily="34" charset="-122"/>
              <a:ea typeface="微软雅黑" panose="020B0503020204020204" pitchFamily="34" charset="-122"/>
            </a:endParaRPr>
          </a:p>
        </p:txBody>
      </p:sp>
      <p:sp>
        <p:nvSpPr>
          <p:cNvPr id="34" name="标题 1">
            <a:extLst>
              <a:ext uri="{FF2B5EF4-FFF2-40B4-BE49-F238E27FC236}">
                <a16:creationId xmlns:a16="http://schemas.microsoft.com/office/drawing/2014/main" id="{B1829B96-A71B-16B1-2265-E3EF15D21373}"/>
              </a:ext>
            </a:extLst>
          </p:cNvPr>
          <p:cNvSpPr txBox="1"/>
          <p:nvPr/>
        </p:nvSpPr>
        <p:spPr>
          <a:xfrm>
            <a:off x="354503" y="720014"/>
            <a:ext cx="10507461"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三、</a:t>
            </a:r>
            <a:r>
              <a:rPr lang="en-US" altLang="zh-CN" sz="3500" b="1">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t>
            </a: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基于“人</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+AI”</a:t>
            </a: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的混合劳动力规划工作坊</a:t>
            </a:r>
            <a:r>
              <a:rPr lang="en-US" altLang="zh-CN"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a:t>
            </a:r>
          </a:p>
        </p:txBody>
      </p:sp>
    </p:spTree>
    <p:extLst>
      <p:ext uri="{BB962C8B-B14F-4D97-AF65-F5344CB8AC3E}">
        <p14:creationId xmlns:p14="http://schemas.microsoft.com/office/powerpoint/2010/main" val="95894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43F28E29-B3A3-C3D4-B465-B5CC4D7ADDCE}"/>
              </a:ext>
            </a:extLst>
          </p:cNvPr>
          <p:cNvGrpSpPr/>
          <p:nvPr/>
        </p:nvGrpSpPr>
        <p:grpSpPr>
          <a:xfrm>
            <a:off x="508000" y="1397000"/>
            <a:ext cx="11176000" cy="762000"/>
            <a:chOff x="508000" y="1206500"/>
            <a:chExt cx="11176000" cy="762000"/>
          </a:xfrm>
        </p:grpSpPr>
        <p:sp>
          <p:nvSpPr>
            <p:cNvPr id="5" name="AutoShape 5"/>
            <p:cNvSpPr/>
            <p:nvPr/>
          </p:nvSpPr>
          <p:spPr>
            <a:xfrm>
              <a:off x="508000" y="1206500"/>
              <a:ext cx="11176000" cy="762000"/>
            </a:xfrm>
            <a:prstGeom prst="roundRect">
              <a:avLst>
                <a:gd name="adj" fmla="val 16666"/>
              </a:avLst>
            </a:prstGeom>
            <a:solidFill>
              <a:schemeClr val="bg1">
                <a:lumMod val="95000"/>
                <a:alpha val="90000"/>
              </a:schemeClr>
            </a:solidFill>
            <a:ln w="19050">
              <a:solidFill>
                <a:srgbClr val="800BF5">
                  <a:alpha val="70000"/>
                </a:srgb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460" y="1371600"/>
              <a:ext cx="431800" cy="431800"/>
            </a:xfrm>
            <a:prstGeom prst="rect">
              <a:avLst/>
            </a:prstGeom>
          </p:spPr>
        </p:pic>
        <p:sp>
          <p:nvSpPr>
            <p:cNvPr id="7" name="AutoShape 7"/>
            <p:cNvSpPr/>
            <p:nvPr/>
          </p:nvSpPr>
          <p:spPr>
            <a:xfrm>
              <a:off x="1397000" y="1295400"/>
              <a:ext cx="716026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交付形式</a:t>
              </a:r>
              <a:r>
                <a:rPr lang="en-US" sz="1600" b="1" i="0" u="none" strike="noStrike" dirty="0">
                  <a:solidFill>
                    <a:srgbClr val="333333"/>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indent="0" algn="l">
                <a:lnSpc>
                  <a:spcPct val="125000"/>
                </a:lnSpc>
                <a:defRPr/>
              </a:pPr>
              <a:r>
                <a:rPr lang="en-US" sz="1600" i="0" u="none" strike="noStrike" dirty="0" err="1">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线下闭门工作坊</a:t>
              </a:r>
              <a:r>
                <a:rPr lang="en-US" sz="160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 + </a:t>
              </a:r>
              <a:r>
                <a:rPr lang="en-US" sz="1600" i="0" u="none" strike="noStrike" dirty="0" err="1">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全套工具包（可做企业定制化优化</a:t>
              </a:r>
              <a:r>
                <a:rPr lang="en-US" sz="1600" i="0" u="none" strike="noStrike" dirty="0">
                  <a:solidFill>
                    <a:srgbClr val="55555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8" name="AutoShape 8"/>
          <p:cNvSpPr/>
          <p:nvPr/>
        </p:nvSpPr>
        <p:spPr>
          <a:xfrm>
            <a:off x="508000" y="2323520"/>
            <a:ext cx="3556000" cy="1714500"/>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2577520"/>
            <a:ext cx="457200" cy="457200"/>
          </a:xfrm>
          <a:prstGeom prst="rect">
            <a:avLst/>
          </a:prstGeom>
        </p:spPr>
      </p:pic>
      <p:sp>
        <p:nvSpPr>
          <p:cNvPr id="10" name="AutoShape 10"/>
          <p:cNvSpPr/>
          <p:nvPr/>
        </p:nvSpPr>
        <p:spPr>
          <a:xfrm>
            <a:off x="1364342" y="255212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800BF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模块1：政策洞察与理念</a:t>
            </a:r>
            <a:r>
              <a:rPr lang="en-US" sz="1200" b="0" i="0" u="none" strike="noStrike" dirty="0">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AutoShape 11"/>
          <p:cNvSpPr/>
          <p:nvPr/>
        </p:nvSpPr>
        <p:spPr>
          <a:xfrm>
            <a:off x="762000" y="321252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建立认知共识，摸底企业专业能力，</a:t>
            </a:r>
            <a:r>
              <a:rPr lang="en-US" sz="1300"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分析</a:t>
            </a: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发展新质生产力对组织的挑战</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AutoShape 12"/>
          <p:cNvSpPr/>
          <p:nvPr/>
        </p:nvSpPr>
        <p:spPr>
          <a:xfrm>
            <a:off x="4318000" y="2323520"/>
            <a:ext cx="3556000" cy="1714500"/>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2577520"/>
            <a:ext cx="457200" cy="457200"/>
          </a:xfrm>
          <a:prstGeom prst="rect">
            <a:avLst/>
          </a:prstGeom>
        </p:spPr>
      </p:pic>
      <p:sp>
        <p:nvSpPr>
          <p:cNvPr id="14" name="AutoShape 14"/>
          <p:cNvSpPr/>
          <p:nvPr/>
        </p:nvSpPr>
        <p:spPr>
          <a:xfrm>
            <a:off x="5207000" y="2552120"/>
            <a:ext cx="250444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800BF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模块2：管理范式重构</a:t>
            </a:r>
            <a:r>
              <a:rPr lang="en-US" sz="1200" b="0" i="0" u="none" strike="noStrike" dirty="0">
                <a:latin typeface="微软雅黑" panose="020B0503020204020204" pitchFamily="34" charset="-122"/>
                <a:ea typeface="微软雅黑" panose="020B0503020204020204" pitchFamily="34" charset="-122"/>
                <a:cs typeface="Noto Sans SC"/>
                <a:sym typeface="微软雅黑" panose="020B0503020204020204" pitchFamily="34" charset="-122"/>
              </a:rPr>
              <a:t>(2.5课时)</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AutoShape 15"/>
          <p:cNvSpPr/>
          <p:nvPr/>
        </p:nvSpPr>
        <p:spPr>
          <a:xfrm>
            <a:off x="4572000" y="321252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理解人机管理异同，掌握人机分工决策矩阵，确定不同任务下的人机协作模式</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AutoShape 16"/>
          <p:cNvSpPr/>
          <p:nvPr/>
        </p:nvSpPr>
        <p:spPr>
          <a:xfrm>
            <a:off x="8128000" y="2323520"/>
            <a:ext cx="3556000" cy="1714500"/>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82000" y="2577520"/>
            <a:ext cx="457200" cy="457200"/>
          </a:xfrm>
          <a:prstGeom prst="rect">
            <a:avLst/>
          </a:prstGeom>
        </p:spPr>
      </p:pic>
      <p:sp>
        <p:nvSpPr>
          <p:cNvPr id="18" name="AutoShape 18"/>
          <p:cNvSpPr/>
          <p:nvPr/>
        </p:nvSpPr>
        <p:spPr>
          <a:xfrm>
            <a:off x="9017000" y="2552120"/>
            <a:ext cx="25273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800BF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模块3：规划进化路径</a:t>
            </a:r>
            <a:r>
              <a:rPr lang="en-US" sz="1200" b="0" i="0" u="none" strike="noStrike" dirty="0">
                <a:latin typeface="微软雅黑" panose="020B0503020204020204" pitchFamily="34" charset="-122"/>
                <a:ea typeface="微软雅黑" panose="020B0503020204020204" pitchFamily="34" charset="-122"/>
                <a:cs typeface="Noto Sans SC"/>
                <a:sym typeface="微软雅黑" panose="020B0503020204020204" pitchFamily="34" charset="-122"/>
              </a:rPr>
              <a:t>(2.5课时)</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AutoShape 19"/>
          <p:cNvSpPr/>
          <p:nvPr/>
        </p:nvSpPr>
        <p:spPr>
          <a:xfrm>
            <a:off x="8382000" y="321252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掌握</a:t>
            </a: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混合劳动力</a:t>
            </a: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配置的决策效益分析方法框架，制定渐进式实施路径</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AutoShape 20"/>
          <p:cNvSpPr/>
          <p:nvPr/>
        </p:nvSpPr>
        <p:spPr>
          <a:xfrm>
            <a:off x="508000" y="4144700"/>
            <a:ext cx="3556000" cy="1714500"/>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2000" y="4398700"/>
            <a:ext cx="457200" cy="457200"/>
          </a:xfrm>
          <a:prstGeom prst="rect">
            <a:avLst/>
          </a:prstGeom>
        </p:spPr>
      </p:pic>
      <p:sp>
        <p:nvSpPr>
          <p:cNvPr id="22" name="AutoShape 22"/>
          <p:cNvSpPr/>
          <p:nvPr/>
        </p:nvSpPr>
        <p:spPr>
          <a:xfrm>
            <a:off x="1397000" y="43733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800BF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模块4：落地基础准备</a:t>
            </a:r>
            <a:r>
              <a:rPr lang="en-US" sz="1200" b="0" i="0" u="none" strike="noStrike" dirty="0">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AutoShape 23"/>
          <p:cNvSpPr/>
          <p:nvPr/>
        </p:nvSpPr>
        <p:spPr>
          <a:xfrm>
            <a:off x="762000" y="50337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补齐新质生产力落地的“组织地基四件事”，扫清实施障碍。</a:t>
            </a:r>
            <a:endParaRPr lang="en-US" sz="11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AutoShape 24"/>
          <p:cNvSpPr/>
          <p:nvPr/>
        </p:nvSpPr>
        <p:spPr>
          <a:xfrm>
            <a:off x="4318000" y="4144700"/>
            <a:ext cx="3556000" cy="1714500"/>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572000" y="4398700"/>
            <a:ext cx="457200" cy="457200"/>
          </a:xfrm>
          <a:prstGeom prst="rect">
            <a:avLst/>
          </a:prstGeom>
        </p:spPr>
      </p:pic>
      <p:sp>
        <p:nvSpPr>
          <p:cNvPr id="26" name="AutoShape 26"/>
          <p:cNvSpPr/>
          <p:nvPr/>
        </p:nvSpPr>
        <p:spPr>
          <a:xfrm>
            <a:off x="5207000" y="43733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800BF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模块5：方法论与实战</a:t>
            </a:r>
            <a:r>
              <a:rPr lang="en-US" sz="1200" b="0" i="0" u="none" strike="noStrike" dirty="0">
                <a:latin typeface="微软雅黑" panose="020B0503020204020204" pitchFamily="34" charset="-122"/>
                <a:ea typeface="微软雅黑" panose="020B0503020204020204" pitchFamily="34" charset="-122"/>
                <a:cs typeface="Noto Sans SC"/>
                <a:sym typeface="微软雅黑" panose="020B0503020204020204" pitchFamily="34" charset="-122"/>
              </a:rPr>
              <a:t>(4课时)</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AutoShape 27"/>
          <p:cNvSpPr/>
          <p:nvPr/>
        </p:nvSpPr>
        <p:spPr>
          <a:xfrm>
            <a:off x="4572000" y="50337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掌握混合劳动力规划四步法，现场实战演练，输出可量化的规划方案</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AutoShape 28"/>
          <p:cNvSpPr/>
          <p:nvPr/>
        </p:nvSpPr>
        <p:spPr>
          <a:xfrm>
            <a:off x="8128000" y="4144700"/>
            <a:ext cx="3556000" cy="1714500"/>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9" name="Picture 2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82000" y="4398700"/>
            <a:ext cx="457200" cy="457200"/>
          </a:xfrm>
          <a:prstGeom prst="rect">
            <a:avLst/>
          </a:prstGeom>
        </p:spPr>
      </p:pic>
      <p:sp>
        <p:nvSpPr>
          <p:cNvPr id="30" name="AutoShape 30"/>
          <p:cNvSpPr/>
          <p:nvPr/>
        </p:nvSpPr>
        <p:spPr>
          <a:xfrm>
            <a:off x="9017000" y="43733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a:solidFill>
                  <a:srgbClr val="800BF5"/>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模块6：答疑与共创</a:t>
            </a:r>
            <a:r>
              <a:rPr lang="en-US" sz="1200" b="0" i="0" u="none" strike="noStrike" dirty="0">
                <a:latin typeface="微软雅黑" panose="020B0503020204020204" pitchFamily="34" charset="-122"/>
                <a:ea typeface="微软雅黑" panose="020B0503020204020204" pitchFamily="34" charset="-122"/>
                <a:cs typeface="Noto Sans SC"/>
                <a:sym typeface="微软雅黑" panose="020B0503020204020204" pitchFamily="34" charset="-122"/>
              </a:rPr>
              <a:t>(1课时)</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AutoShape 31"/>
          <p:cNvSpPr/>
          <p:nvPr/>
        </p:nvSpPr>
        <p:spPr>
          <a:xfrm>
            <a:off x="8382000" y="50337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针对企业个性化问题深度答疑，从课程知识到落地执行全流程陪伴</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标题 1">
            <a:extLst>
              <a:ext uri="{FF2B5EF4-FFF2-40B4-BE49-F238E27FC236}">
                <a16:creationId xmlns:a16="http://schemas.microsoft.com/office/drawing/2014/main" id="{CA9C07F4-BE59-29B3-56BE-20C651C525C9}"/>
              </a:ext>
            </a:extLst>
          </p:cNvPr>
          <p:cNvSpPr txBox="1"/>
          <p:nvPr/>
        </p:nvSpPr>
        <p:spPr>
          <a:xfrm>
            <a:off x="441411" y="720014"/>
            <a:ext cx="8718377"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工作坊课程大纲</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3068F4-39AB-8573-E8A1-E04CED3A081E}"/>
              </a:ext>
            </a:extLst>
          </p:cNvPr>
          <p:cNvSpPr txBox="1"/>
          <p:nvPr/>
        </p:nvSpPr>
        <p:spPr>
          <a:xfrm>
            <a:off x="441411" y="720014"/>
            <a:ext cx="8718377"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其他培训课题</a:t>
            </a:r>
            <a:r>
              <a:rPr lang="zh-CN" altLang="en-US" sz="2000"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（可做行业化定制）</a:t>
            </a:r>
          </a:p>
        </p:txBody>
      </p:sp>
      <p:sp>
        <p:nvSpPr>
          <p:cNvPr id="3" name="AutoShape 3">
            <a:extLst>
              <a:ext uri="{FF2B5EF4-FFF2-40B4-BE49-F238E27FC236}">
                <a16:creationId xmlns:a16="http://schemas.microsoft.com/office/drawing/2014/main" id="{76613BA4-E0E5-4762-CE5F-A7466A7CBF7A}"/>
              </a:ext>
            </a:extLst>
          </p:cNvPr>
          <p:cNvSpPr/>
          <p:nvPr/>
        </p:nvSpPr>
        <p:spPr>
          <a:xfrm>
            <a:off x="762000" y="1378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4" name="AutoShape 4">
            <a:extLst>
              <a:ext uri="{FF2B5EF4-FFF2-40B4-BE49-F238E27FC236}">
                <a16:creationId xmlns:a16="http://schemas.microsoft.com/office/drawing/2014/main" id="{65D54D84-4C0D-B563-762F-0641D704E7A3}"/>
              </a:ext>
            </a:extLst>
          </p:cNvPr>
          <p:cNvSpPr/>
          <p:nvPr/>
        </p:nvSpPr>
        <p:spPr>
          <a:xfrm>
            <a:off x="952500" y="1569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5" name="Picture 5">
            <a:extLst>
              <a:ext uri="{FF2B5EF4-FFF2-40B4-BE49-F238E27FC236}">
                <a16:creationId xmlns:a16="http://schemas.microsoft.com/office/drawing/2014/main" id="{E4591FD5-8605-418F-A3E4-BD9D1E676D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1696360"/>
            <a:ext cx="254000" cy="254000"/>
          </a:xfrm>
          <a:prstGeom prst="rect">
            <a:avLst/>
          </a:prstGeom>
        </p:spPr>
      </p:pic>
      <p:sp>
        <p:nvSpPr>
          <p:cNvPr id="6" name="AutoShape 6">
            <a:extLst>
              <a:ext uri="{FF2B5EF4-FFF2-40B4-BE49-F238E27FC236}">
                <a16:creationId xmlns:a16="http://schemas.microsoft.com/office/drawing/2014/main" id="{86A73EE1-707C-6031-5310-05CEC58672AC}"/>
              </a:ext>
            </a:extLst>
          </p:cNvPr>
          <p:cNvSpPr/>
          <p:nvPr/>
        </p:nvSpPr>
        <p:spPr>
          <a:xfrm>
            <a:off x="1651000" y="1531260"/>
            <a:ext cx="4191000" cy="584200"/>
          </a:xfrm>
          <a:prstGeom prst="rect">
            <a:avLst/>
          </a:prstGeom>
          <a:noFill/>
          <a:ln w="12700" cap="flat" cmpd="sng">
            <a:noFill/>
            <a:prstDash val="solid"/>
            <a:round/>
          </a:ln>
        </p:spPr>
        <p:txBody>
          <a:bodyPr vert="horz" wrap="square" lIns="0" tIns="0" rIns="0" bIns="0" rtlCol="0" anchor="ctr" anchorCtr="0"/>
          <a:lstStyle/>
          <a:p>
            <a:pPr>
              <a:defRPr/>
            </a:pP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企业AI</a:t>
            </a:r>
            <a:r>
              <a:rPr lang="zh-CN" alt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化</a:t>
            </a: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转型的策略、规划与落地方法</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7" name="AutoShape 7">
            <a:extLst>
              <a:ext uri="{FF2B5EF4-FFF2-40B4-BE49-F238E27FC236}">
                <a16:creationId xmlns:a16="http://schemas.microsoft.com/office/drawing/2014/main" id="{C4F61344-3708-A2CD-C56D-6E8094DFFBC5}"/>
              </a:ext>
            </a:extLst>
          </p:cNvPr>
          <p:cNvSpPr/>
          <p:nvPr/>
        </p:nvSpPr>
        <p:spPr>
          <a:xfrm>
            <a:off x="762000" y="2394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8" name="AutoShape 8">
            <a:extLst>
              <a:ext uri="{FF2B5EF4-FFF2-40B4-BE49-F238E27FC236}">
                <a16:creationId xmlns:a16="http://schemas.microsoft.com/office/drawing/2014/main" id="{956C9BD3-7D75-C380-FA53-F051459FEE9A}"/>
              </a:ext>
            </a:extLst>
          </p:cNvPr>
          <p:cNvSpPr/>
          <p:nvPr/>
        </p:nvSpPr>
        <p:spPr>
          <a:xfrm>
            <a:off x="952500" y="2585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9" name="Picture 9">
            <a:extLst>
              <a:ext uri="{FF2B5EF4-FFF2-40B4-BE49-F238E27FC236}">
                <a16:creationId xmlns:a16="http://schemas.microsoft.com/office/drawing/2014/main" id="{0AAFF59F-D466-DA94-A1E5-BDF38C48503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712360"/>
            <a:ext cx="254000" cy="254000"/>
          </a:xfrm>
          <a:prstGeom prst="rect">
            <a:avLst/>
          </a:prstGeom>
        </p:spPr>
      </p:pic>
      <p:sp>
        <p:nvSpPr>
          <p:cNvPr id="10" name="AutoShape 10">
            <a:extLst>
              <a:ext uri="{FF2B5EF4-FFF2-40B4-BE49-F238E27FC236}">
                <a16:creationId xmlns:a16="http://schemas.microsoft.com/office/drawing/2014/main" id="{AFC02C5C-77E8-E989-7164-AE27E27082F6}"/>
              </a:ext>
            </a:extLst>
          </p:cNvPr>
          <p:cNvSpPr/>
          <p:nvPr/>
        </p:nvSpPr>
        <p:spPr>
          <a:xfrm>
            <a:off x="1651000" y="2547260"/>
            <a:ext cx="4191000" cy="584200"/>
          </a:xfrm>
          <a:prstGeom prst="rect">
            <a:avLst/>
          </a:prstGeom>
          <a:noFill/>
          <a:ln w="12700" cap="flat" cmpd="sng">
            <a:noFill/>
            <a:prstDash val="solid"/>
            <a:round/>
          </a:ln>
        </p:spPr>
        <p:txBody>
          <a:bodyPr vert="horz" wrap="square" lIns="0" tIns="0" rIns="0" bIns="0" rtlCol="0" anchor="ctr" anchorCtr="0"/>
          <a:lstStyle/>
          <a:p>
            <a:pPr>
              <a:defRPr/>
            </a:pPr>
            <a:endPar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endParaRPr>
          </a:p>
          <a:p>
            <a:pPr>
              <a:defRPr/>
            </a:pPr>
            <a:r>
              <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Design</a:t>
            </a: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 </a:t>
            </a:r>
            <a:r>
              <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thinking</a:t>
            </a: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a:t>
            </a:r>
            <a:r>
              <a:rPr lang="en-US" altLang="zh-CN" sz="1400" b="1" dirty="0" err="1">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基于设计思维的</a:t>
            </a: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软件</a:t>
            </a:r>
            <a:r>
              <a:rPr lang="en-US" altLang="zh-CN" sz="1400" b="1" dirty="0" err="1">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开发方法论</a:t>
            </a:r>
            <a:endPar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endParaRPr>
          </a:p>
          <a:p>
            <a:pPr indent="0" algn="l">
              <a:lnSpc>
                <a:spcPct val="100000"/>
              </a:lnSpc>
              <a:defRPr/>
            </a:pPr>
            <a:endParaRPr lang="en-US"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1" name="AutoShape 11">
            <a:extLst>
              <a:ext uri="{FF2B5EF4-FFF2-40B4-BE49-F238E27FC236}">
                <a16:creationId xmlns:a16="http://schemas.microsoft.com/office/drawing/2014/main" id="{7A9D81C6-DCA2-3074-51D9-1B7466EAC30B}"/>
              </a:ext>
            </a:extLst>
          </p:cNvPr>
          <p:cNvSpPr/>
          <p:nvPr/>
        </p:nvSpPr>
        <p:spPr>
          <a:xfrm>
            <a:off x="762000" y="3410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2" name="AutoShape 12">
            <a:extLst>
              <a:ext uri="{FF2B5EF4-FFF2-40B4-BE49-F238E27FC236}">
                <a16:creationId xmlns:a16="http://schemas.microsoft.com/office/drawing/2014/main" id="{D27DC720-A1DC-97FD-B66F-5A98E914CF7C}"/>
              </a:ext>
            </a:extLst>
          </p:cNvPr>
          <p:cNvSpPr/>
          <p:nvPr/>
        </p:nvSpPr>
        <p:spPr>
          <a:xfrm>
            <a:off x="952500" y="3601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3" name="Picture 13">
            <a:extLst>
              <a:ext uri="{FF2B5EF4-FFF2-40B4-BE49-F238E27FC236}">
                <a16:creationId xmlns:a16="http://schemas.microsoft.com/office/drawing/2014/main" id="{AF7A61E9-DFA9-27C9-CD55-35201E7A3C9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3728360"/>
            <a:ext cx="254000" cy="254000"/>
          </a:xfrm>
          <a:prstGeom prst="rect">
            <a:avLst/>
          </a:prstGeom>
        </p:spPr>
      </p:pic>
      <p:sp>
        <p:nvSpPr>
          <p:cNvPr id="14" name="AutoShape 14">
            <a:extLst>
              <a:ext uri="{FF2B5EF4-FFF2-40B4-BE49-F238E27FC236}">
                <a16:creationId xmlns:a16="http://schemas.microsoft.com/office/drawing/2014/main" id="{D0A0D7CA-002A-3533-7839-E7FAE225BAAB}"/>
              </a:ext>
            </a:extLst>
          </p:cNvPr>
          <p:cNvSpPr/>
          <p:nvPr/>
        </p:nvSpPr>
        <p:spPr>
          <a:xfrm>
            <a:off x="1651000" y="3563260"/>
            <a:ext cx="4191000" cy="584200"/>
          </a:xfrm>
          <a:prstGeom prst="rect">
            <a:avLst/>
          </a:prstGeom>
          <a:noFill/>
          <a:ln w="12700" cap="flat" cmpd="sng">
            <a:noFill/>
            <a:prstDash val="solid"/>
            <a:round/>
          </a:ln>
        </p:spPr>
        <p:txBody>
          <a:bodyPr vert="horz" wrap="square" lIns="0" tIns="0" rIns="0" bIns="0" rtlCol="0" anchor="ctr" anchorCtr="0"/>
          <a:lstStyle/>
          <a:p>
            <a:pPr>
              <a:defRPr/>
            </a:pPr>
            <a:endParaRPr lang="en-US" altLang="zh-CN"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endParaRPr>
          </a:p>
          <a:p>
            <a:pPr>
              <a:defRPr/>
            </a:pP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从合规到提效：生态（外包）用工治理系统化实践</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indent="0" algn="l">
              <a:lnSpc>
                <a:spcPct val="100000"/>
              </a:lnSpc>
              <a:defRPr/>
            </a:pPr>
            <a:endParaRPr lang="en-US"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5" name="AutoShape 15">
            <a:extLst>
              <a:ext uri="{FF2B5EF4-FFF2-40B4-BE49-F238E27FC236}">
                <a16:creationId xmlns:a16="http://schemas.microsoft.com/office/drawing/2014/main" id="{E8E49382-4B7D-71B2-9A2E-5D880EF6DF1E}"/>
              </a:ext>
            </a:extLst>
          </p:cNvPr>
          <p:cNvSpPr/>
          <p:nvPr/>
        </p:nvSpPr>
        <p:spPr>
          <a:xfrm>
            <a:off x="762000" y="4426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6" name="AutoShape 16">
            <a:extLst>
              <a:ext uri="{FF2B5EF4-FFF2-40B4-BE49-F238E27FC236}">
                <a16:creationId xmlns:a16="http://schemas.microsoft.com/office/drawing/2014/main" id="{ECAE94A9-C0D1-F721-676C-653DE6030FBB}"/>
              </a:ext>
            </a:extLst>
          </p:cNvPr>
          <p:cNvSpPr/>
          <p:nvPr/>
        </p:nvSpPr>
        <p:spPr>
          <a:xfrm>
            <a:off x="952500" y="4617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7" name="Picture 17">
            <a:extLst>
              <a:ext uri="{FF2B5EF4-FFF2-40B4-BE49-F238E27FC236}">
                <a16:creationId xmlns:a16="http://schemas.microsoft.com/office/drawing/2014/main" id="{CEFD6B24-0298-CCD9-4726-7DC93F10D1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79500" y="4744360"/>
            <a:ext cx="254000" cy="254000"/>
          </a:xfrm>
          <a:prstGeom prst="rect">
            <a:avLst/>
          </a:prstGeom>
        </p:spPr>
      </p:pic>
      <p:sp>
        <p:nvSpPr>
          <p:cNvPr id="18" name="AutoShape 18">
            <a:extLst>
              <a:ext uri="{FF2B5EF4-FFF2-40B4-BE49-F238E27FC236}">
                <a16:creationId xmlns:a16="http://schemas.microsoft.com/office/drawing/2014/main" id="{45B3D0D3-7BA4-1074-EDE4-FC374E9820FD}"/>
              </a:ext>
            </a:extLst>
          </p:cNvPr>
          <p:cNvSpPr/>
          <p:nvPr/>
        </p:nvSpPr>
        <p:spPr>
          <a:xfrm>
            <a:off x="1651000" y="4579260"/>
            <a:ext cx="4191000" cy="584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华为的人</a:t>
            </a: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业一体化管理</a:t>
            </a:r>
            <a:r>
              <a:rPr lang="zh-CN" alt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基于战略到执行的目标绩效管理</a:t>
            </a:r>
            <a:endParaRPr lang="en-US"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9" name="AutoShape 19">
            <a:extLst>
              <a:ext uri="{FF2B5EF4-FFF2-40B4-BE49-F238E27FC236}">
                <a16:creationId xmlns:a16="http://schemas.microsoft.com/office/drawing/2014/main" id="{29E7E52A-CCD6-B11B-D9EC-9F85884DAE78}"/>
              </a:ext>
            </a:extLst>
          </p:cNvPr>
          <p:cNvSpPr/>
          <p:nvPr/>
        </p:nvSpPr>
        <p:spPr>
          <a:xfrm>
            <a:off x="762000" y="5442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0" name="AutoShape 20">
            <a:extLst>
              <a:ext uri="{FF2B5EF4-FFF2-40B4-BE49-F238E27FC236}">
                <a16:creationId xmlns:a16="http://schemas.microsoft.com/office/drawing/2014/main" id="{A10F8C5C-D5A8-49E6-DBFA-9F267A3D2892}"/>
              </a:ext>
            </a:extLst>
          </p:cNvPr>
          <p:cNvSpPr/>
          <p:nvPr/>
        </p:nvSpPr>
        <p:spPr>
          <a:xfrm>
            <a:off x="952500" y="5633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21" name="Picture 21">
            <a:extLst>
              <a:ext uri="{FF2B5EF4-FFF2-40B4-BE49-F238E27FC236}">
                <a16:creationId xmlns:a16="http://schemas.microsoft.com/office/drawing/2014/main" id="{E34DEA76-197B-2CE5-107C-7471C824440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9500" y="5760360"/>
            <a:ext cx="254000" cy="254000"/>
          </a:xfrm>
          <a:prstGeom prst="rect">
            <a:avLst/>
          </a:prstGeom>
        </p:spPr>
      </p:pic>
      <p:sp>
        <p:nvSpPr>
          <p:cNvPr id="22" name="AutoShape 22">
            <a:extLst>
              <a:ext uri="{FF2B5EF4-FFF2-40B4-BE49-F238E27FC236}">
                <a16:creationId xmlns:a16="http://schemas.microsoft.com/office/drawing/2014/main" id="{471D1581-EB12-61FC-7EA6-366E68B413C9}"/>
              </a:ext>
            </a:extLst>
          </p:cNvPr>
          <p:cNvSpPr/>
          <p:nvPr/>
        </p:nvSpPr>
        <p:spPr>
          <a:xfrm>
            <a:off x="1651000" y="5595260"/>
            <a:ext cx="4191000" cy="584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altLang="zh-CN"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AI</a:t>
            </a:r>
            <a:r>
              <a:rPr lang="zh-CN" alt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时代</a:t>
            </a: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敏捷组织设计和岗职位体系</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3" name="AutoShape 23">
            <a:extLst>
              <a:ext uri="{FF2B5EF4-FFF2-40B4-BE49-F238E27FC236}">
                <a16:creationId xmlns:a16="http://schemas.microsoft.com/office/drawing/2014/main" id="{6F4A0624-2ABC-4C72-0657-BF08ED29F713}"/>
              </a:ext>
            </a:extLst>
          </p:cNvPr>
          <p:cNvSpPr/>
          <p:nvPr/>
        </p:nvSpPr>
        <p:spPr>
          <a:xfrm>
            <a:off x="6223000" y="1378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4" name="AutoShape 24">
            <a:extLst>
              <a:ext uri="{FF2B5EF4-FFF2-40B4-BE49-F238E27FC236}">
                <a16:creationId xmlns:a16="http://schemas.microsoft.com/office/drawing/2014/main" id="{BC71554B-1A3A-C969-736A-6DFBECB8F3F6}"/>
              </a:ext>
            </a:extLst>
          </p:cNvPr>
          <p:cNvSpPr/>
          <p:nvPr/>
        </p:nvSpPr>
        <p:spPr>
          <a:xfrm>
            <a:off x="6413500" y="1569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25" name="Picture 25">
            <a:extLst>
              <a:ext uri="{FF2B5EF4-FFF2-40B4-BE49-F238E27FC236}">
                <a16:creationId xmlns:a16="http://schemas.microsoft.com/office/drawing/2014/main" id="{D1E1B38B-EF7E-637F-FCC5-A7972686BE8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1696360"/>
            <a:ext cx="254000" cy="254000"/>
          </a:xfrm>
          <a:prstGeom prst="rect">
            <a:avLst/>
          </a:prstGeom>
        </p:spPr>
      </p:pic>
      <p:sp>
        <p:nvSpPr>
          <p:cNvPr id="26" name="AutoShape 26">
            <a:extLst>
              <a:ext uri="{FF2B5EF4-FFF2-40B4-BE49-F238E27FC236}">
                <a16:creationId xmlns:a16="http://schemas.microsoft.com/office/drawing/2014/main" id="{A7AC8945-CB23-3769-2EDE-D79CBF7A398E}"/>
              </a:ext>
            </a:extLst>
          </p:cNvPr>
          <p:cNvSpPr/>
          <p:nvPr/>
        </p:nvSpPr>
        <p:spPr>
          <a:xfrm>
            <a:off x="7112000" y="1531260"/>
            <a:ext cx="4191000" cy="584200"/>
          </a:xfrm>
          <a:prstGeom prst="rect">
            <a:avLst/>
          </a:prstGeom>
          <a:noFill/>
          <a:ln w="12700" cap="flat" cmpd="sng">
            <a:noFill/>
            <a:prstDash val="solid"/>
            <a:round/>
          </a:ln>
        </p:spPr>
        <p:txBody>
          <a:bodyPr vert="horz" wrap="square" lIns="0" tIns="0" rIns="0" bIns="0" rtlCol="0" anchor="ctr" anchorCtr="0"/>
          <a:lstStyle/>
          <a:p>
            <a:pPr>
              <a:defRPr/>
            </a:pP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从点到面：</a:t>
            </a:r>
            <a:r>
              <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AI</a:t>
            </a: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在企业的场景化落地</a:t>
            </a:r>
            <a:r>
              <a:rPr lang="en-US" altLang="zh-CN" sz="1400" b="1" dirty="0" err="1">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整体方案设计</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7" name="AutoShape 27">
            <a:extLst>
              <a:ext uri="{FF2B5EF4-FFF2-40B4-BE49-F238E27FC236}">
                <a16:creationId xmlns:a16="http://schemas.microsoft.com/office/drawing/2014/main" id="{AF838957-C758-0FDF-6BF5-D6C96F56B96C}"/>
              </a:ext>
            </a:extLst>
          </p:cNvPr>
          <p:cNvSpPr/>
          <p:nvPr/>
        </p:nvSpPr>
        <p:spPr>
          <a:xfrm>
            <a:off x="6223000" y="2394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8" name="AutoShape 28">
            <a:extLst>
              <a:ext uri="{FF2B5EF4-FFF2-40B4-BE49-F238E27FC236}">
                <a16:creationId xmlns:a16="http://schemas.microsoft.com/office/drawing/2014/main" id="{568FDD29-04D1-30AD-1174-7087CB3CA529}"/>
              </a:ext>
            </a:extLst>
          </p:cNvPr>
          <p:cNvSpPr/>
          <p:nvPr/>
        </p:nvSpPr>
        <p:spPr>
          <a:xfrm>
            <a:off x="6413500" y="2585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29" name="Picture 29">
            <a:extLst>
              <a:ext uri="{FF2B5EF4-FFF2-40B4-BE49-F238E27FC236}">
                <a16:creationId xmlns:a16="http://schemas.microsoft.com/office/drawing/2014/main" id="{2A3C4C89-A157-BB57-FEE4-2DE7B2CCE4C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40500" y="2712360"/>
            <a:ext cx="254000" cy="254000"/>
          </a:xfrm>
          <a:prstGeom prst="rect">
            <a:avLst/>
          </a:prstGeom>
        </p:spPr>
      </p:pic>
      <p:sp>
        <p:nvSpPr>
          <p:cNvPr id="30" name="AutoShape 30">
            <a:extLst>
              <a:ext uri="{FF2B5EF4-FFF2-40B4-BE49-F238E27FC236}">
                <a16:creationId xmlns:a16="http://schemas.microsoft.com/office/drawing/2014/main" id="{FFB8DF29-8300-02C0-23D3-C7F425DE4D72}"/>
              </a:ext>
            </a:extLst>
          </p:cNvPr>
          <p:cNvSpPr/>
          <p:nvPr/>
        </p:nvSpPr>
        <p:spPr>
          <a:xfrm>
            <a:off x="7112000" y="2547260"/>
            <a:ext cx="4191000" cy="584200"/>
          </a:xfrm>
          <a:prstGeom prst="rect">
            <a:avLst/>
          </a:prstGeom>
          <a:noFill/>
          <a:ln w="12700" cap="flat" cmpd="sng">
            <a:noFill/>
            <a:prstDash val="solid"/>
            <a:round/>
          </a:ln>
        </p:spPr>
        <p:txBody>
          <a:bodyPr vert="horz" wrap="square" lIns="0" tIns="0" rIns="0" bIns="0" rtlCol="0" anchor="ctr" anchorCtr="0"/>
          <a:lstStyle/>
          <a:p>
            <a:pPr>
              <a:defRPr/>
            </a:pPr>
            <a:r>
              <a:rPr lang="en-US" altLang="zh-CN"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AI-Enabled Skills Management </a:t>
            </a: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解决方案</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31" name="AutoShape 31">
            <a:extLst>
              <a:ext uri="{FF2B5EF4-FFF2-40B4-BE49-F238E27FC236}">
                <a16:creationId xmlns:a16="http://schemas.microsoft.com/office/drawing/2014/main" id="{1913E0D0-2E4B-71F6-AF9D-B09F8849A66C}"/>
              </a:ext>
            </a:extLst>
          </p:cNvPr>
          <p:cNvSpPr/>
          <p:nvPr/>
        </p:nvSpPr>
        <p:spPr>
          <a:xfrm>
            <a:off x="6223000" y="3410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32" name="AutoShape 32">
            <a:extLst>
              <a:ext uri="{FF2B5EF4-FFF2-40B4-BE49-F238E27FC236}">
                <a16:creationId xmlns:a16="http://schemas.microsoft.com/office/drawing/2014/main" id="{8AB3A13C-5C02-2B35-145D-53A483994121}"/>
              </a:ext>
            </a:extLst>
          </p:cNvPr>
          <p:cNvSpPr/>
          <p:nvPr/>
        </p:nvSpPr>
        <p:spPr>
          <a:xfrm>
            <a:off x="6413500" y="3601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33" name="Picture 33">
            <a:extLst>
              <a:ext uri="{FF2B5EF4-FFF2-40B4-BE49-F238E27FC236}">
                <a16:creationId xmlns:a16="http://schemas.microsoft.com/office/drawing/2014/main" id="{45075D2F-7AFF-FB71-9E5C-774E55BDF8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40500" y="3728360"/>
            <a:ext cx="254000" cy="254000"/>
          </a:xfrm>
          <a:prstGeom prst="rect">
            <a:avLst/>
          </a:prstGeom>
        </p:spPr>
      </p:pic>
      <p:sp>
        <p:nvSpPr>
          <p:cNvPr id="34" name="AutoShape 34">
            <a:extLst>
              <a:ext uri="{FF2B5EF4-FFF2-40B4-BE49-F238E27FC236}">
                <a16:creationId xmlns:a16="http://schemas.microsoft.com/office/drawing/2014/main" id="{034AE25C-8BA7-F363-5070-883F6CFEE9C7}"/>
              </a:ext>
            </a:extLst>
          </p:cNvPr>
          <p:cNvSpPr/>
          <p:nvPr/>
        </p:nvSpPr>
        <p:spPr>
          <a:xfrm>
            <a:off x="7112000" y="3563260"/>
            <a:ext cx="4191000" cy="584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rPr>
              <a:t>HR4.0</a:t>
            </a:r>
            <a:r>
              <a:rPr lang="zh-CN" altLang="en-US" sz="1400" b="1" dirty="0">
                <a:solidFill>
                  <a:schemeClr val="tx1">
                    <a:lumMod val="85000"/>
                    <a:lumOff val="15000"/>
                  </a:schemeClr>
                </a:solidFill>
                <a:latin typeface="Microsoft YaHei" panose="020B0503020204020204" pitchFamily="34" charset="-122"/>
                <a:ea typeface="Microsoft YaHei" panose="020B0503020204020204" pitchFamily="34" charset="-122"/>
              </a:rPr>
              <a:t>：人力资本价值经营的理念和系统方法论</a:t>
            </a:r>
            <a:endParaRPr lang="en-US" altLang="zh-CN" sz="1400" b="1"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35" name="AutoShape 35">
            <a:extLst>
              <a:ext uri="{FF2B5EF4-FFF2-40B4-BE49-F238E27FC236}">
                <a16:creationId xmlns:a16="http://schemas.microsoft.com/office/drawing/2014/main" id="{CB6B273F-15A0-F509-9B3E-909E2BECFBFB}"/>
              </a:ext>
            </a:extLst>
          </p:cNvPr>
          <p:cNvSpPr/>
          <p:nvPr/>
        </p:nvSpPr>
        <p:spPr>
          <a:xfrm>
            <a:off x="6223000" y="4426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36" name="AutoShape 36">
            <a:extLst>
              <a:ext uri="{FF2B5EF4-FFF2-40B4-BE49-F238E27FC236}">
                <a16:creationId xmlns:a16="http://schemas.microsoft.com/office/drawing/2014/main" id="{B2078E9B-092F-2EC6-DF0A-DE8F3313F9FA}"/>
              </a:ext>
            </a:extLst>
          </p:cNvPr>
          <p:cNvSpPr/>
          <p:nvPr/>
        </p:nvSpPr>
        <p:spPr>
          <a:xfrm>
            <a:off x="6413500" y="4617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37" name="Picture 37">
            <a:extLst>
              <a:ext uri="{FF2B5EF4-FFF2-40B4-BE49-F238E27FC236}">
                <a16:creationId xmlns:a16="http://schemas.microsoft.com/office/drawing/2014/main" id="{094570AC-9D3E-6857-AFB1-F590820551C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0500" y="4744360"/>
            <a:ext cx="254000" cy="254000"/>
          </a:xfrm>
          <a:prstGeom prst="rect">
            <a:avLst/>
          </a:prstGeom>
        </p:spPr>
      </p:pic>
      <p:sp>
        <p:nvSpPr>
          <p:cNvPr id="38" name="AutoShape 38">
            <a:extLst>
              <a:ext uri="{FF2B5EF4-FFF2-40B4-BE49-F238E27FC236}">
                <a16:creationId xmlns:a16="http://schemas.microsoft.com/office/drawing/2014/main" id="{2AA78F85-2F19-DFAC-1B8C-72A96F4C47DC}"/>
              </a:ext>
            </a:extLst>
          </p:cNvPr>
          <p:cNvSpPr/>
          <p:nvPr/>
        </p:nvSpPr>
        <p:spPr>
          <a:xfrm>
            <a:off x="7112000" y="4579260"/>
            <a:ext cx="4191000" cy="584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华为人力资源管理运营转型</a:t>
            </a:r>
            <a:r>
              <a:rPr lang="zh-CN" alt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的系统性</a:t>
            </a: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实践</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39" name="AutoShape 39">
            <a:extLst>
              <a:ext uri="{FF2B5EF4-FFF2-40B4-BE49-F238E27FC236}">
                <a16:creationId xmlns:a16="http://schemas.microsoft.com/office/drawing/2014/main" id="{F4510553-5F46-EE0B-6CD2-645E7587B6A7}"/>
              </a:ext>
            </a:extLst>
          </p:cNvPr>
          <p:cNvSpPr/>
          <p:nvPr/>
        </p:nvSpPr>
        <p:spPr>
          <a:xfrm>
            <a:off x="6223000" y="5442860"/>
            <a:ext cx="5207000" cy="889000"/>
          </a:xfrm>
          <a:prstGeom prst="roundRect">
            <a:avLst>
              <a:gd name="adj" fmla="val 17142"/>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40" name="AutoShape 40">
            <a:extLst>
              <a:ext uri="{FF2B5EF4-FFF2-40B4-BE49-F238E27FC236}">
                <a16:creationId xmlns:a16="http://schemas.microsoft.com/office/drawing/2014/main" id="{6D9CDB9A-A56F-76E2-4A18-E5B98C39F212}"/>
              </a:ext>
            </a:extLst>
          </p:cNvPr>
          <p:cNvSpPr/>
          <p:nvPr/>
        </p:nvSpPr>
        <p:spPr>
          <a:xfrm>
            <a:off x="6413500" y="5633360"/>
            <a:ext cx="508000" cy="508000"/>
          </a:xfrm>
          <a:prstGeom prst="ellipse">
            <a:avLst/>
          </a:prstGeom>
          <a:solidFill>
            <a:srgbClr val="7C4DFF"/>
          </a:solidFill>
          <a:ln w="25400" cap="flat" cmpd="sng">
            <a:noFill/>
            <a:prstDash val="solid"/>
            <a:round/>
          </a:ln>
        </p:spPr>
        <p:txBody>
          <a:bodyPr vert="horz" wrap="square" lIns="63500" tIns="63500" rIns="63500" bIns="63500" rtlCol="0" anchor="ctr"/>
          <a:lstStyle/>
          <a:p>
            <a:pPr algn="ctr">
              <a:defRPr/>
            </a:pPr>
            <a:endParaRPr sz="140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41" name="Picture 41">
            <a:extLst>
              <a:ext uri="{FF2B5EF4-FFF2-40B4-BE49-F238E27FC236}">
                <a16:creationId xmlns:a16="http://schemas.microsoft.com/office/drawing/2014/main" id="{D24CDB5E-700D-EDAC-9555-C5961EBECBD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540500" y="5760360"/>
            <a:ext cx="254000" cy="254000"/>
          </a:xfrm>
          <a:prstGeom prst="rect">
            <a:avLst/>
          </a:prstGeom>
        </p:spPr>
      </p:pic>
      <p:sp>
        <p:nvSpPr>
          <p:cNvPr id="42" name="AutoShape 42">
            <a:extLst>
              <a:ext uri="{FF2B5EF4-FFF2-40B4-BE49-F238E27FC236}">
                <a16:creationId xmlns:a16="http://schemas.microsoft.com/office/drawing/2014/main" id="{39887EF7-7AC5-3889-A66C-5F07E5F91A6A}"/>
              </a:ext>
            </a:extLst>
          </p:cNvPr>
          <p:cNvSpPr/>
          <p:nvPr/>
        </p:nvSpPr>
        <p:spPr>
          <a:xfrm>
            <a:off x="7112000" y="5595260"/>
            <a:ext cx="4191000" cy="584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altLang="zh-CN"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内部人才市场和项目人才供应链解决方案</a:t>
            </a:r>
            <a:endParaRPr lang="en-US" altLang="zh-CN" sz="14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85805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8"/>
          <p:cNvSpPr/>
          <p:nvPr/>
        </p:nvSpPr>
        <p:spPr>
          <a:xfrm>
            <a:off x="508000" y="2004854"/>
            <a:ext cx="3556000" cy="2387037"/>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258855"/>
            <a:ext cx="457200" cy="457200"/>
          </a:xfrm>
          <a:prstGeom prst="rect">
            <a:avLst/>
          </a:prstGeom>
        </p:spPr>
      </p:pic>
      <p:sp>
        <p:nvSpPr>
          <p:cNvPr id="10" name="AutoShape 10"/>
          <p:cNvSpPr/>
          <p:nvPr/>
        </p:nvSpPr>
        <p:spPr>
          <a:xfrm>
            <a:off x="1364342" y="2233455"/>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500" b="1"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培训前：咨询式调研</a:t>
            </a:r>
            <a:endParaRPr lang="en-US" altLang="zh-CN" sz="1500" b="1"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indent="0" algn="l">
              <a:lnSpc>
                <a:spcPct val="125000"/>
              </a:lnSpc>
              <a:defRPr/>
            </a:pPr>
            <a:r>
              <a:rPr lang="zh-CN" altLang="en-US" sz="12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（培训前</a:t>
            </a:r>
            <a:r>
              <a:rPr lang="en-US" altLang="zh-CN" sz="12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a:t>
            </a:r>
            <a:r>
              <a:rPr lang="zh-CN" altLang="en-US" sz="12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周）</a:t>
            </a:r>
            <a:endParaRPr lang="en-US" sz="1200" dirty="0">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AutoShape 11"/>
          <p:cNvSpPr/>
          <p:nvPr/>
        </p:nvSpPr>
        <p:spPr>
          <a:xfrm>
            <a:off x="762000" y="2783019"/>
            <a:ext cx="3048000" cy="1484181"/>
          </a:xfrm>
          <a:prstGeom prst="rect">
            <a:avLst/>
          </a:prstGeom>
          <a:noFill/>
          <a:ln w="12700" cap="flat" cmpd="sng">
            <a:noFill/>
            <a:prstDash val="solid"/>
            <a:round/>
          </a:ln>
        </p:spPr>
        <p:txBody>
          <a:bodyPr vert="horz" wrap="square" lIns="0" tIns="0" rIns="0" bIns="0" rtlCol="0" anchor="ctr" anchorCtr="0"/>
          <a:lstStyle/>
          <a:p>
            <a:pPr marL="285750" indent="-285750" algn="l">
              <a:lnSpc>
                <a:spcPct val="125000"/>
              </a:lnSpc>
              <a:buFont typeface="Arial" panose="020B0604020202020204" pitchFamily="34" charset="0"/>
              <a:buChar char="•"/>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通过咨询式调研</a:t>
            </a: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，深度理解客户的需求，以及对具体产出的期望</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endParaRPr lang="en-US" altLang="zh-CN"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marL="285750" indent="-285750" algn="l">
              <a:lnSpc>
                <a:spcPct val="125000"/>
              </a:lnSpc>
              <a:buFont typeface="Arial" panose="020B0604020202020204" pitchFamily="34" charset="0"/>
              <a:buChar char="•"/>
              <a:defRPr/>
            </a:pPr>
            <a:r>
              <a:rPr lang="zh-CN" altLang="en-US" sz="13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rPr>
              <a:t>深入了解行业挑战、企业的核心价值链以及</a:t>
            </a:r>
            <a:r>
              <a:rPr lang="en-US" altLang="zh-CN" sz="13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rPr>
              <a:t>AI</a:t>
            </a:r>
            <a:r>
              <a:rPr lang="zh-CN" altLang="en-US" sz="13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rPr>
              <a:t>变革的关键场景，以设计高度定制化的培训方案，并确认工作坊的输出成果。</a:t>
            </a:r>
            <a:endParaRPr lang="en-US" altLang="zh-CN" sz="1300" dirty="0">
              <a:solidFill>
                <a:srgbClr val="666666"/>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AutoShape 12"/>
          <p:cNvSpPr/>
          <p:nvPr/>
        </p:nvSpPr>
        <p:spPr>
          <a:xfrm>
            <a:off x="4318000" y="2004855"/>
            <a:ext cx="3556000" cy="2387036"/>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2258855"/>
            <a:ext cx="457200" cy="457200"/>
          </a:xfrm>
          <a:prstGeom prst="rect">
            <a:avLst/>
          </a:prstGeom>
        </p:spPr>
      </p:pic>
      <p:sp>
        <p:nvSpPr>
          <p:cNvPr id="14" name="AutoShape 14"/>
          <p:cNvSpPr/>
          <p:nvPr/>
        </p:nvSpPr>
        <p:spPr>
          <a:xfrm>
            <a:off x="5207000" y="2233455"/>
            <a:ext cx="250444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培训中：</a:t>
            </a:r>
            <a:r>
              <a:rPr lang="en-US" sz="1500" b="1" dirty="0" err="1">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成果产出式交付</a:t>
            </a:r>
            <a:endParaRPr lang="en-US" sz="1500" b="1"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a:lnSpc>
                <a:spcPct val="125000"/>
              </a:lnSpc>
              <a:defRPr/>
            </a:pPr>
            <a:r>
              <a:rPr lang="zh-CN" altLang="en-US" sz="11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en-US" altLang="zh-CN" sz="11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a:t>
            </a:r>
            <a:r>
              <a:rPr lang="zh-CN" altLang="en-US" sz="11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天）</a:t>
            </a:r>
            <a:endParaRPr lang="en-US" altLang="zh-CN" sz="1100" dirty="0">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AutoShape 15"/>
          <p:cNvSpPr/>
          <p:nvPr/>
        </p:nvSpPr>
        <p:spPr>
          <a:xfrm>
            <a:off x="4572000" y="2741454"/>
            <a:ext cx="3048000" cy="1525746"/>
          </a:xfrm>
          <a:prstGeom prst="rect">
            <a:avLst/>
          </a:prstGeom>
          <a:noFill/>
          <a:ln w="12700" cap="flat" cmpd="sng">
            <a:noFill/>
            <a:prstDash val="solid"/>
            <a:round/>
          </a:ln>
        </p:spPr>
        <p:txBody>
          <a:bodyPr vert="horz" wrap="square" lIns="0" tIns="0" rIns="0" bIns="0" rtlCol="0" anchor="ctr" anchorCtr="0"/>
          <a:lstStyle/>
          <a:p>
            <a:pPr marL="285750" indent="-285750" algn="l">
              <a:lnSpc>
                <a:spcPct val="125000"/>
              </a:lnSpc>
              <a:buFont typeface="Arial" panose="020B0604020202020204" pitchFamily="34" charset="0"/>
              <a:buChar char="•"/>
              <a:defRPr/>
            </a:pPr>
            <a:r>
              <a:rPr lang="en-US" sz="1300" b="0" i="0" u="none" strike="noStrike" dirty="0" err="1">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行业专家</a:t>
            </a:r>
            <a:r>
              <a:rPr lang="en-US" altLang="zh-CN"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管理专家联合交付工作坊，确保现场互动深刻有效；</a:t>
            </a:r>
            <a:endParaRPr lang="en-US" altLang="zh-CN"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marL="285750" indent="-285750" algn="l">
              <a:lnSpc>
                <a:spcPct val="125000"/>
              </a:lnSpc>
              <a:buFont typeface="Arial" panose="020B0604020202020204" pitchFamily="34" charset="0"/>
              <a:buChar char="•"/>
              <a:defRPr/>
            </a:pP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“专家讲授</a:t>
            </a:r>
            <a:r>
              <a:rPr lang="en-US" altLang="zh-CN"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案例拆解</a:t>
            </a:r>
            <a:r>
              <a:rPr lang="en-US" altLang="zh-CN"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情境模拟</a:t>
            </a:r>
            <a:r>
              <a:rPr lang="en-US" altLang="zh-CN"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深度点评</a:t>
            </a:r>
            <a:r>
              <a:rPr lang="en-US" altLang="zh-CN"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成果共创”方式相结合，让参训人员完成“认知改变</a:t>
            </a:r>
            <a:r>
              <a:rPr lang="en-US" altLang="zh-CN"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工具获得</a:t>
            </a:r>
            <a:r>
              <a:rPr lang="en-US" altLang="zh-CN"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成果产出”的三重目标。</a:t>
            </a:r>
            <a:endParaRPr lang="en-US" altLang="zh-CN"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p:txBody>
      </p:sp>
      <p:sp>
        <p:nvSpPr>
          <p:cNvPr id="16" name="AutoShape 16"/>
          <p:cNvSpPr/>
          <p:nvPr/>
        </p:nvSpPr>
        <p:spPr>
          <a:xfrm>
            <a:off x="8128000" y="2004855"/>
            <a:ext cx="3556000" cy="2387036"/>
          </a:xfrm>
          <a:prstGeom prst="roundRect">
            <a:avLst>
              <a:gd name="adj" fmla="val 5925"/>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endParaRPr sz="1200" b="1">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2258855"/>
            <a:ext cx="457200" cy="457200"/>
          </a:xfrm>
          <a:prstGeom prst="rect">
            <a:avLst/>
          </a:prstGeom>
        </p:spPr>
      </p:pic>
      <p:sp>
        <p:nvSpPr>
          <p:cNvPr id="18" name="AutoShape 18"/>
          <p:cNvSpPr/>
          <p:nvPr/>
        </p:nvSpPr>
        <p:spPr>
          <a:xfrm>
            <a:off x="9017000" y="2233455"/>
            <a:ext cx="25273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dirty="0" err="1">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培训后</a:t>
            </a:r>
            <a:r>
              <a:rPr lang="en-US" sz="1500" b="1" i="0" u="none" strike="noStrike" dirty="0" err="1">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：跟进式辅导</a:t>
            </a:r>
            <a:endParaRPr lang="en-US" sz="1500" b="1" i="0" u="none" strike="noStrike"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endParaRPr>
          </a:p>
          <a:p>
            <a:pPr>
              <a:lnSpc>
                <a:spcPct val="125000"/>
              </a:lnSpc>
              <a:defRPr/>
            </a:pPr>
            <a:r>
              <a:rPr lang="zh-CN" altLang="en-US" sz="11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（培训后</a:t>
            </a:r>
            <a:r>
              <a:rPr lang="en-US" altLang="zh-CN" sz="11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a:t>
            </a:r>
            <a:r>
              <a:rPr lang="zh-CN" altLang="en-US" sz="1100" dirty="0">
                <a:solidFill>
                  <a:srgbClr val="7C4DFF"/>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周内）</a:t>
            </a:r>
            <a:endParaRPr lang="en-US" altLang="zh-CN" sz="1100" dirty="0">
              <a:solidFill>
                <a:srgbClr val="7C4D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AutoShape 19"/>
          <p:cNvSpPr/>
          <p:nvPr/>
        </p:nvSpPr>
        <p:spPr>
          <a:xfrm>
            <a:off x="8382000" y="2783020"/>
            <a:ext cx="3048000" cy="1484180"/>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Font typeface="Arial" panose="020B0604020202020204" pitchFamily="34" charset="0"/>
              <a:buChar char="•"/>
              <a:defRPr/>
            </a:pPr>
            <a:r>
              <a:rPr 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培训</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结束后</a:t>
            </a:r>
            <a:r>
              <a:rPr lang="en-US" altLang="zh-CN"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2</a:t>
            </a: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周内，提供一次</a:t>
            </a:r>
            <a:r>
              <a:rPr lang="en-US" altLang="zh-CN"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1</a:t>
            </a:r>
            <a:r>
              <a:rPr lang="zh-CN" alt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小时的深度咨询辅导服务，解答关于产出成果在企业内落地的</a:t>
            </a:r>
            <a:r>
              <a:rPr lang="zh-CN" altLang="en-US" sz="1300"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相关问题</a:t>
            </a:r>
            <a:r>
              <a:rPr lang="en-US" sz="1300" b="0" i="0" u="none" strike="noStrike" dirty="0">
                <a:solidFill>
                  <a:srgbClr val="666666"/>
                </a:solidFill>
                <a:latin typeface="微软雅黑" panose="020B0503020204020204" pitchFamily="34" charset="-122"/>
                <a:ea typeface="微软雅黑" panose="020B0503020204020204" pitchFamily="34" charset="-122"/>
                <a:cs typeface="Noto Sans SC"/>
                <a:sym typeface="微软雅黑" panose="020B0503020204020204" pitchFamily="34" charset="-122"/>
              </a:rPr>
              <a:t>。</a:t>
            </a:r>
          </a:p>
          <a:p>
            <a:pPr marL="285750" indent="-285750" algn="l">
              <a:lnSpc>
                <a:spcPct val="125000"/>
              </a:lnSpc>
              <a:buFont typeface="Arial" panose="020B0604020202020204" pitchFamily="34" charset="0"/>
              <a:buChar char="•"/>
              <a:defRPr/>
            </a:pPr>
            <a:endParaRPr lang="en-US" sz="11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标题 1">
            <a:extLst>
              <a:ext uri="{FF2B5EF4-FFF2-40B4-BE49-F238E27FC236}">
                <a16:creationId xmlns:a16="http://schemas.microsoft.com/office/drawing/2014/main" id="{CA9C07F4-BE59-29B3-56BE-20C651C525C9}"/>
              </a:ext>
            </a:extLst>
          </p:cNvPr>
          <p:cNvSpPr txBox="1"/>
          <p:nvPr/>
        </p:nvSpPr>
        <p:spPr>
          <a:xfrm>
            <a:off x="441411" y="720014"/>
            <a:ext cx="8992875" cy="537286"/>
          </a:xfrm>
          <a:prstGeom prst="rect">
            <a:avLst/>
          </a:prstGeom>
        </p:spPr>
        <p:txBody>
          <a:bodyPr vert="horz" lIns="76180" tIns="38091" rIns="76180" bIns="38091" rtlCol="0" anchor="t" anchorCtr="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nSpc>
                <a:spcPct val="100000"/>
              </a:lnSpc>
            </a:pP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瑞华智策</a:t>
            </a:r>
            <a:r>
              <a:rPr lang="zh-CN" altLang="en-US" sz="3500" b="1" dirty="0">
                <a:solidFill>
                  <a:srgbClr val="AF5AFE"/>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咨询式培训</a:t>
            </a:r>
            <a:r>
              <a:rPr lang="zh-CN" altLang="en-US" sz="3500" b="1" dirty="0">
                <a:solidFill>
                  <a:srgbClr val="5E35B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rPr>
              <a:t>的特色</a:t>
            </a:r>
          </a:p>
        </p:txBody>
      </p:sp>
      <p:sp>
        <p:nvSpPr>
          <p:cNvPr id="2" name="矩形 1">
            <a:extLst>
              <a:ext uri="{FF2B5EF4-FFF2-40B4-BE49-F238E27FC236}">
                <a16:creationId xmlns:a16="http://schemas.microsoft.com/office/drawing/2014/main" id="{7DB61B1D-C5CB-2035-2201-15665C4A9CD1}"/>
              </a:ext>
            </a:extLst>
          </p:cNvPr>
          <p:cNvSpPr/>
          <p:nvPr/>
        </p:nvSpPr>
        <p:spPr>
          <a:xfrm>
            <a:off x="0" y="4927020"/>
            <a:ext cx="12192000" cy="1105834"/>
          </a:xfrm>
          <a:prstGeom prst="rect">
            <a:avLst/>
          </a:prstGeom>
          <a:solidFill>
            <a:srgbClr val="7C4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zh-CN" altLang="en-US" b="1" dirty="0">
                <a:solidFill>
                  <a:schemeClr val="bg1"/>
                </a:solidFill>
                <a:latin typeface="Microsoft YaHei" panose="020B0503020204020204" pitchFamily="34" charset="-122"/>
                <a:ea typeface="Microsoft YaHei" panose="020B0503020204020204" pitchFamily="34" charset="-122"/>
              </a:rPr>
              <a:t>比培训更深刻：</a:t>
            </a:r>
            <a:r>
              <a:rPr lang="zh-CN" altLang="en-US" dirty="0">
                <a:solidFill>
                  <a:schemeClr val="bg1"/>
                </a:solidFill>
                <a:latin typeface="Microsoft YaHei" panose="020B0503020204020204" pitchFamily="34" charset="-122"/>
                <a:ea typeface="Microsoft YaHei" panose="020B0503020204020204" pitchFamily="34" charset="-122"/>
              </a:rPr>
              <a:t>深入行业，适配企业，交付成果</a:t>
            </a:r>
            <a:endParaRPr lang="en-US" altLang="zh-CN" dirty="0">
              <a:solidFill>
                <a:schemeClr val="bg1"/>
              </a:solidFill>
              <a:latin typeface="Microsoft YaHei" panose="020B0503020204020204" pitchFamily="34" charset="-122"/>
              <a:ea typeface="Microsoft YaHei" panose="020B0503020204020204" pitchFamily="34" charset="-122"/>
            </a:endParaRPr>
          </a:p>
          <a:p>
            <a:pPr marL="285750" indent="-285750" algn="ctr">
              <a:buFont typeface="Arial" panose="020B0604020202020204" pitchFamily="34" charset="0"/>
              <a:buChar char="•"/>
            </a:pPr>
            <a:r>
              <a:rPr lang="zh-CN" altLang="en-US" b="1" dirty="0">
                <a:solidFill>
                  <a:schemeClr val="bg1"/>
                </a:solidFill>
                <a:latin typeface="Microsoft YaHei" panose="020B0503020204020204" pitchFamily="34" charset="-122"/>
                <a:ea typeface="Microsoft YaHei" panose="020B0503020204020204" pitchFamily="34" charset="-122"/>
              </a:rPr>
              <a:t>比咨询更轻盈：</a:t>
            </a:r>
            <a:r>
              <a:rPr lang="zh-CN" altLang="en-US" dirty="0">
                <a:solidFill>
                  <a:schemeClr val="bg1"/>
                </a:solidFill>
                <a:latin typeface="Microsoft YaHei" panose="020B0503020204020204" pitchFamily="34" charset="-122"/>
                <a:ea typeface="Microsoft YaHei" panose="020B0503020204020204" pitchFamily="34" charset="-122"/>
              </a:rPr>
              <a:t>成本更低，周期更短，交付更快</a:t>
            </a:r>
          </a:p>
        </p:txBody>
      </p:sp>
    </p:spTree>
    <p:extLst>
      <p:ext uri="{BB962C8B-B14F-4D97-AF65-F5344CB8AC3E}">
        <p14:creationId xmlns:p14="http://schemas.microsoft.com/office/powerpoint/2010/main" val="304182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39BB76D-DAE5-FD0E-59E6-79939505DC65}"/>
              </a:ext>
            </a:extLst>
          </p:cNvPr>
          <p:cNvGrpSpPr/>
          <p:nvPr/>
        </p:nvGrpSpPr>
        <p:grpSpPr>
          <a:xfrm>
            <a:off x="1682961" y="2229575"/>
            <a:ext cx="8826078" cy="2398851"/>
            <a:chOff x="1528222" y="2400300"/>
            <a:chExt cx="8826078" cy="2398851"/>
          </a:xfrm>
        </p:grpSpPr>
        <p:sp>
          <p:nvSpPr>
            <p:cNvPr id="7" name="Rectangle 51">
              <a:extLst>
                <a:ext uri="{FF2B5EF4-FFF2-40B4-BE49-F238E27FC236}">
                  <a16:creationId xmlns:a16="http://schemas.microsoft.com/office/drawing/2014/main" id="{B3CA38D3-04FB-9AFB-184F-B368BF8E711E}"/>
                </a:ext>
              </a:extLst>
            </p:cNvPr>
            <p:cNvSpPr>
              <a:spLocks/>
            </p:cNvSpPr>
            <p:nvPr/>
          </p:nvSpPr>
          <p:spPr bwMode="auto">
            <a:xfrm>
              <a:off x="3382064" y="2884778"/>
              <a:ext cx="5450210" cy="615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vert="horz" wrap="none" lIns="0" tIns="0" rIns="0" bIns="0" anchor="ctr" anchorCtr="0">
              <a:spAutoFit/>
            </a:bodyPr>
            <a:lstStyle/>
            <a:p>
              <a:pPr algn="ctr" defTabSz="2286000"/>
              <a:r>
                <a:rPr lang="zh-CN" altLang="en-US" sz="4000" b="1"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瑞华智策的差异化优势</a:t>
              </a:r>
              <a:endParaRPr lang="en-US" sz="4000" b="1"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endParaRPr>
            </a:p>
          </p:txBody>
        </p:sp>
        <p:grpSp>
          <p:nvGrpSpPr>
            <p:cNvPr id="8" name="Group 9">
              <a:extLst>
                <a:ext uri="{FF2B5EF4-FFF2-40B4-BE49-F238E27FC236}">
                  <a16:creationId xmlns:a16="http://schemas.microsoft.com/office/drawing/2014/main" id="{759BD8DB-8E9E-1568-E21D-517087E5B461}"/>
                </a:ext>
              </a:extLst>
            </p:cNvPr>
            <p:cNvGrpSpPr/>
            <p:nvPr/>
          </p:nvGrpSpPr>
          <p:grpSpPr>
            <a:xfrm rot="10800000">
              <a:off x="9545948" y="2400300"/>
              <a:ext cx="808352" cy="2398850"/>
              <a:chOff x="19021815" y="4800600"/>
              <a:chExt cx="1616703" cy="4797700"/>
            </a:xfrm>
          </p:grpSpPr>
          <p:grpSp>
            <p:nvGrpSpPr>
              <p:cNvPr id="18" name="Group 8">
                <a:extLst>
                  <a:ext uri="{FF2B5EF4-FFF2-40B4-BE49-F238E27FC236}">
                    <a16:creationId xmlns:a16="http://schemas.microsoft.com/office/drawing/2014/main" id="{38DD9665-DE5F-40C4-CF85-A905730A4E56}"/>
                  </a:ext>
                </a:extLst>
              </p:cNvPr>
              <p:cNvGrpSpPr/>
              <p:nvPr/>
            </p:nvGrpSpPr>
            <p:grpSpPr>
              <a:xfrm>
                <a:off x="19021815" y="4800600"/>
                <a:ext cx="1616703" cy="1600200"/>
                <a:chOff x="3053268" y="4800600"/>
                <a:chExt cx="1616703" cy="1600200"/>
              </a:xfrm>
            </p:grpSpPr>
            <p:cxnSp>
              <p:nvCxnSpPr>
                <p:cNvPr id="22" name="Straight Connector 52">
                  <a:extLst>
                    <a:ext uri="{FF2B5EF4-FFF2-40B4-BE49-F238E27FC236}">
                      <a16:creationId xmlns:a16="http://schemas.microsoft.com/office/drawing/2014/main" id="{389C365A-FC69-8FE1-8767-558BABCCEB89}"/>
                    </a:ext>
                  </a:extLst>
                </p:cNvPr>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55">
                  <a:extLst>
                    <a:ext uri="{FF2B5EF4-FFF2-40B4-BE49-F238E27FC236}">
                      <a16:creationId xmlns:a16="http://schemas.microsoft.com/office/drawing/2014/main" id="{64580AD3-B5C0-3CDB-E514-3FD31A6DC3BE}"/>
                    </a:ext>
                  </a:extLst>
                </p:cNvPr>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Group 60">
                <a:extLst>
                  <a:ext uri="{FF2B5EF4-FFF2-40B4-BE49-F238E27FC236}">
                    <a16:creationId xmlns:a16="http://schemas.microsoft.com/office/drawing/2014/main" id="{D5109629-AB65-9255-B470-86E34EAA06BB}"/>
                  </a:ext>
                </a:extLst>
              </p:cNvPr>
              <p:cNvGrpSpPr/>
              <p:nvPr/>
            </p:nvGrpSpPr>
            <p:grpSpPr>
              <a:xfrm rot="16200000">
                <a:off x="19021815" y="7989849"/>
                <a:ext cx="1616703" cy="1600200"/>
                <a:chOff x="3053268" y="4800600"/>
                <a:chExt cx="1616703" cy="1600200"/>
              </a:xfrm>
            </p:grpSpPr>
            <p:cxnSp>
              <p:nvCxnSpPr>
                <p:cNvPr id="20" name="Straight Connector 61">
                  <a:extLst>
                    <a:ext uri="{FF2B5EF4-FFF2-40B4-BE49-F238E27FC236}">
                      <a16:creationId xmlns:a16="http://schemas.microsoft.com/office/drawing/2014/main" id="{9C9BFD49-84E0-F391-FD6F-484371DE0BB5}"/>
                    </a:ext>
                  </a:extLst>
                </p:cNvPr>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62">
                  <a:extLst>
                    <a:ext uri="{FF2B5EF4-FFF2-40B4-BE49-F238E27FC236}">
                      <a16:creationId xmlns:a16="http://schemas.microsoft.com/office/drawing/2014/main" id="{C2EA244E-CBAD-E5DE-FA4F-FCD71EAE6A14}"/>
                    </a:ext>
                  </a:extLst>
                </p:cNvPr>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9" name="Group 63">
              <a:extLst>
                <a:ext uri="{FF2B5EF4-FFF2-40B4-BE49-F238E27FC236}">
                  <a16:creationId xmlns:a16="http://schemas.microsoft.com/office/drawing/2014/main" id="{07DB0865-DFD2-1A07-C22E-C6477312875B}"/>
                </a:ext>
              </a:extLst>
            </p:cNvPr>
            <p:cNvGrpSpPr/>
            <p:nvPr/>
          </p:nvGrpSpPr>
          <p:grpSpPr>
            <a:xfrm>
              <a:off x="1528222" y="2400300"/>
              <a:ext cx="808352" cy="800100"/>
              <a:chOff x="3053268" y="4800600"/>
              <a:chExt cx="1616703" cy="1600200"/>
            </a:xfrm>
          </p:grpSpPr>
          <p:cxnSp>
            <p:nvCxnSpPr>
              <p:cNvPr id="16" name="Straight Connector 64">
                <a:extLst>
                  <a:ext uri="{FF2B5EF4-FFF2-40B4-BE49-F238E27FC236}">
                    <a16:creationId xmlns:a16="http://schemas.microsoft.com/office/drawing/2014/main" id="{20744308-51FC-E678-623E-6622E59AE111}"/>
                  </a:ext>
                </a:extLst>
              </p:cNvPr>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65">
                <a:extLst>
                  <a:ext uri="{FF2B5EF4-FFF2-40B4-BE49-F238E27FC236}">
                    <a16:creationId xmlns:a16="http://schemas.microsoft.com/office/drawing/2014/main" id="{0FDDC70B-0987-EA75-445B-EC3F2557C097}"/>
                  </a:ext>
                </a:extLst>
              </p:cNvPr>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0" name="Group 66">
              <a:extLst>
                <a:ext uri="{FF2B5EF4-FFF2-40B4-BE49-F238E27FC236}">
                  <a16:creationId xmlns:a16="http://schemas.microsoft.com/office/drawing/2014/main" id="{4E89A935-3EBC-7A08-526B-FE7E2E2B668F}"/>
                </a:ext>
              </a:extLst>
            </p:cNvPr>
            <p:cNvGrpSpPr/>
            <p:nvPr/>
          </p:nvGrpSpPr>
          <p:grpSpPr>
            <a:xfrm rot="16200000">
              <a:off x="1528222" y="3994925"/>
              <a:ext cx="808352" cy="800100"/>
              <a:chOff x="3053268" y="4800600"/>
              <a:chExt cx="1616703" cy="1600200"/>
            </a:xfrm>
          </p:grpSpPr>
          <p:cxnSp>
            <p:nvCxnSpPr>
              <p:cNvPr id="14" name="Straight Connector 67">
                <a:extLst>
                  <a:ext uri="{FF2B5EF4-FFF2-40B4-BE49-F238E27FC236}">
                    <a16:creationId xmlns:a16="http://schemas.microsoft.com/office/drawing/2014/main" id="{6B3CB987-265F-4600-3FEB-22174EE87DC8}"/>
                  </a:ext>
                </a:extLst>
              </p:cNvPr>
              <p:cNvCxnSpPr/>
              <p:nvPr/>
            </p:nvCxnSpPr>
            <p:spPr>
              <a:xfrm flipV="1">
                <a:off x="3053268" y="4800600"/>
                <a:ext cx="1616703" cy="12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68">
                <a:extLst>
                  <a:ext uri="{FF2B5EF4-FFF2-40B4-BE49-F238E27FC236}">
                    <a16:creationId xmlns:a16="http://schemas.microsoft.com/office/drawing/2014/main" id="{04C27D05-00EB-FACC-D4E0-FFD433683402}"/>
                  </a:ext>
                </a:extLst>
              </p:cNvPr>
              <p:cNvCxnSpPr/>
              <p:nvPr/>
            </p:nvCxnSpPr>
            <p:spPr>
              <a:xfrm flipV="1">
                <a:off x="3053268" y="4800601"/>
                <a:ext cx="0" cy="16001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Rectangle 51">
              <a:extLst>
                <a:ext uri="{FF2B5EF4-FFF2-40B4-BE49-F238E27FC236}">
                  <a16:creationId xmlns:a16="http://schemas.microsoft.com/office/drawing/2014/main" id="{F1E0AA39-EF90-D938-D6FB-01C2B2F53B31}"/>
                </a:ext>
              </a:extLst>
            </p:cNvPr>
            <p:cNvSpPr>
              <a:spLocks/>
            </p:cNvSpPr>
            <p:nvPr/>
          </p:nvSpPr>
          <p:spPr bwMode="auto">
            <a:xfrm>
              <a:off x="4297363" y="3561341"/>
              <a:ext cx="36035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vert="horz" wrap="none" lIns="0" tIns="0" rIns="0" bIns="0" anchor="ctr" anchorCtr="0">
              <a:spAutoFit/>
            </a:bodyPr>
            <a:lstStyle/>
            <a:p>
              <a:pPr algn="ctr" defTabSz="2286000"/>
              <a:r>
                <a:rPr lang="zh-CN" altLang="en-US" sz="2400"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我们为什么值得您选择</a:t>
              </a:r>
              <a:r>
                <a:rPr lang="en-US" altLang="zh-CN" sz="2400"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rPr>
                <a:t>?</a:t>
              </a:r>
              <a:endParaRPr lang="en-US" sz="2400" spc="25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MiSans" pitchFamily="2" charset="-122"/>
              </a:endParaRPr>
            </a:p>
          </p:txBody>
        </p:sp>
        <p:sp>
          <p:nvSpPr>
            <p:cNvPr id="12" name="Rectangle 51">
              <a:extLst>
                <a:ext uri="{FF2B5EF4-FFF2-40B4-BE49-F238E27FC236}">
                  <a16:creationId xmlns:a16="http://schemas.microsoft.com/office/drawing/2014/main" id="{1B430863-1C2F-92EE-25D7-FA3DE81F06E8}"/>
                </a:ext>
              </a:extLst>
            </p:cNvPr>
            <p:cNvSpPr>
              <a:spLocks/>
            </p:cNvSpPr>
            <p:nvPr/>
          </p:nvSpPr>
          <p:spPr bwMode="auto">
            <a:xfrm>
              <a:off x="4648668" y="4315574"/>
              <a:ext cx="2858155" cy="1923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vert="horz" wrap="none" lIns="0" tIns="0" rIns="0" bIns="0" anchor="ctr" anchorCtr="0">
              <a:spAutoFit/>
            </a:bodyPr>
            <a:lstStyle/>
            <a:p>
              <a:pPr algn="ctr" defTabSz="2286000"/>
              <a:r>
                <a:rPr lang="en-US" altLang="zh-CN"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COMPETITIVE</a:t>
              </a:r>
              <a:r>
                <a:rPr lang="zh-CN" altLang="en-US"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 </a:t>
              </a:r>
              <a:r>
                <a:rPr lang="en-US" altLang="zh-CN"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rPr>
                <a:t>ADVANTAGES</a:t>
              </a:r>
              <a:endParaRPr lang="en-US" sz="1250" spc="250" dirty="0">
                <a:solidFill>
                  <a:schemeClr val="bg1"/>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endParaRPr>
            </a:p>
          </p:txBody>
        </p:sp>
        <p:cxnSp>
          <p:nvCxnSpPr>
            <p:cNvPr id="13" name="直接连接符 12">
              <a:extLst>
                <a:ext uri="{FF2B5EF4-FFF2-40B4-BE49-F238E27FC236}">
                  <a16:creationId xmlns:a16="http://schemas.microsoft.com/office/drawing/2014/main" id="{E88EB00D-8963-39FF-4B3E-F7EF922D8C49}"/>
                </a:ext>
              </a:extLst>
            </p:cNvPr>
            <p:cNvCxnSpPr>
              <a:cxnSpLocks/>
            </p:cNvCxnSpPr>
            <p:nvPr/>
          </p:nvCxnSpPr>
          <p:spPr>
            <a:xfrm>
              <a:off x="5426243" y="4098758"/>
              <a:ext cx="13395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6757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84418ECB-FD71-D9C7-82EA-9ED4D810115C}"/>
              </a:ext>
            </a:extLst>
          </p:cNvPr>
          <p:cNvSpPr txBox="1"/>
          <p:nvPr/>
        </p:nvSpPr>
        <p:spPr>
          <a:xfrm>
            <a:off x="819956" y="814707"/>
            <a:ext cx="10299671" cy="1059800"/>
          </a:xfrm>
          <a:prstGeom prst="rect">
            <a:avLst/>
          </a:prstGeom>
        </p:spPr>
        <p:txBody>
          <a:bodyPr vert="horz" lIns="76180" tIns="38091" rIns="76180" bIns="38091" rtlCol="0" anchor="t" anchorCtr="0">
            <a:noAutofit/>
          </a:bodyPr>
          <a:lstStyle>
            <a:defPPr>
              <a:defRPr lang="en-US"/>
            </a:defPPr>
            <a:lvl1pPr defTabSz="914400">
              <a:lnSpc>
                <a:spcPct val="90000"/>
              </a:lnSpc>
              <a:spcBef>
                <a:spcPct val="0"/>
              </a:spcBef>
              <a:buNone/>
              <a:defRPr sz="3500">
                <a:solidFill>
                  <a:srgbClr val="5E35B1"/>
                </a:solidFill>
                <a:latin typeface="MiSans bold" pitchFamily="2" charset="-122"/>
                <a:ea typeface="MiSans bold" pitchFamily="2" charset="-122"/>
                <a:cs typeface="OPPOSans R" panose="00020600040101010101" pitchFamily="18" charset="-122"/>
              </a:defRPr>
            </a:lvl1pPr>
          </a:lstStyle>
          <a:p>
            <a:r>
              <a:rPr lang="zh-CN" altLang="en-US" sz="3200" b="1" dirty="0">
                <a:latin typeface="微软雅黑" panose="020B0503020204020204" pitchFamily="34" charset="-122"/>
                <a:ea typeface="微软雅黑" panose="020B0503020204020204" pitchFamily="34" charset="-122"/>
                <a:sym typeface="MiSans" pitchFamily="2" charset="-122"/>
              </a:rPr>
              <a:t>管理咨询</a:t>
            </a:r>
            <a:r>
              <a:rPr lang="en-US" altLang="zh-CN" sz="3200" b="1" dirty="0">
                <a:latin typeface="微软雅黑" panose="020B0503020204020204" pitchFamily="34" charset="-122"/>
                <a:ea typeface="微软雅黑" panose="020B0503020204020204" pitchFamily="34" charset="-122"/>
                <a:sym typeface="MiSans" pitchFamily="2" charset="-122"/>
              </a:rPr>
              <a:t>+</a:t>
            </a:r>
            <a:r>
              <a:rPr lang="zh-CN" altLang="en-US" sz="3200" b="1" dirty="0">
                <a:latin typeface="微软雅黑" panose="020B0503020204020204" pitchFamily="34" charset="-122"/>
                <a:ea typeface="微软雅黑" panose="020B0503020204020204" pitchFamily="34" charset="-122"/>
                <a:sym typeface="MiSans" pitchFamily="2" charset="-122"/>
              </a:rPr>
              <a:t>数智化建设</a:t>
            </a:r>
            <a:r>
              <a:rPr lang="en-US" altLang="zh-CN" sz="3200" b="1" dirty="0">
                <a:latin typeface="微软雅黑" panose="020B0503020204020204" pitchFamily="34" charset="-122"/>
                <a:ea typeface="微软雅黑" panose="020B0503020204020204" pitchFamily="34" charset="-122"/>
                <a:sym typeface="MiSans" pitchFamily="2" charset="-122"/>
              </a:rPr>
              <a:t>+</a:t>
            </a:r>
            <a:r>
              <a:rPr lang="zh-CN" altLang="en-US" sz="3200" b="1" dirty="0">
                <a:latin typeface="微软雅黑" panose="020B0503020204020204" pitchFamily="34" charset="-122"/>
                <a:ea typeface="微软雅黑" panose="020B0503020204020204" pitchFamily="34" charset="-122"/>
                <a:sym typeface="MiSans" pitchFamily="2" charset="-122"/>
              </a:rPr>
              <a:t>陪伴式服务</a:t>
            </a:r>
            <a:endParaRPr lang="en-US" altLang="zh-CN" sz="3200" b="1" dirty="0">
              <a:latin typeface="微软雅黑" panose="020B0503020204020204" pitchFamily="34" charset="-122"/>
              <a:ea typeface="微软雅黑" panose="020B0503020204020204" pitchFamily="34" charset="-122"/>
              <a:sym typeface="MiSans" pitchFamily="2" charset="-122"/>
            </a:endParaRPr>
          </a:p>
          <a:p>
            <a:r>
              <a:rPr lang="en-US" altLang="zh-CN" sz="2400" dirty="0">
                <a:latin typeface="微软雅黑" panose="020B0503020204020204" pitchFamily="34" charset="-122"/>
                <a:ea typeface="微软雅黑" panose="020B0503020204020204" pitchFamily="34" charset="-122"/>
                <a:sym typeface="MiSans" pitchFamily="2" charset="-122"/>
              </a:rPr>
              <a:t>——</a:t>
            </a:r>
            <a:r>
              <a:rPr lang="zh-CN" altLang="en-US" sz="2400" dirty="0">
                <a:latin typeface="微软雅黑" panose="020B0503020204020204" pitchFamily="34" charset="-122"/>
                <a:ea typeface="微软雅黑" panose="020B0503020204020204" pitchFamily="34" charset="-122"/>
                <a:sym typeface="MiSans" pitchFamily="2" charset="-122"/>
              </a:rPr>
              <a:t>全方位助力客户完成</a:t>
            </a:r>
            <a:r>
              <a:rPr lang="en-US" altLang="zh-CN" sz="2400" dirty="0">
                <a:latin typeface="微软雅黑" panose="020B0503020204020204" pitchFamily="34" charset="-122"/>
                <a:ea typeface="微软雅黑" panose="020B0503020204020204" pitchFamily="34" charset="-122"/>
                <a:sym typeface="MiSans" pitchFamily="2" charset="-122"/>
              </a:rPr>
              <a:t>AI</a:t>
            </a:r>
            <a:r>
              <a:rPr lang="zh-CN" altLang="en-US" sz="2400" dirty="0">
                <a:latin typeface="微软雅黑" panose="020B0503020204020204" pitchFamily="34" charset="-122"/>
                <a:ea typeface="微软雅黑" panose="020B0503020204020204" pitchFamily="34" charset="-122"/>
                <a:sym typeface="MiSans" pitchFamily="2" charset="-122"/>
              </a:rPr>
              <a:t>时代的组织进化</a:t>
            </a:r>
            <a:endParaRPr lang="en-US" altLang="zh-CN" sz="2400" dirty="0">
              <a:latin typeface="微软雅黑" panose="020B0503020204020204" pitchFamily="34" charset="-122"/>
              <a:ea typeface="微软雅黑" panose="020B0503020204020204" pitchFamily="34" charset="-122"/>
              <a:sym typeface="MiSans" pitchFamily="2" charset="-122"/>
            </a:endParaRPr>
          </a:p>
          <a:p>
            <a:endParaRPr lang="zh-CN" altLang="en-US" sz="3200" dirty="0">
              <a:latin typeface="微软雅黑" panose="020B0503020204020204" pitchFamily="34" charset="-122"/>
              <a:ea typeface="微软雅黑" panose="020B0503020204020204" pitchFamily="34" charset="-122"/>
              <a:sym typeface="MiSans" pitchFamily="2" charset="-122"/>
            </a:endParaRPr>
          </a:p>
        </p:txBody>
      </p:sp>
      <p:grpSp>
        <p:nvGrpSpPr>
          <p:cNvPr id="3" name="组合 2">
            <a:extLst>
              <a:ext uri="{FF2B5EF4-FFF2-40B4-BE49-F238E27FC236}">
                <a16:creationId xmlns:a16="http://schemas.microsoft.com/office/drawing/2014/main" id="{B5960A3A-B70E-7565-A6F7-CDD7650C97CE}"/>
              </a:ext>
            </a:extLst>
          </p:cNvPr>
          <p:cNvGrpSpPr/>
          <p:nvPr/>
        </p:nvGrpSpPr>
        <p:grpSpPr>
          <a:xfrm>
            <a:off x="903290" y="1751992"/>
            <a:ext cx="3392869" cy="4562656"/>
            <a:chOff x="903290" y="1585732"/>
            <a:chExt cx="3488598" cy="4562656"/>
          </a:xfrm>
        </p:grpSpPr>
        <p:sp>
          <p:nvSpPr>
            <p:cNvPr id="6" name="矩形: 圆角 4">
              <a:extLst>
                <a:ext uri="{FF2B5EF4-FFF2-40B4-BE49-F238E27FC236}">
                  <a16:creationId xmlns:a16="http://schemas.microsoft.com/office/drawing/2014/main" id="{B36364EF-AA77-E637-AA44-0D13888CF38B}"/>
                </a:ext>
              </a:extLst>
            </p:cNvPr>
            <p:cNvSpPr/>
            <p:nvPr/>
          </p:nvSpPr>
          <p:spPr>
            <a:xfrm>
              <a:off x="903290" y="1585732"/>
              <a:ext cx="3488598" cy="4562656"/>
            </a:xfrm>
            <a:prstGeom prst="roundRect">
              <a:avLst>
                <a:gd name="adj" fmla="val 4620"/>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171450" indent="-171450" algn="just">
                <a:spcAft>
                  <a:spcPts val="600"/>
                </a:spcAft>
                <a:buFont typeface="Arial" panose="020B0604020202020204" pitchFamily="34" charset="0"/>
                <a:buChar char="•"/>
              </a:pPr>
              <a:r>
                <a:rPr lang="zh-CN" altLang="en-US" sz="1200" b="1" dirty="0">
                  <a:solidFill>
                    <a:srgbClr val="7C4DFF"/>
                  </a:solidFill>
                  <a:latin typeface="微软雅黑" panose="020B0503020204020204" pitchFamily="34" charset="-122"/>
                  <a:ea typeface="微软雅黑" panose="020B0503020204020204" pitchFamily="34" charset="-122"/>
                  <a:sym typeface="MiSans" pitchFamily="2" charset="-122"/>
                </a:rPr>
                <a:t>人机协同：</a:t>
              </a:r>
              <a:r>
                <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rPr>
                <a:t>AI</a:t>
              </a:r>
              <a:r>
                <a:rPr lang="zh-CN" altLang="en-US" sz="1200" dirty="0">
                  <a:solidFill>
                    <a:srgbClr val="424242"/>
                  </a:solidFill>
                  <a:latin typeface="微软雅黑" panose="020B0503020204020204" pitchFamily="34" charset="-122"/>
                  <a:ea typeface="微软雅黑" panose="020B0503020204020204" pitchFamily="34" charset="-122"/>
                  <a:sym typeface="MiSans" pitchFamily="2" charset="-122"/>
                </a:rPr>
                <a:t>提升诊断效率，资深顾问得以将更多精力聚焦于详细方案规划和落地，精准把握企业的个性化诉求；</a:t>
              </a:r>
              <a:endPar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endParaRPr>
            </a:p>
            <a:p>
              <a:pPr marL="171450" indent="-171450" algn="just">
                <a:spcAft>
                  <a:spcPts val="600"/>
                </a:spcAft>
                <a:buFont typeface="Arial" panose="020B0604020202020204" pitchFamily="34" charset="0"/>
                <a:buChar char="•"/>
              </a:pPr>
              <a:r>
                <a:rPr lang="zh-CN" altLang="en-US" sz="1200" b="1" dirty="0">
                  <a:solidFill>
                    <a:srgbClr val="7C4DFF"/>
                  </a:solidFill>
                  <a:latin typeface="微软雅黑" panose="020B0503020204020204" pitchFamily="34" charset="-122"/>
                  <a:ea typeface="微软雅黑" panose="020B0503020204020204" pitchFamily="34" charset="-122"/>
                  <a:sym typeface="MiSans" pitchFamily="2" charset="-122"/>
                </a:rPr>
                <a:t>专业领先：</a:t>
              </a:r>
              <a:r>
                <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rPr>
                <a:t>15+</a:t>
              </a:r>
              <a:r>
                <a:rPr lang="zh-CN" altLang="en-US" sz="1200" dirty="0">
                  <a:solidFill>
                    <a:srgbClr val="424242"/>
                  </a:solidFill>
                  <a:latin typeface="微软雅黑" panose="020B0503020204020204" pitchFamily="34" charset="-122"/>
                  <a:ea typeface="微软雅黑" panose="020B0503020204020204" pitchFamily="34" charset="-122"/>
                  <a:sym typeface="MiSans" pitchFamily="2" charset="-122"/>
                </a:rPr>
                <a:t>年沉淀的“人力资本价值经营”系统方法论，从原创专业模型、咨询模式到数智平台，构成了业内最完整且领先的解决方案；</a:t>
              </a:r>
              <a:endPar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endParaRPr>
            </a:p>
            <a:p>
              <a:pPr marL="171450" indent="-171450" algn="just">
                <a:spcAft>
                  <a:spcPts val="600"/>
                </a:spcAft>
                <a:buFont typeface="Arial" panose="020B0604020202020204" pitchFamily="34" charset="0"/>
                <a:buChar char="•"/>
              </a:pPr>
              <a:r>
                <a:rPr lang="zh-CN" altLang="en-US" sz="1200" b="1" dirty="0">
                  <a:solidFill>
                    <a:srgbClr val="7C4DFF"/>
                  </a:solidFill>
                  <a:latin typeface="微软雅黑" panose="020B0503020204020204" pitchFamily="34" charset="-122"/>
                  <a:ea typeface="微软雅黑" panose="020B0503020204020204" pitchFamily="34" charset="-122"/>
                  <a:sym typeface="MiSans" pitchFamily="2" charset="-122"/>
                </a:rPr>
                <a:t>行业定制：</a:t>
              </a:r>
              <a:r>
                <a:rPr lang="zh-CN" altLang="en-US" sz="1200" dirty="0">
                  <a:solidFill>
                    <a:srgbClr val="424242"/>
                  </a:solidFill>
                  <a:latin typeface="微软雅黑" panose="020B0503020204020204" pitchFamily="34" charset="-122"/>
                  <a:ea typeface="微软雅黑" panose="020B0503020204020204" pitchFamily="34" charset="-122"/>
                  <a:sym typeface="MiSans" pitchFamily="2" charset="-122"/>
                </a:rPr>
                <a:t>深入行业和真实的业务场景，进行核心价值链的梳理、对标数据的沉淀、</a:t>
              </a:r>
              <a:r>
                <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rPr>
                <a:t>ROHC</a:t>
              </a:r>
              <a:r>
                <a:rPr lang="zh-CN" altLang="en-US" sz="1200" dirty="0">
                  <a:solidFill>
                    <a:srgbClr val="424242"/>
                  </a:solidFill>
                  <a:latin typeface="微软雅黑" panose="020B0503020204020204" pitchFamily="34" charset="-122"/>
                  <a:ea typeface="微软雅黑" panose="020B0503020204020204" pitchFamily="34" charset="-122"/>
                  <a:sym typeface="MiSans" pitchFamily="2" charset="-122"/>
                </a:rPr>
                <a:t>核心指标设计、应用系统集成与</a:t>
              </a:r>
              <a:r>
                <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rPr>
                <a:t>AI</a:t>
              </a:r>
              <a:r>
                <a:rPr lang="zh-CN" altLang="en-US" sz="1200" dirty="0">
                  <a:solidFill>
                    <a:srgbClr val="424242"/>
                  </a:solidFill>
                  <a:latin typeface="微软雅黑" panose="020B0503020204020204" pitchFamily="34" charset="-122"/>
                  <a:ea typeface="微软雅黑" panose="020B0503020204020204" pitchFamily="34" charset="-122"/>
                  <a:sym typeface="MiSans" pitchFamily="2" charset="-122"/>
                </a:rPr>
                <a:t>化变革方案设计。</a:t>
              </a:r>
              <a:endParaRPr lang="en-US" altLang="zh-CN" sz="1200" dirty="0">
                <a:solidFill>
                  <a:srgbClr val="424242"/>
                </a:solidFill>
                <a:latin typeface="微软雅黑" panose="020B0503020204020204" pitchFamily="34" charset="-122"/>
                <a:ea typeface="微软雅黑" panose="020B0503020204020204" pitchFamily="34" charset="-122"/>
                <a:sym typeface="MiSans" pitchFamily="2" charset="-122"/>
              </a:endParaRPr>
            </a:p>
            <a:p>
              <a:pPr marL="171450" indent="-171450" algn="just">
                <a:buFont typeface="Arial" panose="020B0604020202020204" pitchFamily="34" charset="0"/>
                <a:buChar char="•"/>
              </a:pPr>
              <a:endParaRPr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pitchFamily="18" charset="-122"/>
                <a:sym typeface="MiSans" pitchFamily="2" charset="-122"/>
              </a:endParaRPr>
            </a:p>
          </p:txBody>
        </p:sp>
        <p:sp>
          <p:nvSpPr>
            <p:cNvPr id="7" name="圆角矩形 6">
              <a:extLst>
                <a:ext uri="{FF2B5EF4-FFF2-40B4-BE49-F238E27FC236}">
                  <a16:creationId xmlns:a16="http://schemas.microsoft.com/office/drawing/2014/main" id="{5B47896F-875F-DFCF-4627-E62512FE5068}"/>
                </a:ext>
              </a:extLst>
            </p:cNvPr>
            <p:cNvSpPr/>
            <p:nvPr/>
          </p:nvSpPr>
          <p:spPr>
            <a:xfrm>
              <a:off x="1002989" y="2300316"/>
              <a:ext cx="3289202" cy="618473"/>
            </a:xfrm>
            <a:prstGeom prst="roundRect">
              <a:avLst>
                <a:gd name="adj" fmla="val 0"/>
              </a:avLst>
            </a:prstGeom>
            <a:noFill/>
            <a:ln>
              <a:solidFill>
                <a:srgbClr val="7C4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人与</a:t>
              </a:r>
              <a:r>
                <a:rPr kumimoji="1" lang="en-US" altLang="zh-CN"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kumimoji="1" lang="zh-CN" altLang="en-US"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深度协同，提升咨询效率；借由咨询过程帮助企业导入</a:t>
              </a:r>
              <a:r>
                <a:rPr kumimoji="1" lang="en-US" altLang="zh-CN"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kumimoji="1" lang="zh-CN" altLang="en-US"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化变革。</a:t>
              </a:r>
              <a:endParaRPr kumimoji="1" lang="en-US" altLang="zh-CN"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p:txBody>
        </p:sp>
        <p:sp>
          <p:nvSpPr>
            <p:cNvPr id="8" name="同侧圆角矩形 7">
              <a:extLst>
                <a:ext uri="{FF2B5EF4-FFF2-40B4-BE49-F238E27FC236}">
                  <a16:creationId xmlns:a16="http://schemas.microsoft.com/office/drawing/2014/main" id="{AB76A6DC-3CC6-BE86-CE3F-8E4A5B98A273}"/>
                </a:ext>
              </a:extLst>
            </p:cNvPr>
            <p:cNvSpPr/>
            <p:nvPr/>
          </p:nvSpPr>
          <p:spPr>
            <a:xfrm>
              <a:off x="1002988" y="1681843"/>
              <a:ext cx="3289203" cy="618473"/>
            </a:xfrm>
            <a:prstGeom prst="round2SameRect">
              <a:avLst/>
            </a:prstGeom>
            <a:solidFill>
              <a:srgbClr val="800BF5"/>
            </a:solidFill>
            <a:ln>
              <a:solidFill>
                <a:srgbClr val="7C4D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spcAft>
                  <a:spcPts val="300"/>
                </a:spcAft>
              </a:pPr>
              <a:r>
                <a:rPr lang="zh-CN" altLang="en-US" sz="1898" b="1" dirty="0">
                  <a:solidFill>
                    <a:schemeClr val="bg1"/>
                  </a:solidFill>
                  <a:latin typeface="微软雅黑" panose="020B0503020204020204" pitchFamily="34" charset="-122"/>
                  <a:ea typeface="微软雅黑" panose="020B0503020204020204" pitchFamily="34" charset="-122"/>
                  <a:cs typeface="OPPOSans H" pitchFamily="18" charset="-122"/>
                  <a:sym typeface="MiSans" pitchFamily="2" charset="-122"/>
                </a:rPr>
                <a:t>管理咨询创新</a:t>
              </a:r>
            </a:p>
          </p:txBody>
        </p:sp>
      </p:grpSp>
      <p:grpSp>
        <p:nvGrpSpPr>
          <p:cNvPr id="9" name="组合 8">
            <a:extLst>
              <a:ext uri="{FF2B5EF4-FFF2-40B4-BE49-F238E27FC236}">
                <a16:creationId xmlns:a16="http://schemas.microsoft.com/office/drawing/2014/main" id="{1344D4E2-3AD3-A5A1-E102-E9D70FEC6238}"/>
              </a:ext>
            </a:extLst>
          </p:cNvPr>
          <p:cNvGrpSpPr/>
          <p:nvPr/>
        </p:nvGrpSpPr>
        <p:grpSpPr>
          <a:xfrm>
            <a:off x="4431317" y="1751992"/>
            <a:ext cx="3392869" cy="4562656"/>
            <a:chOff x="903290" y="1585732"/>
            <a:chExt cx="3488598" cy="4562656"/>
          </a:xfrm>
        </p:grpSpPr>
        <p:sp>
          <p:nvSpPr>
            <p:cNvPr id="10" name="矩形: 圆角 8">
              <a:extLst>
                <a:ext uri="{FF2B5EF4-FFF2-40B4-BE49-F238E27FC236}">
                  <a16:creationId xmlns:a16="http://schemas.microsoft.com/office/drawing/2014/main" id="{0F274DE6-F015-5057-1F7E-E1D3A367E1EF}"/>
                </a:ext>
              </a:extLst>
            </p:cNvPr>
            <p:cNvSpPr/>
            <p:nvPr/>
          </p:nvSpPr>
          <p:spPr>
            <a:xfrm>
              <a:off x="903290" y="1585732"/>
              <a:ext cx="3488598" cy="4562656"/>
            </a:xfrm>
            <a:prstGeom prst="roundRect">
              <a:avLst>
                <a:gd name="adj" fmla="val 4620"/>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216689" indent="-216689">
                <a:spcAft>
                  <a:spcPts val="600"/>
                </a:spcAft>
                <a:buFont typeface="Arial" panose="020B0604020202020204" pitchFamily="34" charset="0"/>
                <a:buChar char="•"/>
              </a:pPr>
              <a:r>
                <a:rPr kumimoji="1"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系统集成：</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针对企业系统繁多、集成工程浩大的难题，基于经营思维率先集成最强相关的人力、业务和财务管理系统；</a:t>
              </a:r>
              <a:endPar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a:p>
              <a:pPr marL="216689" indent="-216689">
                <a:spcAft>
                  <a:spcPts val="600"/>
                </a:spcAft>
                <a:buFont typeface="Arial" panose="020B0604020202020204" pitchFamily="34" charset="0"/>
                <a:buChar char="•"/>
              </a:pPr>
              <a:r>
                <a:rPr kumimoji="1"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数据治理：</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根据企业的数据量和复杂程度，提供适配的数据治理解决方案，打通“人</a:t>
              </a:r>
              <a:r>
                <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业</a:t>
              </a:r>
              <a:r>
                <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财”核心数据，以平衡数据治理工程的成本与收益；</a:t>
              </a:r>
              <a:endPar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a:p>
              <a:pPr marL="216689" indent="-216689">
                <a:spcAft>
                  <a:spcPts val="600"/>
                </a:spcAft>
                <a:buFont typeface="Arial" panose="020B0604020202020204" pitchFamily="34" charset="0"/>
                <a:buChar char="•"/>
              </a:pPr>
              <a:r>
                <a:rPr kumimoji="1" lang="en-US" altLang="zh-CN"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kumimoji="1"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化转型：</a:t>
              </a:r>
              <a:r>
                <a:rPr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两大核心数智平台</a:t>
              </a:r>
              <a:r>
                <a:rPr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HCVM</a:t>
              </a:r>
              <a:r>
                <a:rPr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和</a:t>
              </a:r>
              <a:r>
                <a:rPr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OHCVM</a:t>
              </a:r>
              <a:r>
                <a:rPr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均以</a:t>
              </a:r>
              <a:r>
                <a:rPr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为核心技术来构建，帮助企业实现数字化平台的智能化升级，让</a:t>
              </a:r>
              <a:r>
                <a:rPr lang="en"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最大化赋能于业务管理和经营决策。</a:t>
              </a:r>
              <a:endPar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p:txBody>
        </p:sp>
        <p:sp>
          <p:nvSpPr>
            <p:cNvPr id="11" name="圆角矩形 1">
              <a:extLst>
                <a:ext uri="{FF2B5EF4-FFF2-40B4-BE49-F238E27FC236}">
                  <a16:creationId xmlns:a16="http://schemas.microsoft.com/office/drawing/2014/main" id="{6B469546-7910-2CC8-D30A-55F281A45EA5}"/>
                </a:ext>
              </a:extLst>
            </p:cNvPr>
            <p:cNvSpPr/>
            <p:nvPr/>
          </p:nvSpPr>
          <p:spPr>
            <a:xfrm>
              <a:off x="1002989" y="2300316"/>
              <a:ext cx="3289202" cy="618473"/>
            </a:xfrm>
            <a:prstGeom prst="roundRect">
              <a:avLst>
                <a:gd name="adj" fmla="val 0"/>
              </a:avLst>
            </a:prstGeom>
            <a:noFill/>
            <a:ln>
              <a:solidFill>
                <a:srgbClr val="7C4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以人力资本价值经营理念打通内部应用系统，推动数字化升级到</a:t>
              </a:r>
              <a:r>
                <a:rPr kumimoji="1" lang="en-US" altLang="zh-CN"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kumimoji="1" lang="zh-CN" altLang="en-US"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化进程。</a:t>
              </a:r>
              <a:endParaRPr kumimoji="1" lang="en-US" altLang="zh-CN"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p:txBody>
        </p:sp>
        <p:sp>
          <p:nvSpPr>
            <p:cNvPr id="12" name="同侧圆角矩形 2">
              <a:extLst>
                <a:ext uri="{FF2B5EF4-FFF2-40B4-BE49-F238E27FC236}">
                  <a16:creationId xmlns:a16="http://schemas.microsoft.com/office/drawing/2014/main" id="{2FEA74D0-C4F9-5E0C-776B-05BCD1C953B7}"/>
                </a:ext>
              </a:extLst>
            </p:cNvPr>
            <p:cNvSpPr/>
            <p:nvPr/>
          </p:nvSpPr>
          <p:spPr>
            <a:xfrm>
              <a:off x="1002988" y="1681843"/>
              <a:ext cx="3289203" cy="618473"/>
            </a:xfrm>
            <a:prstGeom prst="round2SameRect">
              <a:avLst/>
            </a:prstGeom>
            <a:solidFill>
              <a:srgbClr val="800BF5"/>
            </a:solidFill>
            <a:ln>
              <a:solidFill>
                <a:srgbClr val="7C4D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cs typeface="OPPOSans B" panose="00020600040101010101" charset="-122"/>
                  <a:sym typeface="MiSans" pitchFamily="2" charset="-122"/>
                </a:rPr>
                <a:t>数智化建设创新</a:t>
              </a:r>
            </a:p>
          </p:txBody>
        </p:sp>
      </p:grpSp>
      <p:grpSp>
        <p:nvGrpSpPr>
          <p:cNvPr id="13" name="组合 12">
            <a:extLst>
              <a:ext uri="{FF2B5EF4-FFF2-40B4-BE49-F238E27FC236}">
                <a16:creationId xmlns:a16="http://schemas.microsoft.com/office/drawing/2014/main" id="{D0DBC24F-D99A-E303-6411-74675B966089}"/>
              </a:ext>
            </a:extLst>
          </p:cNvPr>
          <p:cNvGrpSpPr/>
          <p:nvPr/>
        </p:nvGrpSpPr>
        <p:grpSpPr>
          <a:xfrm>
            <a:off x="7959344" y="1751992"/>
            <a:ext cx="3392869" cy="4562656"/>
            <a:chOff x="903290" y="1585732"/>
            <a:chExt cx="3488598" cy="4562656"/>
          </a:xfrm>
        </p:grpSpPr>
        <p:sp>
          <p:nvSpPr>
            <p:cNvPr id="14" name="矩形: 圆角 14">
              <a:extLst>
                <a:ext uri="{FF2B5EF4-FFF2-40B4-BE49-F238E27FC236}">
                  <a16:creationId xmlns:a16="http://schemas.microsoft.com/office/drawing/2014/main" id="{BD08CDC1-AFBA-1D59-9895-53FE5A8E1632}"/>
                </a:ext>
              </a:extLst>
            </p:cNvPr>
            <p:cNvSpPr/>
            <p:nvPr/>
          </p:nvSpPr>
          <p:spPr>
            <a:xfrm>
              <a:off x="903290" y="1585732"/>
              <a:ext cx="3488598" cy="4562656"/>
            </a:xfrm>
            <a:prstGeom prst="roundRect">
              <a:avLst>
                <a:gd name="adj" fmla="val 4620"/>
              </a:avLst>
            </a:prstGeom>
            <a:solidFill>
              <a:schemeClr val="bg1">
                <a:lumMod val="95000"/>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tIns="1476000" rIns="216000" rtlCol="0" anchor="t"/>
            <a:lstStyle/>
            <a:p>
              <a:pPr marL="216689" indent="-216689">
                <a:spcAft>
                  <a:spcPts val="600"/>
                </a:spcAft>
                <a:buFont typeface="Arial" panose="020B0604020202020204" pitchFamily="34" charset="0"/>
                <a:buChar char="•"/>
              </a:pPr>
              <a:r>
                <a:rPr kumimoji="1"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一站式服务：</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人均</a:t>
              </a:r>
              <a:r>
                <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15+</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年经验的专业团队都兼具甲乙两方背景、专业和业务双重经验，能够提供确保变革成功的一站式服务，包括但不限于管理咨询、数智化建设、主题工作坊、</a:t>
              </a:r>
              <a:r>
                <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应用培训等；</a:t>
              </a:r>
              <a:endPar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a:p>
              <a:pPr marL="216689" indent="-216689">
                <a:spcAft>
                  <a:spcPts val="600"/>
                </a:spcAft>
                <a:buFont typeface="Arial" panose="020B0604020202020204" pitchFamily="34" charset="0"/>
                <a:buChar char="•"/>
              </a:pPr>
              <a:r>
                <a:rPr kumimoji="1"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效果导向：</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基于集团多年练就了扎实的交付效果的组织能力，并获得众多头部客户的信任背书，瑞华智策所有服务的价值锚点都是和客户一起“拿到结果”；</a:t>
              </a:r>
              <a:endPar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a:p>
              <a:pPr marL="216689" indent="-216689">
                <a:spcAft>
                  <a:spcPts val="600"/>
                </a:spcAft>
                <a:buFont typeface="Arial" panose="020B0604020202020204" pitchFamily="34" charset="0"/>
                <a:buChar char="•"/>
              </a:pPr>
              <a:r>
                <a:rPr kumimoji="1" lang="zh-CN" altLang="en-US" sz="12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长期主义：</a:t>
              </a:r>
              <a:r>
                <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AI</a:t>
              </a:r>
              <a:r>
                <a:rPr kumimoji="1" lang="zh-CN" altLang="en-US"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时代的“人力资本价值经营”体系注定是一个持续进化的体系，瑞华智策致力于长期陪伴客户与时俱进。</a:t>
              </a:r>
              <a:endParaRPr kumimoji="1" lang="en-US" altLang="zh-CN" sz="1200" dirty="0">
                <a:solidFill>
                  <a:srgbClr val="454954"/>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p:txBody>
        </p:sp>
        <p:sp>
          <p:nvSpPr>
            <p:cNvPr id="17" name="圆角矩形 1">
              <a:extLst>
                <a:ext uri="{FF2B5EF4-FFF2-40B4-BE49-F238E27FC236}">
                  <a16:creationId xmlns:a16="http://schemas.microsoft.com/office/drawing/2014/main" id="{2E3B7610-A5D3-B56E-317A-3542BB565E5C}"/>
                </a:ext>
              </a:extLst>
            </p:cNvPr>
            <p:cNvSpPr/>
            <p:nvPr/>
          </p:nvSpPr>
          <p:spPr>
            <a:xfrm>
              <a:off x="1002989" y="2300316"/>
              <a:ext cx="3289202" cy="618473"/>
            </a:xfrm>
            <a:prstGeom prst="roundRect">
              <a:avLst>
                <a:gd name="adj" fmla="val 0"/>
              </a:avLst>
            </a:prstGeom>
            <a:noFill/>
            <a:ln>
              <a:solidFill>
                <a:srgbClr val="7C4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rPr>
                <a:t>一站式专业服务确保客户变革成功，和客户一起向长期主义要价值。</a:t>
              </a:r>
              <a:endParaRPr kumimoji="1" lang="en-US" altLang="zh-CN" sz="1400" b="1" dirty="0">
                <a:solidFill>
                  <a:srgbClr val="7C4DFF"/>
                </a:solidFill>
                <a:latin typeface="微软雅黑" panose="020B0503020204020204" pitchFamily="34" charset="-122"/>
                <a:ea typeface="微软雅黑" panose="020B0503020204020204" pitchFamily="34" charset="-122"/>
                <a:cs typeface="OPPOSans R" panose="00020600040101010101" charset="-122"/>
                <a:sym typeface="MiSans" pitchFamily="2" charset="-122"/>
              </a:endParaRPr>
            </a:p>
          </p:txBody>
        </p:sp>
        <p:sp>
          <p:nvSpPr>
            <p:cNvPr id="18" name="同侧圆角矩形 2">
              <a:extLst>
                <a:ext uri="{FF2B5EF4-FFF2-40B4-BE49-F238E27FC236}">
                  <a16:creationId xmlns:a16="http://schemas.microsoft.com/office/drawing/2014/main" id="{5E5E0990-3E1C-45FC-7609-58E0F68E24CF}"/>
                </a:ext>
              </a:extLst>
            </p:cNvPr>
            <p:cNvSpPr/>
            <p:nvPr/>
          </p:nvSpPr>
          <p:spPr>
            <a:xfrm>
              <a:off x="1002988" y="1681843"/>
              <a:ext cx="3289203" cy="618473"/>
            </a:xfrm>
            <a:prstGeom prst="round2SameRect">
              <a:avLst/>
            </a:prstGeom>
            <a:solidFill>
              <a:srgbClr val="800BF5"/>
            </a:solidFill>
            <a:ln>
              <a:solidFill>
                <a:srgbClr val="7C4D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cs typeface="OPPOSans B" panose="00020600040101010101" charset="-122"/>
                  <a:sym typeface="MiSans" pitchFamily="2" charset="-122"/>
                </a:rPr>
                <a:t>服务创新</a:t>
              </a:r>
            </a:p>
          </p:txBody>
        </p:sp>
      </p:grpSp>
    </p:spTree>
    <p:extLst>
      <p:ext uri="{BB962C8B-B14F-4D97-AF65-F5344CB8AC3E}">
        <p14:creationId xmlns:p14="http://schemas.microsoft.com/office/powerpoint/2010/main" val="865736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8249899" y="1344187"/>
            <a:ext cx="3420000" cy="1868204"/>
          </a:xfrm>
          <a:prstGeom prst="rect">
            <a:avLst/>
          </a:prstGeom>
          <a:noFill/>
          <a:effectLst/>
        </p:spPr>
        <p:txBody>
          <a:bodyPr wrap="square">
            <a:spAutoFit/>
          </a:bodyPr>
          <a:lstStyle/>
          <a:p>
            <a:pPr>
              <a:lnSpc>
                <a:spcPct val="110000"/>
              </a:lnSpc>
              <a:spcAft>
                <a:spcPts val="300"/>
              </a:spcAft>
            </a:pPr>
            <a:r>
              <a:rPr lang="zh-CN" altLang="en-US"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杨星宇</a:t>
            </a:r>
            <a:endParaRPr lang="en-US" altLang="zh-CN"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瑞华智策</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CTO</a:t>
            </a: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资深数智化战略与架构专家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TOGAF</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认证企业架构师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原埃森哲解决方案架构师与企业架构师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原</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IBM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企业架构师</a:t>
            </a:r>
          </a:p>
          <a:p>
            <a:pPr defTabSz="913765">
              <a:lnSpc>
                <a:spcPct val="110000"/>
              </a:lnSpc>
              <a:spcBef>
                <a:spcPts val="600"/>
              </a:spcBef>
              <a:spcAft>
                <a:spcPts val="200"/>
              </a:spcAft>
              <a:buSzPct val="25000"/>
              <a:defRPr/>
            </a:pP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具备甲方战略规划与乙方落地交付复合视角，曾任首席架构师、</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CDO</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CTO</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及</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CIO</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等岗位；精通从企业架构到技术执行的全链路管理、大模型（</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LLM</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）相关技术与</a:t>
            </a:r>
            <a:r>
              <a:rPr lang="en-US" altLang="zh-CN" sz="900" dirty="0" err="1">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Agentic</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AI </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架构；为众多企业提供过数字化咨询与解决方案并推动成功落地。</a:t>
            </a:r>
          </a:p>
          <a:p>
            <a:pPr defTabSz="913765">
              <a:lnSpc>
                <a:spcPct val="110000"/>
              </a:lnSpc>
              <a:spcBef>
                <a:spcPts val="600"/>
              </a:spcBef>
              <a:spcAft>
                <a:spcPts val="200"/>
              </a:spcAft>
              <a:buSzPct val="25000"/>
              <a:defRPr/>
            </a:pPr>
            <a:endPar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8" name="标题 7"/>
          <p:cNvSpPr>
            <a:spLocks noGrp="1"/>
          </p:cNvSpPr>
          <p:nvPr>
            <p:ph type="title"/>
          </p:nvPr>
        </p:nvSpPr>
        <p:spPr/>
        <p:txBody>
          <a:bodyPr/>
          <a:lstStyle/>
          <a:p>
            <a:r>
              <a:rPr lang="zh-CN" altLang="en-US" dirty="0"/>
              <a:t>瑞华智策专家讲师团队</a:t>
            </a:r>
          </a:p>
        </p:txBody>
      </p:sp>
      <p:sp>
        <p:nvSpPr>
          <p:cNvPr id="59" name="矩形 58"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539465" y="1344187"/>
            <a:ext cx="3420000" cy="2034916"/>
          </a:xfrm>
          <a:prstGeom prst="rect">
            <a:avLst/>
          </a:prstGeom>
          <a:noFill/>
          <a:effectLst/>
        </p:spPr>
        <p:txBody>
          <a:bodyPr wrap="square">
            <a:spAutoFit/>
          </a:bodyPr>
          <a:lstStyle/>
          <a:p>
            <a:pPr>
              <a:lnSpc>
                <a:spcPct val="110000"/>
              </a:lnSpc>
              <a:spcAft>
                <a:spcPts val="300"/>
              </a:spcAft>
            </a:pPr>
            <a:r>
              <a:rPr lang="zh-CN" altLang="en-US"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高燕</a:t>
            </a:r>
            <a:endParaRPr lang="en-US" altLang="zh-CN"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瑞华智策副总裁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新质组织研究中心主任</a:t>
            </a:r>
            <a:endPar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a:p>
            <a:pPr>
              <a:lnSpc>
                <a:spcPct val="110000"/>
              </a:lnSpc>
              <a:spcAft>
                <a:spcPts val="200"/>
              </a:spcAft>
            </a:pP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价值驱动增长</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作者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资深战略营销业务增长专家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|AI</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原生组织深度实践者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企业</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AI</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化变革资深顾问 </a:t>
            </a:r>
          </a:p>
          <a:p>
            <a:pPr algn="just"/>
            <a:r>
              <a:rPr lang="zh-CN" altLang="en-US" sz="900" dirty="0">
                <a:latin typeface="微软雅黑" panose="020B0503020204020204" pitchFamily="34" charset="-122"/>
                <a:ea typeface="微软雅黑" panose="020B0503020204020204" pitchFamily="34" charset="-122"/>
                <a:cs typeface="Arial" panose="020B0604020202090204" pitchFamily="34" charset="0"/>
              </a:rPr>
              <a:t>曾任某高科技企业</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CEO</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，兼具</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B2B</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与</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B2C</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领域实践经验，甲方和乙方双重视角，以及中美两国的学研经历。</a:t>
            </a:r>
          </a:p>
          <a:p>
            <a:pPr algn="just"/>
            <a:r>
              <a:rPr lang="zh-CN" altLang="en-US" sz="900" dirty="0">
                <a:latin typeface="微软雅黑" panose="020B0503020204020204" pitchFamily="34" charset="-122"/>
                <a:ea typeface="微软雅黑" panose="020B0503020204020204" pitchFamily="34" charset="-122"/>
                <a:cs typeface="Arial" panose="020B0604020202090204" pitchFamily="34" charset="0"/>
              </a:rPr>
              <a:t>曾开创本土</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SaaS</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行业战略营销和品牌打造范式，为软件、家电建材、高科技、企服等多行业的近百家企业提供过战略、组织、营销增长、变革管理的咨询和培训服务，收获零差评口碑。</a:t>
            </a:r>
          </a:p>
          <a:p>
            <a:pPr algn="just"/>
            <a:r>
              <a:rPr lang="en-US" altLang="zh-CN" sz="900" dirty="0">
                <a:latin typeface="微软雅黑" panose="020B0503020204020204" pitchFamily="34" charset="-122"/>
                <a:ea typeface="微软雅黑" panose="020B0503020204020204" pitchFamily="34" charset="-122"/>
                <a:cs typeface="Arial" panose="020B0604020202090204" pitchFamily="34" charset="0"/>
              </a:rPr>
              <a:t>2022</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年，成功主持某行业头部企业的首款</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AI</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产品</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GTM</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战役，自此成为</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AI</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原生组织的持续探索者，为多家企业提供了</a:t>
            </a:r>
            <a:r>
              <a:rPr lang="en-US" altLang="zh-CN" sz="900" dirty="0">
                <a:latin typeface="微软雅黑" panose="020B0503020204020204" pitchFamily="34" charset="-122"/>
                <a:ea typeface="微软雅黑" panose="020B0503020204020204" pitchFamily="34" charset="-122"/>
                <a:cs typeface="Arial" panose="020B0604020202090204" pitchFamily="34" charset="0"/>
              </a:rPr>
              <a:t>AI</a:t>
            </a:r>
            <a:r>
              <a:rPr lang="zh-CN" altLang="en-US" sz="900" dirty="0">
                <a:latin typeface="微软雅黑" panose="020B0503020204020204" pitchFamily="34" charset="-122"/>
                <a:ea typeface="微软雅黑" panose="020B0503020204020204" pitchFamily="34" charset="-122"/>
                <a:cs typeface="Arial" panose="020B0604020202090204" pitchFamily="34" charset="0"/>
              </a:rPr>
              <a:t>化变革的辅导服务。</a:t>
            </a:r>
          </a:p>
        </p:txBody>
      </p:sp>
      <p:sp>
        <p:nvSpPr>
          <p:cNvPr id="17" name="矩形 16"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539465" y="3920486"/>
            <a:ext cx="3420000" cy="2070310"/>
          </a:xfrm>
          <a:prstGeom prst="rect">
            <a:avLst/>
          </a:prstGeom>
          <a:noFill/>
          <a:effectLst/>
        </p:spPr>
        <p:txBody>
          <a:bodyPr wrap="square">
            <a:spAutoFit/>
          </a:bodyPr>
          <a:lstStyle/>
          <a:p>
            <a:pPr>
              <a:lnSpc>
                <a:spcPct val="110000"/>
              </a:lnSpc>
              <a:spcAft>
                <a:spcPts val="300"/>
              </a:spcAft>
            </a:pPr>
            <a:r>
              <a:rPr lang="zh-CN" altLang="en-US"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欧阳晖</a:t>
            </a:r>
            <a:endParaRPr lang="en-US" altLang="zh-CN"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瑞华智策资深咨询顾问</a:t>
            </a:r>
            <a:endPar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资深</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管理专家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海外</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管理与实践专家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原央企、头部民企</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管理经验</a:t>
            </a:r>
          </a:p>
          <a:p>
            <a:pPr defTabSz="913765">
              <a:lnSpc>
                <a:spcPct val="110000"/>
              </a:lnSpc>
              <a:spcBef>
                <a:spcPts val="600"/>
              </a:spcBef>
              <a:spcAft>
                <a:spcPts val="200"/>
              </a:spcAft>
              <a:buSzPct val="25000"/>
              <a:defRPr/>
            </a:pP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丰富的甲乙方</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管理与咨询经验，构建了从战略顶层设计到微观机制落地的全栈专业能力；作为 “懂业务”的人力资源专家，从</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0</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到</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1</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构建人瑞海外业务与组织体系，擅长将复杂的商业挑战转化为组织和人力资源解决方案；为众多企业提供人力资源管理和海外</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体系建构的服务，专长于组织设计、薪酬、绩效、人才管理、招聘、及全球化</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管理体系建设等领域；专著</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职能工资设计</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，译著</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哈佛商业评论：寻找和留住优秀人才</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endPar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18" name="矩形 17"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4394681" y="3920486"/>
            <a:ext cx="3420000" cy="2222660"/>
          </a:xfrm>
          <a:prstGeom prst="rect">
            <a:avLst/>
          </a:prstGeom>
          <a:noFill/>
          <a:effectLst/>
        </p:spPr>
        <p:txBody>
          <a:bodyPr wrap="square">
            <a:spAutoFit/>
          </a:bodyPr>
          <a:lstStyle/>
          <a:p>
            <a:pPr>
              <a:lnSpc>
                <a:spcPct val="110000"/>
              </a:lnSpc>
              <a:spcAft>
                <a:spcPts val="300"/>
              </a:spcAft>
            </a:pPr>
            <a:r>
              <a:rPr lang="zh-CN" altLang="en-US"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汤争艳</a:t>
            </a:r>
            <a:endParaRPr lang="en-US" altLang="zh-CN"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瑞华智策资深咨询顾问</a:t>
            </a:r>
            <a:endPar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应用心理学博士 高级经济师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高级人力资源师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原人瑞人才研究院院长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外包业务总经理</a:t>
            </a:r>
          </a:p>
          <a:p>
            <a:pPr defTabSz="913765">
              <a:lnSpc>
                <a:spcPct val="110000"/>
              </a:lnSpc>
              <a:spcBef>
                <a:spcPts val="600"/>
              </a:spcBef>
              <a:spcAft>
                <a:spcPts val="200"/>
              </a:spcAft>
              <a:buSzPct val="25000"/>
              <a:defRPr/>
            </a:pP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曾任多家大型集团人力资源管理岗位，历任人瑞业务、运营、研究院负责人；为大型中国移动、国家电网、华域汽车集团、纳铁福传动轴、江苏核电、中航无线电所等企业提供</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咨询服务；主导字节跳动、阿里巴巴、京东、小米、蔚来汽车、货拉拉等大型企业的用工管理研究及实践；深谙人力资源底层逻辑，擅长从战略高度诊断并解决复杂组织痛点，根据企业核心价值流和业务场景，定制化协作智能应用，帮助企业实现人力资本价值经营数智化转型。</a:t>
            </a:r>
            <a:endPar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19" name="矩形 18"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8249899" y="3920486"/>
            <a:ext cx="3420000" cy="2325252"/>
          </a:xfrm>
          <a:prstGeom prst="rect">
            <a:avLst/>
          </a:prstGeom>
          <a:noFill/>
          <a:effectLst/>
        </p:spPr>
        <p:txBody>
          <a:bodyPr wrap="square">
            <a:spAutoFit/>
          </a:bodyPr>
          <a:lstStyle/>
          <a:p>
            <a:pPr>
              <a:lnSpc>
                <a:spcPct val="110000"/>
              </a:lnSpc>
              <a:spcAft>
                <a:spcPts val="300"/>
              </a:spcAft>
            </a:pPr>
            <a:r>
              <a:rPr lang="zh-CN" altLang="en-US"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王玉博</a:t>
            </a:r>
            <a:endParaRPr lang="en-US" altLang="zh-CN"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瑞华智策高级咨询顾问</a:t>
            </a:r>
            <a:endPar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中国人力资源开发研究会研究员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中国人民大学人力资源</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&amp;</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劳动经济学博士后</a:t>
            </a:r>
            <a:endParaRPr lang="zh-CN" altLang="en-US" sz="12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a:p>
            <a:pPr defTabSz="913765">
              <a:lnSpc>
                <a:spcPct val="110000"/>
              </a:lnSpc>
              <a:spcBef>
                <a:spcPts val="600"/>
              </a:spcBef>
              <a:spcAft>
                <a:spcPts val="200"/>
              </a:spcAft>
              <a:buSzPct val="25000"/>
              <a:defRPr/>
            </a:pP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参加过国家自科、国家社科、教育部等多项企业人才研究重点课题，核心研究方向为组织韧性、战略型领导力、薪酬绩效、多元用工模式等；作为咨询顾问参与多项管理咨询和数字化项目，包括华为、阿里巴巴、比亚迪、中广核、上海商飞、上海电力、国家电网、南方电网、南方航空等知名企业；曾在</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CSSCI</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核心知名期刊</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中国人力资源开发</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经济问题</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中国人口科学</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发表多篇学术论文。</a:t>
            </a:r>
          </a:p>
          <a:p>
            <a:pPr defTabSz="913765">
              <a:lnSpc>
                <a:spcPct val="110000"/>
              </a:lnSpc>
              <a:spcBef>
                <a:spcPts val="600"/>
              </a:spcBef>
              <a:spcAft>
                <a:spcPts val="200"/>
              </a:spcAft>
              <a:buSzPct val="25000"/>
              <a:defRPr/>
            </a:pPr>
            <a:endPar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20" name="矩形 19"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4394681" y="1344187"/>
            <a:ext cx="3420000" cy="1907317"/>
          </a:xfrm>
          <a:prstGeom prst="rect">
            <a:avLst/>
          </a:prstGeom>
          <a:noFill/>
          <a:effectLst/>
        </p:spPr>
        <p:txBody>
          <a:bodyPr wrap="square">
            <a:spAutoFit/>
          </a:bodyPr>
          <a:lstStyle/>
          <a:p>
            <a:pPr>
              <a:lnSpc>
                <a:spcPct val="110000"/>
              </a:lnSpc>
              <a:spcAft>
                <a:spcPts val="300"/>
              </a:spcAft>
            </a:pPr>
            <a:r>
              <a:rPr lang="zh-CN" altLang="en-US"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李丰华</a:t>
            </a:r>
            <a:endParaRPr lang="en-US" altLang="zh-CN" sz="1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endParaRP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瑞华智策咨询公司副总裁</a:t>
            </a:r>
          </a:p>
          <a:p>
            <a:pPr>
              <a:lnSpc>
                <a:spcPct val="110000"/>
              </a:lnSpc>
              <a:spcAft>
                <a:spcPts val="200"/>
              </a:spcAft>
            </a:pP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组织与人才变革专家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干部与领导力顾问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HR AI</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与数字化转型专家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企业架构培训师 </a:t>
            </a:r>
            <a:r>
              <a:rPr lang="en-US" altLang="zh-CN"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 IPD</a:t>
            </a:r>
            <a:r>
              <a:rPr lang="zh-CN" altLang="en-US" sz="10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集成产品开发顾问</a:t>
            </a:r>
          </a:p>
          <a:p>
            <a:pPr defTabSz="913765">
              <a:lnSpc>
                <a:spcPct val="110000"/>
              </a:lnSpc>
              <a:spcBef>
                <a:spcPts val="600"/>
              </a:spcBef>
              <a:spcAft>
                <a:spcPts val="200"/>
              </a:spcAft>
              <a:buSzPct val="25000"/>
              <a:defRPr/>
            </a:pP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为华为、海信、吉利、平安、中远、广汽、中广核、中国电信、中海油等数十家企业提供包括业务战略与变革、</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全线管理咨询、流程设计与系统落地等咨询；熟悉世界一流</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管理思想、模型和领先企业实践；专长领域包括人力资源管理能力体系建设、干部与人才管理、战略到执行目标绩效、组织有效性与人效管理、</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AI</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与数字化变革转型、</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4A</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架构、</a:t>
            </a:r>
            <a:r>
              <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IPD</a:t>
            </a:r>
            <a:r>
              <a:rPr lang="zh-CN" altLang="en-US"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变革与实施、系统实施。</a:t>
            </a:r>
            <a:endParaRPr lang="en-US" altLang="zh-CN" sz="9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rcRect l="17985" t="5277" r="25898" b="43701"/>
          <a:stretch>
            <a:fillRect/>
          </a:stretch>
        </p:blipFill>
        <p:spPr>
          <a:xfrm>
            <a:off x="7075803" y="1143605"/>
            <a:ext cx="612000" cy="612000"/>
          </a:xfrm>
          <a:custGeom>
            <a:avLst/>
            <a:gdLst>
              <a:gd name="connsiteX0" fmla="*/ 811565 w 1623130"/>
              <a:gd name="connsiteY0" fmla="*/ 0 h 1623130"/>
              <a:gd name="connsiteX1" fmla="*/ 1623130 w 1623130"/>
              <a:gd name="connsiteY1" fmla="*/ 811565 h 1623130"/>
              <a:gd name="connsiteX2" fmla="*/ 811565 w 1623130"/>
              <a:gd name="connsiteY2" fmla="*/ 1623130 h 1623130"/>
              <a:gd name="connsiteX3" fmla="*/ 0 w 1623130"/>
              <a:gd name="connsiteY3" fmla="*/ 811565 h 1623130"/>
              <a:gd name="connsiteX4" fmla="*/ 811565 w 1623130"/>
              <a:gd name="connsiteY4" fmla="*/ 0 h 1623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130" h="1623130">
                <a:moveTo>
                  <a:pt x="811565" y="0"/>
                </a:moveTo>
                <a:cubicBezTo>
                  <a:pt x="1259780" y="0"/>
                  <a:pt x="1623130" y="363350"/>
                  <a:pt x="1623130" y="811565"/>
                </a:cubicBezTo>
                <a:cubicBezTo>
                  <a:pt x="1623130" y="1259780"/>
                  <a:pt x="1259780" y="1623130"/>
                  <a:pt x="811565" y="1623130"/>
                </a:cubicBezTo>
                <a:cubicBezTo>
                  <a:pt x="363350" y="1623130"/>
                  <a:pt x="0" y="1259780"/>
                  <a:pt x="0" y="811565"/>
                </a:cubicBezTo>
                <a:cubicBezTo>
                  <a:pt x="0" y="363350"/>
                  <a:pt x="363350" y="0"/>
                  <a:pt x="811565" y="0"/>
                </a:cubicBezTo>
                <a:close/>
              </a:path>
            </a:pathLst>
          </a:custGeom>
        </p:spPr>
      </p:pic>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rcRect l="21688" t="7028" r="24570" b="51930"/>
          <a:stretch>
            <a:fillRect/>
          </a:stretch>
        </p:blipFill>
        <p:spPr>
          <a:xfrm>
            <a:off x="10936370" y="1143605"/>
            <a:ext cx="612000" cy="612000"/>
          </a:xfrm>
          <a:custGeom>
            <a:avLst/>
            <a:gdLst>
              <a:gd name="connsiteX0" fmla="*/ 811565 w 1623130"/>
              <a:gd name="connsiteY0" fmla="*/ 0 h 1623130"/>
              <a:gd name="connsiteX1" fmla="*/ 1623130 w 1623130"/>
              <a:gd name="connsiteY1" fmla="*/ 811565 h 1623130"/>
              <a:gd name="connsiteX2" fmla="*/ 811565 w 1623130"/>
              <a:gd name="connsiteY2" fmla="*/ 1623130 h 1623130"/>
              <a:gd name="connsiteX3" fmla="*/ 0 w 1623130"/>
              <a:gd name="connsiteY3" fmla="*/ 811565 h 1623130"/>
              <a:gd name="connsiteX4" fmla="*/ 811565 w 1623130"/>
              <a:gd name="connsiteY4" fmla="*/ 0 h 1623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130" h="1623130">
                <a:moveTo>
                  <a:pt x="811565" y="0"/>
                </a:moveTo>
                <a:cubicBezTo>
                  <a:pt x="1259780" y="0"/>
                  <a:pt x="1623130" y="363350"/>
                  <a:pt x="1623130" y="811565"/>
                </a:cubicBezTo>
                <a:cubicBezTo>
                  <a:pt x="1623130" y="1259780"/>
                  <a:pt x="1259780" y="1623130"/>
                  <a:pt x="811565" y="1623130"/>
                </a:cubicBezTo>
                <a:cubicBezTo>
                  <a:pt x="363350" y="1623130"/>
                  <a:pt x="0" y="1259780"/>
                  <a:pt x="0" y="811565"/>
                </a:cubicBezTo>
                <a:cubicBezTo>
                  <a:pt x="0" y="363350"/>
                  <a:pt x="363350" y="0"/>
                  <a:pt x="811565" y="0"/>
                </a:cubicBezTo>
                <a:close/>
              </a:path>
            </a:pathLst>
          </a:custGeom>
        </p:spPr>
      </p:pic>
      <p:pic>
        <p:nvPicPr>
          <p:cNvPr id="22" name="图片 21"/>
          <p:cNvPicPr>
            <a:picLocks noChangeAspect="1"/>
          </p:cNvPicPr>
          <p:nvPr/>
        </p:nvPicPr>
        <p:blipFill rotWithShape="1">
          <a:blip r:embed="rId5">
            <a:extLst>
              <a:ext uri="{28A0092B-C50C-407E-A947-70E740481C1C}">
                <a14:useLocalDpi xmlns:a14="http://schemas.microsoft.com/office/drawing/2010/main" val="0"/>
              </a:ext>
            </a:extLst>
          </a:blip>
          <a:srcRect l="3540" r="-3540" b="24970"/>
          <a:stretch/>
        </p:blipFill>
        <p:spPr>
          <a:xfrm>
            <a:off x="3218989" y="1125676"/>
            <a:ext cx="612000" cy="612000"/>
          </a:xfrm>
          <a:custGeom>
            <a:avLst/>
            <a:gdLst>
              <a:gd name="connsiteX0" fmla="*/ 811565 w 1623130"/>
              <a:gd name="connsiteY0" fmla="*/ 0 h 1623130"/>
              <a:gd name="connsiteX1" fmla="*/ 1623130 w 1623130"/>
              <a:gd name="connsiteY1" fmla="*/ 811565 h 1623130"/>
              <a:gd name="connsiteX2" fmla="*/ 811565 w 1623130"/>
              <a:gd name="connsiteY2" fmla="*/ 1623130 h 1623130"/>
              <a:gd name="connsiteX3" fmla="*/ 0 w 1623130"/>
              <a:gd name="connsiteY3" fmla="*/ 811565 h 1623130"/>
              <a:gd name="connsiteX4" fmla="*/ 811565 w 1623130"/>
              <a:gd name="connsiteY4" fmla="*/ 0 h 1623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130" h="1623130">
                <a:moveTo>
                  <a:pt x="811565" y="0"/>
                </a:moveTo>
                <a:cubicBezTo>
                  <a:pt x="1259780" y="0"/>
                  <a:pt x="1623130" y="363350"/>
                  <a:pt x="1623130" y="811565"/>
                </a:cubicBezTo>
                <a:cubicBezTo>
                  <a:pt x="1623130" y="1259780"/>
                  <a:pt x="1259780" y="1623130"/>
                  <a:pt x="811565" y="1623130"/>
                </a:cubicBezTo>
                <a:cubicBezTo>
                  <a:pt x="363350" y="1623130"/>
                  <a:pt x="0" y="1259780"/>
                  <a:pt x="0" y="811565"/>
                </a:cubicBezTo>
                <a:cubicBezTo>
                  <a:pt x="0" y="363350"/>
                  <a:pt x="363350" y="0"/>
                  <a:pt x="811565" y="0"/>
                </a:cubicBezTo>
                <a:close/>
              </a:path>
            </a:pathLst>
          </a:custGeom>
        </p:spPr>
      </p:pic>
      <p:pic>
        <p:nvPicPr>
          <p:cNvPr id="23" name="图片 22"/>
          <p:cNvPicPr>
            <a:picLocks noChangeAspect="1"/>
          </p:cNvPicPr>
          <p:nvPr/>
        </p:nvPicPr>
        <p:blipFill>
          <a:blip r:embed="rId6" cstate="print">
            <a:extLst>
              <a:ext uri="{28A0092B-C50C-407E-A947-70E740481C1C}">
                <a14:useLocalDpi xmlns:a14="http://schemas.microsoft.com/office/drawing/2010/main" val="0"/>
              </a:ext>
            </a:extLst>
          </a:blip>
          <a:srcRect l="21905" t="371" r="28568" b="48608"/>
          <a:stretch>
            <a:fillRect/>
          </a:stretch>
        </p:blipFill>
        <p:spPr>
          <a:xfrm>
            <a:off x="7075803" y="3707387"/>
            <a:ext cx="612000" cy="612000"/>
          </a:xfrm>
          <a:custGeom>
            <a:avLst/>
            <a:gdLst>
              <a:gd name="connsiteX0" fmla="*/ 811565 w 1623130"/>
              <a:gd name="connsiteY0" fmla="*/ 0 h 1623130"/>
              <a:gd name="connsiteX1" fmla="*/ 1623130 w 1623130"/>
              <a:gd name="connsiteY1" fmla="*/ 811565 h 1623130"/>
              <a:gd name="connsiteX2" fmla="*/ 811565 w 1623130"/>
              <a:gd name="connsiteY2" fmla="*/ 1623130 h 1623130"/>
              <a:gd name="connsiteX3" fmla="*/ 0 w 1623130"/>
              <a:gd name="connsiteY3" fmla="*/ 811565 h 1623130"/>
              <a:gd name="connsiteX4" fmla="*/ 811565 w 1623130"/>
              <a:gd name="connsiteY4" fmla="*/ 0 h 1623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130" h="1623130">
                <a:moveTo>
                  <a:pt x="811565" y="0"/>
                </a:moveTo>
                <a:cubicBezTo>
                  <a:pt x="1259780" y="0"/>
                  <a:pt x="1623130" y="363350"/>
                  <a:pt x="1623130" y="811565"/>
                </a:cubicBezTo>
                <a:cubicBezTo>
                  <a:pt x="1623130" y="1259780"/>
                  <a:pt x="1259780" y="1623130"/>
                  <a:pt x="811565" y="1623130"/>
                </a:cubicBezTo>
                <a:cubicBezTo>
                  <a:pt x="363350" y="1623130"/>
                  <a:pt x="0" y="1259780"/>
                  <a:pt x="0" y="811565"/>
                </a:cubicBezTo>
                <a:cubicBezTo>
                  <a:pt x="0" y="363350"/>
                  <a:pt x="363350" y="0"/>
                  <a:pt x="811565" y="0"/>
                </a:cubicBezTo>
                <a:close/>
              </a:path>
            </a:pathLst>
          </a:custGeom>
        </p:spPr>
      </p:pic>
      <p:pic>
        <p:nvPicPr>
          <p:cNvPr id="24" name="图片 23"/>
          <p:cNvPicPr>
            <a:picLocks noChangeAspect="1"/>
          </p:cNvPicPr>
          <p:nvPr/>
        </p:nvPicPr>
        <p:blipFill>
          <a:blip r:embed="rId7" cstate="print">
            <a:extLst>
              <a:ext uri="{28A0092B-C50C-407E-A947-70E740481C1C}">
                <a14:useLocalDpi xmlns:a14="http://schemas.microsoft.com/office/drawing/2010/main" val="0"/>
              </a:ext>
            </a:extLst>
          </a:blip>
          <a:srcRect l="1984" t="2855" r="9785" b="32608"/>
          <a:stretch>
            <a:fillRect/>
          </a:stretch>
        </p:blipFill>
        <p:spPr>
          <a:xfrm>
            <a:off x="10936370" y="3707387"/>
            <a:ext cx="612000" cy="612000"/>
          </a:xfrm>
          <a:custGeom>
            <a:avLst/>
            <a:gdLst>
              <a:gd name="connsiteX0" fmla="*/ 1026547 w 2053094"/>
              <a:gd name="connsiteY0" fmla="*/ 0 h 2053094"/>
              <a:gd name="connsiteX1" fmla="*/ 2053094 w 2053094"/>
              <a:gd name="connsiteY1" fmla="*/ 1026547 h 2053094"/>
              <a:gd name="connsiteX2" fmla="*/ 1026547 w 2053094"/>
              <a:gd name="connsiteY2" fmla="*/ 2053094 h 2053094"/>
              <a:gd name="connsiteX3" fmla="*/ 0 w 2053094"/>
              <a:gd name="connsiteY3" fmla="*/ 1026547 h 2053094"/>
              <a:gd name="connsiteX4" fmla="*/ 1026547 w 2053094"/>
              <a:gd name="connsiteY4" fmla="*/ 0 h 2053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094" h="2053094">
                <a:moveTo>
                  <a:pt x="1026547" y="0"/>
                </a:moveTo>
                <a:cubicBezTo>
                  <a:pt x="1593493" y="0"/>
                  <a:pt x="2053094" y="459601"/>
                  <a:pt x="2053094" y="1026547"/>
                </a:cubicBezTo>
                <a:cubicBezTo>
                  <a:pt x="2053094" y="1593493"/>
                  <a:pt x="1593493" y="2053094"/>
                  <a:pt x="1026547" y="2053094"/>
                </a:cubicBezTo>
                <a:cubicBezTo>
                  <a:pt x="459601" y="2053094"/>
                  <a:pt x="0" y="1593493"/>
                  <a:pt x="0" y="1026547"/>
                </a:cubicBezTo>
                <a:cubicBezTo>
                  <a:pt x="0" y="459601"/>
                  <a:pt x="459601" y="0"/>
                  <a:pt x="1026547" y="0"/>
                </a:cubicBezTo>
                <a:close/>
              </a:path>
            </a:pathLst>
          </a:custGeom>
        </p:spPr>
      </p:pic>
      <p:pic>
        <p:nvPicPr>
          <p:cNvPr id="25" name="图片 24"/>
          <p:cNvPicPr>
            <a:picLocks noChangeAspect="1"/>
          </p:cNvPicPr>
          <p:nvPr/>
        </p:nvPicPr>
        <p:blipFill>
          <a:blip r:embed="rId8" cstate="print">
            <a:extLst>
              <a:ext uri="{28A0092B-C50C-407E-A947-70E740481C1C}">
                <a14:useLocalDpi xmlns:a14="http://schemas.microsoft.com/office/drawing/2010/main" val="0"/>
              </a:ext>
            </a:extLst>
          </a:blip>
          <a:srcRect l="27097" t="28556" r="33433" b="41842"/>
          <a:stretch>
            <a:fillRect/>
          </a:stretch>
        </p:blipFill>
        <p:spPr>
          <a:xfrm rot="252916">
            <a:off x="3201060" y="3707387"/>
            <a:ext cx="612000" cy="612000"/>
          </a:xfrm>
          <a:custGeom>
            <a:avLst/>
            <a:gdLst>
              <a:gd name="connsiteX0" fmla="*/ 817809 w 1765374"/>
              <a:gd name="connsiteY0" fmla="*/ 2428 h 1765374"/>
              <a:gd name="connsiteX1" fmla="*/ 1762947 w 1765374"/>
              <a:gd name="connsiteY1" fmla="*/ 817810 h 1765374"/>
              <a:gd name="connsiteX2" fmla="*/ 947565 w 1765374"/>
              <a:gd name="connsiteY2" fmla="*/ 1762947 h 1765374"/>
              <a:gd name="connsiteX3" fmla="*/ 2428 w 1765374"/>
              <a:gd name="connsiteY3" fmla="*/ 947566 h 1765374"/>
              <a:gd name="connsiteX4" fmla="*/ 817809 w 1765374"/>
              <a:gd name="connsiteY4" fmla="*/ 2428 h 1765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374" h="1765374">
                <a:moveTo>
                  <a:pt x="817809" y="2428"/>
                </a:moveTo>
                <a:cubicBezTo>
                  <a:pt x="1303963" y="-33403"/>
                  <a:pt x="1727116" y="331657"/>
                  <a:pt x="1762947" y="817810"/>
                </a:cubicBezTo>
                <a:cubicBezTo>
                  <a:pt x="1798778" y="1303963"/>
                  <a:pt x="1433719" y="1727116"/>
                  <a:pt x="947565" y="1762947"/>
                </a:cubicBezTo>
                <a:cubicBezTo>
                  <a:pt x="461412" y="1798778"/>
                  <a:pt x="38259" y="1433719"/>
                  <a:pt x="2428" y="947566"/>
                </a:cubicBezTo>
                <a:cubicBezTo>
                  <a:pt x="-33403" y="461413"/>
                  <a:pt x="331656" y="38260"/>
                  <a:pt x="817809" y="2428"/>
                </a:cubicBezTo>
                <a:close/>
              </a:path>
            </a:pathLst>
          </a:custGeom>
        </p:spPr>
      </p:pic>
    </p:spTree>
    <p:extLst>
      <p:ext uri="{BB962C8B-B14F-4D97-AF65-F5344CB8AC3E}">
        <p14:creationId xmlns:p14="http://schemas.microsoft.com/office/powerpoint/2010/main" val="1809191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0" y="1072683"/>
            <a:ext cx="12192000" cy="1105834"/>
          </a:xfrm>
          <a:prstGeom prst="rect">
            <a:avLst/>
          </a:prstGeom>
          <a:solidFill>
            <a:srgbClr val="E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82737" y="1349563"/>
            <a:ext cx="2581819" cy="552074"/>
          </a:xfrm>
          <a:prstGeom prst="rect">
            <a:avLst/>
          </a:prstGeom>
          <a:noFill/>
        </p:spPr>
        <p:txBody>
          <a:bodyPr wrap="square" rtlCol="0">
            <a:spAutoFit/>
          </a:bodyPr>
          <a:lstStyle/>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中国领先的一体化人力资源服务及数字技术解决方案提供商</a:t>
            </a:r>
          </a:p>
        </p:txBody>
      </p:sp>
      <p:sp>
        <p:nvSpPr>
          <p:cNvPr id="9" name="标题 8"/>
          <p:cNvSpPr>
            <a:spLocks noGrp="1"/>
          </p:cNvSpPr>
          <p:nvPr>
            <p:ph type="title"/>
          </p:nvPr>
        </p:nvSpPr>
        <p:spPr/>
        <p:txBody>
          <a:bodyPr/>
          <a:lstStyle/>
          <a:p>
            <a:r>
              <a:rPr lang="zh-CN" altLang="en-US" dirty="0"/>
              <a:t>关于瑞华智策母公司</a:t>
            </a:r>
            <a:r>
              <a:rPr lang="en-US" altLang="zh-CN" dirty="0"/>
              <a:t>——</a:t>
            </a:r>
            <a:r>
              <a:rPr lang="zh-CN" altLang="en-US" dirty="0"/>
              <a:t>人瑞人才</a:t>
            </a:r>
          </a:p>
        </p:txBody>
      </p:sp>
      <p:sp>
        <p:nvSpPr>
          <p:cNvPr id="80" name="椭圆 79"/>
          <p:cNvSpPr/>
          <p:nvPr/>
        </p:nvSpPr>
        <p:spPr>
          <a:xfrm>
            <a:off x="4538681" y="2661817"/>
            <a:ext cx="3136272" cy="313627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36" name="椭圆 35"/>
          <p:cNvSpPr/>
          <p:nvPr/>
        </p:nvSpPr>
        <p:spPr>
          <a:xfrm>
            <a:off x="5192174" y="5313675"/>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2" name="椭圆 71"/>
          <p:cNvSpPr/>
          <p:nvPr/>
        </p:nvSpPr>
        <p:spPr>
          <a:xfrm>
            <a:off x="4740153" y="2596606"/>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5" name="椭圆 74"/>
          <p:cNvSpPr/>
          <p:nvPr/>
        </p:nvSpPr>
        <p:spPr>
          <a:xfrm>
            <a:off x="4211825" y="3532116"/>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6" name="椭圆 75"/>
          <p:cNvSpPr/>
          <p:nvPr/>
        </p:nvSpPr>
        <p:spPr>
          <a:xfrm>
            <a:off x="4295552" y="4593560"/>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7" name="椭圆 76"/>
          <p:cNvSpPr/>
          <p:nvPr/>
        </p:nvSpPr>
        <p:spPr>
          <a:xfrm>
            <a:off x="6346125" y="5313675"/>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8" name="椭圆 77"/>
          <p:cNvSpPr/>
          <p:nvPr/>
        </p:nvSpPr>
        <p:spPr>
          <a:xfrm>
            <a:off x="7132565" y="4593560"/>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9" name="椭圆 78"/>
          <p:cNvSpPr/>
          <p:nvPr/>
        </p:nvSpPr>
        <p:spPr>
          <a:xfrm>
            <a:off x="7245489" y="3532116"/>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2" name="文本框 81"/>
          <p:cNvSpPr txBox="1"/>
          <p:nvPr/>
        </p:nvSpPr>
        <p:spPr>
          <a:xfrm>
            <a:off x="996644" y="2509898"/>
            <a:ext cx="3580568" cy="778675"/>
          </a:xfrm>
          <a:prstGeom prst="rect">
            <a:avLst/>
          </a:prstGeom>
          <a:noFill/>
        </p:spPr>
        <p:txBody>
          <a:bodyPr wrap="square" rtlCol="0">
            <a:spAutoFit/>
          </a:bodyPr>
          <a:lstStyle/>
          <a:p>
            <a:pPr algn="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数字技术与人才外包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(DTO)</a:t>
            </a:r>
          </a:p>
          <a:p>
            <a:pPr algn="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聚焦</a:t>
            </a:r>
            <a:r>
              <a:rPr lang="zh-CN" altLang="en-US" sz="1050" dirty="0">
                <a:latin typeface="微软雅黑" panose="020B0503020204020204" pitchFamily="34" charset="-122"/>
                <a:ea typeface="微软雅黑" panose="020B0503020204020204" pitchFamily="34" charset="-122"/>
                <a:sym typeface="Helvetica Neue" panose="02000503000000020004"/>
              </a:rPr>
              <a:t>技术型、复合型人才的</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外包服务，助力企业落地数字化转型，实现降本提效、释放核心竞争力。</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83" name="文本框 82"/>
          <p:cNvSpPr txBox="1"/>
          <p:nvPr/>
        </p:nvSpPr>
        <p:spPr>
          <a:xfrm>
            <a:off x="1468071" y="5520801"/>
            <a:ext cx="3580568" cy="778675"/>
          </a:xfrm>
          <a:prstGeom prst="rect">
            <a:avLst/>
          </a:prstGeom>
          <a:noFill/>
        </p:spPr>
        <p:txBody>
          <a:bodyPr wrap="square" rtlCol="0">
            <a:spAutoFit/>
          </a:bodyPr>
          <a:lstStyle/>
          <a:p>
            <a:pPr algn="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数字技术人才职业发展全周期平台</a:t>
            </a:r>
            <a:endParaRPr lang="en-US" altLang="zh-CN" sz="1200" b="1" dirty="0">
              <a:latin typeface="微软雅黑" panose="020B0503020204020204" pitchFamily="34" charset="-122"/>
              <a:ea typeface="微软雅黑" panose="020B0503020204020204" pitchFamily="34" charset="-122"/>
              <a:cs typeface="+mj-cs"/>
              <a:sym typeface="Helvetica Neue" panose="02000503000000020004"/>
            </a:endParaRPr>
          </a:p>
          <a:p>
            <a:pPr algn="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以</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AI</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重构招聘业务，提升企业招聘质效，为数字化人才提供成长服务。</a:t>
            </a:r>
          </a:p>
        </p:txBody>
      </p:sp>
      <p:sp>
        <p:nvSpPr>
          <p:cNvPr id="84" name="文本框 83"/>
          <p:cNvSpPr txBox="1"/>
          <p:nvPr/>
        </p:nvSpPr>
        <p:spPr>
          <a:xfrm>
            <a:off x="7376115" y="5520801"/>
            <a:ext cx="3580568" cy="778675"/>
          </a:xfrm>
          <a:prstGeom prst="rect">
            <a:avLst/>
          </a:prstGeom>
          <a:noFill/>
        </p:spPr>
        <p:txBody>
          <a:bodyPr wrap="square" rtlCol="0">
            <a:spAutoFit/>
          </a:bodyPr>
          <a:lstStyle/>
          <a:p>
            <a:pP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企业用工风险管理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(INS)</a:t>
            </a:r>
          </a:p>
          <a:p>
            <a:pP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聚焦用工风险防控，构建用工风险咨询与保险服务平台，提供针对用工的保险解决方案。</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85" name="文本框 84"/>
          <p:cNvSpPr txBox="1"/>
          <p:nvPr/>
        </p:nvSpPr>
        <p:spPr>
          <a:xfrm>
            <a:off x="516467" y="3513532"/>
            <a:ext cx="3580568" cy="778675"/>
          </a:xfrm>
          <a:prstGeom prst="rect">
            <a:avLst/>
          </a:prstGeom>
          <a:noFill/>
        </p:spPr>
        <p:txBody>
          <a:bodyPr wrap="square" rtlCol="0">
            <a:spAutoFit/>
          </a:bodyPr>
          <a:lstStyle/>
          <a:p>
            <a:pPr algn="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招聘流程外包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(RPO)</a:t>
            </a:r>
          </a:p>
          <a:p>
            <a:pPr algn="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依托庞大自有人才库、</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300+</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城市布局、数字化平台与</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AI</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技术，提供以效果为导向的批量、跨区域招聘服务。</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86" name="文本框 85"/>
          <p:cNvSpPr txBox="1"/>
          <p:nvPr/>
        </p:nvSpPr>
        <p:spPr>
          <a:xfrm>
            <a:off x="7656411" y="2509898"/>
            <a:ext cx="3580568" cy="778675"/>
          </a:xfrm>
          <a:prstGeom prst="rect">
            <a:avLst/>
          </a:prstGeom>
          <a:noFill/>
        </p:spPr>
        <p:txBody>
          <a:bodyPr wrap="square" rtlCol="0">
            <a:spAutoFit/>
          </a:bodyPr>
          <a:lstStyle/>
          <a:p>
            <a:pP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人力资源服务外包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(HRO)</a:t>
            </a:r>
          </a:p>
          <a:p>
            <a:pP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提供入离职、薪酬社保、劳动关系到员工管理的全流程托管服务，通过灵活用工模式适配企业弹性人力需求。</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88" name="文本框 87"/>
          <p:cNvSpPr txBox="1"/>
          <p:nvPr/>
        </p:nvSpPr>
        <p:spPr>
          <a:xfrm>
            <a:off x="8241798" y="3513532"/>
            <a:ext cx="3580568" cy="778675"/>
          </a:xfrm>
          <a:prstGeom prst="rect">
            <a:avLst/>
          </a:prstGeom>
          <a:noFill/>
        </p:spPr>
        <p:txBody>
          <a:bodyPr wrap="square" rtlCol="0">
            <a:spAutoFit/>
          </a:bodyPr>
          <a:lstStyle/>
          <a:p>
            <a:pP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数字化运营与业务外包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(DBPO)</a:t>
            </a:r>
          </a:p>
          <a:p>
            <a:pP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依托三大基地构建全国服务网络，承接企业非核心业务，实现数字化全流程运营托管。</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89" name="文本框 88"/>
          <p:cNvSpPr txBox="1"/>
          <p:nvPr/>
        </p:nvSpPr>
        <p:spPr>
          <a:xfrm>
            <a:off x="8199463" y="4517166"/>
            <a:ext cx="3580568" cy="778675"/>
          </a:xfrm>
          <a:prstGeom prst="rect">
            <a:avLst/>
          </a:prstGeom>
          <a:noFill/>
        </p:spPr>
        <p:txBody>
          <a:bodyPr wrap="square" rtlCol="0">
            <a:spAutoFit/>
          </a:bodyPr>
          <a:lstStyle/>
          <a:p>
            <a:pP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整合型咨询服务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(ICS)</a:t>
            </a:r>
          </a:p>
          <a:p>
            <a:pP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以管理</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技术</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服务的模式，提供人力资本价值经营的一体化解决方案，助力企业完成</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AI</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时代的管理范式升级。</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90" name="文本框 89"/>
          <p:cNvSpPr txBox="1"/>
          <p:nvPr/>
        </p:nvSpPr>
        <p:spPr>
          <a:xfrm>
            <a:off x="558802" y="4517166"/>
            <a:ext cx="3580568" cy="778675"/>
          </a:xfrm>
          <a:prstGeom prst="rect">
            <a:avLst/>
          </a:prstGeom>
          <a:noFill/>
        </p:spPr>
        <p:txBody>
          <a:bodyPr wrap="square" rtlCol="0">
            <a:spAutoFit/>
          </a:bodyPr>
          <a:lstStyle/>
          <a:p>
            <a:pPr algn="r">
              <a:lnSpc>
                <a:spcPct val="120000"/>
              </a:lnSpc>
              <a:spcAft>
                <a:spcPts val="600"/>
              </a:spcAft>
              <a:defRPr/>
            </a:pPr>
            <a:r>
              <a:rPr lang="zh-CN" altLang="en-US" sz="1200" b="1" dirty="0">
                <a:latin typeface="微软雅黑" panose="020B0503020204020204" pitchFamily="34" charset="-122"/>
                <a:ea typeface="微软雅黑" panose="020B0503020204020204" pitchFamily="34" charset="-122"/>
                <a:cs typeface="+mj-cs"/>
                <a:sym typeface="Helvetica Neue" panose="02000503000000020004"/>
              </a:rPr>
              <a:t>海外人力资源服务 </a:t>
            </a:r>
            <a:r>
              <a:rPr lang="en-US" altLang="zh-CN" sz="1200" b="1" dirty="0">
                <a:latin typeface="微软雅黑" panose="020B0503020204020204" pitchFamily="34" charset="-122"/>
                <a:ea typeface="微软雅黑" panose="020B0503020204020204" pitchFamily="34" charset="-122"/>
                <a:cs typeface="+mj-cs"/>
                <a:sym typeface="Helvetica Neue" panose="02000503000000020004"/>
              </a:rPr>
              <a:t>(GHR)</a:t>
            </a:r>
          </a:p>
          <a:p>
            <a:pPr algn="r">
              <a:lnSpc>
                <a:spcPct val="120000"/>
              </a:lnSpc>
              <a:spcAft>
                <a:spcPts val="200"/>
              </a:spcAft>
              <a:defRPr/>
            </a:pP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依托海外自有主体、中国全球交付中心、全球伙伴网络，在全球为企业提供招聘、人力外包、签证、</a:t>
            </a:r>
            <a:r>
              <a:rPr lang="en-US" altLang="zh-CN" sz="1050" dirty="0">
                <a:latin typeface="微软雅黑" panose="020B0503020204020204" pitchFamily="34" charset="-122"/>
                <a:ea typeface="微软雅黑" panose="020B0503020204020204" pitchFamily="34" charset="-122"/>
                <a:cs typeface="+mj-cs"/>
                <a:sym typeface="Helvetica Neue" panose="02000503000000020004"/>
              </a:rPr>
              <a:t>BPO</a:t>
            </a:r>
            <a:r>
              <a:rPr lang="zh-CN" altLang="en-US" sz="1050" dirty="0">
                <a:latin typeface="微软雅黑" panose="020B0503020204020204" pitchFamily="34" charset="-122"/>
                <a:ea typeface="微软雅黑" panose="020B0503020204020204" pitchFamily="34" charset="-122"/>
                <a:cs typeface="+mj-cs"/>
                <a:sym typeface="Helvetica Neue" panose="02000503000000020004"/>
              </a:rPr>
              <a:t>等服务。</a:t>
            </a:r>
            <a:endParaRPr lang="en-US" altLang="zh-CN" sz="1050" dirty="0">
              <a:latin typeface="微软雅黑" panose="020B0503020204020204" pitchFamily="34" charset="-122"/>
              <a:ea typeface="微软雅黑" panose="020B0503020204020204" pitchFamily="34" charset="-122"/>
              <a:cs typeface="+mj-cs"/>
              <a:sym typeface="Helvetica Neue" panose="02000503000000020004"/>
            </a:endParaRPr>
          </a:p>
        </p:txBody>
      </p:sp>
      <p:sp>
        <p:nvSpPr>
          <p:cNvPr id="91" name="椭圆 90"/>
          <p:cNvSpPr/>
          <p:nvPr/>
        </p:nvSpPr>
        <p:spPr>
          <a:xfrm>
            <a:off x="6636273" y="2596606"/>
            <a:ext cx="786440" cy="786440"/>
          </a:xfrm>
          <a:prstGeom prst="ellipse">
            <a:avLst/>
          </a:prstGeom>
          <a:solidFill>
            <a:srgbClr val="754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3" name="文本框 92"/>
          <p:cNvSpPr txBox="1"/>
          <p:nvPr/>
        </p:nvSpPr>
        <p:spPr>
          <a:xfrm>
            <a:off x="3527370" y="1346549"/>
            <a:ext cx="1678271" cy="558102"/>
          </a:xfrm>
          <a:prstGeom prst="rect">
            <a:avLst/>
          </a:prstGeom>
          <a:noFill/>
        </p:spPr>
        <p:txBody>
          <a:bodyPr wrap="square" rtlCol="0">
            <a:spAutoFit/>
          </a:bodyPr>
          <a:lstStyle/>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港交所上市公司</a:t>
            </a:r>
          </a:p>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股份代码：</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6919.HK</a:t>
            </a:r>
          </a:p>
        </p:txBody>
      </p:sp>
      <p:sp>
        <p:nvSpPr>
          <p:cNvPr id="94" name="文本框 93"/>
          <p:cNvSpPr txBox="1"/>
          <p:nvPr/>
        </p:nvSpPr>
        <p:spPr>
          <a:xfrm>
            <a:off x="6562645" y="1223695"/>
            <a:ext cx="1432564" cy="803810"/>
          </a:xfrm>
          <a:prstGeom prst="rect">
            <a:avLst/>
          </a:prstGeom>
          <a:noFill/>
        </p:spPr>
        <p:txBody>
          <a:bodyPr wrap="square" rtlCol="0">
            <a:spAutoFit/>
          </a:bodyPr>
          <a:lstStyle/>
          <a:p>
            <a:pPr>
              <a:lnSpc>
                <a:spcPct val="110000"/>
              </a:lnSpc>
              <a:spcAft>
                <a:spcPts val="200"/>
              </a:spcAft>
              <a:defRPr/>
            </a:pP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300+</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城市覆盖</a:t>
            </a:r>
            <a:endParaRPr lang="en-US" altLang="zh-CN" sz="1300" dirty="0">
              <a:latin typeface="微软雅黑" panose="020B0503020204020204" pitchFamily="34" charset="-122"/>
              <a:ea typeface="微软雅黑" panose="020B0503020204020204" pitchFamily="34" charset="-122"/>
              <a:cs typeface="+mj-cs"/>
              <a:sym typeface="Helvetica Neue" panose="02000503000000020004"/>
            </a:endParaRPr>
          </a:p>
          <a:p>
            <a:pPr>
              <a:lnSpc>
                <a:spcPct val="110000"/>
              </a:lnSpc>
              <a:spcAft>
                <a:spcPts val="200"/>
              </a:spcAft>
              <a:defRPr/>
            </a:pP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4</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万</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员工</a:t>
            </a:r>
            <a:endParaRPr lang="en-US" altLang="zh-CN" sz="1300" dirty="0">
              <a:latin typeface="微软雅黑" panose="020B0503020204020204" pitchFamily="34" charset="-122"/>
              <a:ea typeface="微软雅黑" panose="020B0503020204020204" pitchFamily="34" charset="-122"/>
              <a:cs typeface="+mj-cs"/>
              <a:sym typeface="Helvetica Neue" panose="02000503000000020004"/>
            </a:endParaRPr>
          </a:p>
          <a:p>
            <a:pPr>
              <a:lnSpc>
                <a:spcPct val="110000"/>
              </a:lnSpc>
              <a:spcAft>
                <a:spcPts val="200"/>
              </a:spcAft>
              <a:defRPr/>
            </a:pP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1.5</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万</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技术人员</a:t>
            </a:r>
          </a:p>
        </p:txBody>
      </p:sp>
      <p:sp>
        <p:nvSpPr>
          <p:cNvPr id="95" name="文本框 94"/>
          <p:cNvSpPr txBox="1"/>
          <p:nvPr/>
        </p:nvSpPr>
        <p:spPr>
          <a:xfrm>
            <a:off x="9334542" y="1223695"/>
            <a:ext cx="2307125" cy="803810"/>
          </a:xfrm>
          <a:prstGeom prst="rect">
            <a:avLst/>
          </a:prstGeom>
          <a:noFill/>
        </p:spPr>
        <p:txBody>
          <a:bodyPr wrap="square" rtlCol="0">
            <a:spAutoFit/>
          </a:bodyPr>
          <a:lstStyle/>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自有机构：</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30+</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国家</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地区</a:t>
            </a:r>
            <a:endParaRPr lang="en-US" altLang="zh-CN" sz="1300" dirty="0">
              <a:latin typeface="微软雅黑" panose="020B0503020204020204" pitchFamily="34" charset="-122"/>
              <a:ea typeface="微软雅黑" panose="020B0503020204020204" pitchFamily="34" charset="-122"/>
              <a:cs typeface="+mj-cs"/>
              <a:sym typeface="Helvetica Neue" panose="02000503000000020004"/>
            </a:endParaRPr>
          </a:p>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服务覆盖：</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150+</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国家</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a:t>
            </a: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地区</a:t>
            </a:r>
            <a:endParaRPr lang="en-US" altLang="zh-CN" sz="1300" dirty="0">
              <a:latin typeface="微软雅黑" panose="020B0503020204020204" pitchFamily="34" charset="-122"/>
              <a:ea typeface="微软雅黑" panose="020B0503020204020204" pitchFamily="34" charset="-122"/>
              <a:cs typeface="+mj-cs"/>
              <a:sym typeface="Helvetica Neue" panose="02000503000000020004"/>
            </a:endParaRPr>
          </a:p>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海外员工：</a:t>
            </a:r>
            <a:r>
              <a:rPr lang="en-US" altLang="zh-CN" sz="1300" dirty="0">
                <a:latin typeface="微软雅黑" panose="020B0503020204020204" pitchFamily="34" charset="-122"/>
                <a:ea typeface="微软雅黑" panose="020B0503020204020204" pitchFamily="34" charset="-122"/>
                <a:cs typeface="+mj-cs"/>
                <a:sym typeface="Helvetica Neue" panose="02000503000000020004"/>
              </a:rPr>
              <a:t>2000+</a:t>
            </a:r>
            <a:endParaRPr lang="zh-CN" altLang="en-US" sz="1300" dirty="0">
              <a:latin typeface="微软雅黑" panose="020B0503020204020204" pitchFamily="34" charset="-122"/>
              <a:ea typeface="微软雅黑" panose="020B0503020204020204" pitchFamily="34" charset="-122"/>
              <a:cs typeface="+mj-cs"/>
              <a:sym typeface="Helvetica Neue" panose="02000503000000020004"/>
            </a:endParaRPr>
          </a:p>
        </p:txBody>
      </p:sp>
      <p:pic>
        <p:nvPicPr>
          <p:cNvPr id="97" name="图片 9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6127" y="4009675"/>
            <a:ext cx="1482386" cy="374730"/>
          </a:xfrm>
          <a:prstGeom prst="rect">
            <a:avLst/>
          </a:prstGeom>
        </p:spPr>
      </p:pic>
      <p:sp>
        <p:nvSpPr>
          <p:cNvPr id="98" name="文本框 97"/>
          <p:cNvSpPr txBox="1"/>
          <p:nvPr/>
        </p:nvSpPr>
        <p:spPr>
          <a:xfrm>
            <a:off x="8463062" y="1469404"/>
            <a:ext cx="960115" cy="312393"/>
          </a:xfrm>
          <a:prstGeom prst="rect">
            <a:avLst/>
          </a:prstGeom>
          <a:noFill/>
        </p:spPr>
        <p:txBody>
          <a:bodyPr wrap="square" rtlCol="0">
            <a:spAutoFit/>
          </a:bodyPr>
          <a:lstStyle/>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全球布局</a:t>
            </a:r>
          </a:p>
        </p:txBody>
      </p:sp>
      <p:sp>
        <p:nvSpPr>
          <p:cNvPr id="99" name="文本框 98"/>
          <p:cNvSpPr txBox="1"/>
          <p:nvPr/>
        </p:nvSpPr>
        <p:spPr>
          <a:xfrm>
            <a:off x="5740523" y="1469404"/>
            <a:ext cx="960115" cy="312393"/>
          </a:xfrm>
          <a:prstGeom prst="rect">
            <a:avLst/>
          </a:prstGeom>
          <a:noFill/>
        </p:spPr>
        <p:txBody>
          <a:bodyPr wrap="square" rtlCol="0">
            <a:spAutoFit/>
          </a:bodyPr>
          <a:lstStyle/>
          <a:p>
            <a:pPr>
              <a:lnSpc>
                <a:spcPct val="110000"/>
              </a:lnSpc>
              <a:spcAft>
                <a:spcPts val="200"/>
              </a:spcAft>
              <a:defRPr/>
            </a:pPr>
            <a:r>
              <a:rPr lang="zh-CN" altLang="en-US" sz="1300" dirty="0">
                <a:latin typeface="微软雅黑" panose="020B0503020204020204" pitchFamily="34" charset="-122"/>
                <a:ea typeface="微软雅黑" panose="020B0503020204020204" pitchFamily="34" charset="-122"/>
                <a:cs typeface="+mj-cs"/>
                <a:sym typeface="Helvetica Neue" panose="02000503000000020004"/>
              </a:rPr>
              <a:t>中国布局</a:t>
            </a:r>
          </a:p>
        </p:txBody>
      </p:sp>
      <p:cxnSp>
        <p:nvCxnSpPr>
          <p:cNvPr id="102" name="直接连接符 101"/>
          <p:cNvCxnSpPr/>
          <p:nvPr/>
        </p:nvCxnSpPr>
        <p:spPr>
          <a:xfrm>
            <a:off x="3206417" y="1286629"/>
            <a:ext cx="0" cy="677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5526593" y="1286629"/>
            <a:ext cx="0" cy="677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8238172" y="1286629"/>
            <a:ext cx="0" cy="677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06" name="图片 10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8871" y="4761383"/>
            <a:ext cx="426153" cy="426153"/>
          </a:xfrm>
          <a:prstGeom prst="rect">
            <a:avLst/>
          </a:prstGeom>
        </p:spPr>
      </p:pic>
      <p:pic>
        <p:nvPicPr>
          <p:cNvPr id="107" name="图片 10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66870" y="5520801"/>
            <a:ext cx="426153" cy="426153"/>
          </a:xfrm>
          <a:prstGeom prst="rect">
            <a:avLst/>
          </a:prstGeom>
        </p:spPr>
      </p:pic>
      <p:pic>
        <p:nvPicPr>
          <p:cNvPr id="108" name="图片 10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68698" y="4773703"/>
            <a:ext cx="426153" cy="426153"/>
          </a:xfrm>
          <a:prstGeom prst="rect">
            <a:avLst/>
          </a:prstGeom>
        </p:spPr>
      </p:pic>
      <p:pic>
        <p:nvPicPr>
          <p:cNvPr id="109" name="图片 10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525" y="2747620"/>
            <a:ext cx="426153" cy="426153"/>
          </a:xfrm>
          <a:prstGeom prst="rect">
            <a:avLst/>
          </a:prstGeom>
        </p:spPr>
      </p:pic>
      <p:pic>
        <p:nvPicPr>
          <p:cNvPr id="110" name="图片 10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91968" y="3690632"/>
            <a:ext cx="426153" cy="426153"/>
          </a:xfrm>
          <a:prstGeom prst="rect">
            <a:avLst/>
          </a:prstGeom>
        </p:spPr>
      </p:pic>
      <p:pic>
        <p:nvPicPr>
          <p:cNvPr id="111" name="图片 1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23574" y="2767576"/>
            <a:ext cx="426153" cy="426153"/>
          </a:xfrm>
          <a:prstGeom prst="rect">
            <a:avLst/>
          </a:prstGeom>
        </p:spPr>
      </p:pic>
      <p:pic>
        <p:nvPicPr>
          <p:cNvPr id="112" name="图片 1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09290" y="5483985"/>
            <a:ext cx="426153" cy="426153"/>
          </a:xfrm>
          <a:prstGeom prst="rect">
            <a:avLst/>
          </a:prstGeom>
        </p:spPr>
      </p:pic>
      <p:pic>
        <p:nvPicPr>
          <p:cNvPr id="113" name="图片 1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428943" y="3676619"/>
            <a:ext cx="426153" cy="426153"/>
          </a:xfrm>
          <a:prstGeom prst="rect">
            <a:avLst/>
          </a:prstGeom>
        </p:spPr>
      </p:pic>
    </p:spTree>
    <p:extLst>
      <p:ext uri="{BB962C8B-B14F-4D97-AF65-F5344CB8AC3E}">
        <p14:creationId xmlns:p14="http://schemas.microsoft.com/office/powerpoint/2010/main" val="1793501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人瑞人才发展历程</a:t>
            </a:r>
          </a:p>
        </p:txBody>
      </p:sp>
      <p:pic>
        <p:nvPicPr>
          <p:cNvPr id="4" name="图片 3" descr="02022"/>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Lst>
          </a:blip>
          <a:srcRect t="23593" b="4986"/>
          <a:stretch>
            <a:fillRect/>
          </a:stretch>
        </p:blipFill>
        <p:spPr>
          <a:xfrm>
            <a:off x="-31701" y="1051650"/>
            <a:ext cx="12255401" cy="4909820"/>
          </a:xfrm>
          <a:prstGeom prst="rect">
            <a:avLst/>
          </a:prstGeom>
        </p:spPr>
      </p:pic>
      <p:sp>
        <p:nvSpPr>
          <p:cNvPr id="41" name="椭圆 40"/>
          <p:cNvSpPr/>
          <p:nvPr/>
        </p:nvSpPr>
        <p:spPr>
          <a:xfrm>
            <a:off x="563362" y="2667697"/>
            <a:ext cx="96520" cy="96520"/>
          </a:xfrm>
          <a:prstGeom prst="ellipse">
            <a:avLst/>
          </a:prstGeom>
          <a:solidFill>
            <a:srgbClr val="7B0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spcAft>
                <a:spcPts val="200"/>
              </a:spcAft>
            </a:pPr>
            <a:endParaRPr lang="zh-CN" altLang="en-US" dirty="0">
              <a:solidFill>
                <a:schemeClr val="tx1"/>
              </a:solidFill>
              <a:latin typeface="Century Gothic" panose="020B0502020202020204" pitchFamily="34" charset="0"/>
              <a:ea typeface="微软雅黑" panose="020B0503020204020204" pitchFamily="34" charset="-122"/>
              <a:cs typeface="思源黑体 CN" panose="020B0500000000000000" pitchFamily="34" charset="-122"/>
              <a:sym typeface="Helvetica Neue" panose="02000503000000020004"/>
            </a:endParaRPr>
          </a:p>
        </p:txBody>
      </p:sp>
      <p:sp>
        <p:nvSpPr>
          <p:cNvPr id="37" name="椭圆 36"/>
          <p:cNvSpPr/>
          <p:nvPr/>
        </p:nvSpPr>
        <p:spPr>
          <a:xfrm>
            <a:off x="2194341" y="2748685"/>
            <a:ext cx="96520" cy="96520"/>
          </a:xfrm>
          <a:prstGeom prst="ellipse">
            <a:avLst/>
          </a:prstGeom>
          <a:solidFill>
            <a:srgbClr val="7B0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spcAft>
                <a:spcPts val="200"/>
              </a:spcAft>
            </a:pPr>
            <a:endParaRPr lang="zh-CN" altLang="en-US">
              <a:solidFill>
                <a:schemeClr val="tx1"/>
              </a:solidFill>
              <a:latin typeface="Century Gothic" panose="020B0502020202020204" pitchFamily="34" charset="0"/>
              <a:ea typeface="微软雅黑" panose="020B0503020204020204" pitchFamily="34" charset="-122"/>
              <a:cs typeface="思源黑体 CN" panose="020B0500000000000000" pitchFamily="34" charset="-122"/>
              <a:sym typeface="Helvetica Neue" panose="02000503000000020004"/>
            </a:endParaRPr>
          </a:p>
        </p:txBody>
      </p:sp>
      <p:sp>
        <p:nvSpPr>
          <p:cNvPr id="33" name="椭圆 32"/>
          <p:cNvSpPr/>
          <p:nvPr/>
        </p:nvSpPr>
        <p:spPr>
          <a:xfrm>
            <a:off x="4324269" y="2888720"/>
            <a:ext cx="96520" cy="96520"/>
          </a:xfrm>
          <a:prstGeom prst="ellipse">
            <a:avLst/>
          </a:prstGeom>
          <a:solidFill>
            <a:srgbClr val="7B0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spcAft>
                <a:spcPts val="200"/>
              </a:spcAft>
            </a:pPr>
            <a:endParaRPr lang="zh-CN" altLang="en-US">
              <a:solidFill>
                <a:schemeClr val="tx1"/>
              </a:solidFill>
              <a:latin typeface="Century Gothic" panose="020B0502020202020204" pitchFamily="34" charset="0"/>
              <a:ea typeface="微软雅黑" panose="020B0503020204020204" pitchFamily="34" charset="-122"/>
              <a:cs typeface="思源黑体 CN" panose="020B0500000000000000" pitchFamily="34" charset="-122"/>
              <a:sym typeface="Helvetica Neue" panose="02000503000000020004"/>
            </a:endParaRPr>
          </a:p>
        </p:txBody>
      </p:sp>
      <p:sp>
        <p:nvSpPr>
          <p:cNvPr id="29" name="椭圆 28"/>
          <p:cNvSpPr/>
          <p:nvPr/>
        </p:nvSpPr>
        <p:spPr>
          <a:xfrm>
            <a:off x="6077229" y="3034816"/>
            <a:ext cx="96520" cy="96520"/>
          </a:xfrm>
          <a:prstGeom prst="ellipse">
            <a:avLst/>
          </a:prstGeom>
          <a:solidFill>
            <a:srgbClr val="7B0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spcAft>
                <a:spcPts val="200"/>
              </a:spcAft>
            </a:pPr>
            <a:endParaRPr lang="zh-CN" altLang="en-US">
              <a:solidFill>
                <a:schemeClr val="tx1"/>
              </a:solidFill>
              <a:latin typeface="Century Gothic" panose="020B0502020202020204" pitchFamily="34" charset="0"/>
              <a:ea typeface="微软雅黑" panose="020B0503020204020204" pitchFamily="34" charset="-122"/>
              <a:cs typeface="思源黑体 CN" panose="020B0500000000000000" pitchFamily="34" charset="-122"/>
              <a:sym typeface="Helvetica Neue" panose="02000503000000020004"/>
            </a:endParaRPr>
          </a:p>
        </p:txBody>
      </p:sp>
      <p:sp>
        <p:nvSpPr>
          <p:cNvPr id="48" name="矩形 47"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554763" y="1215763"/>
            <a:ext cx="1368977" cy="1125436"/>
          </a:xfrm>
          <a:prstGeom prst="rect">
            <a:avLst/>
          </a:prstGeom>
          <a:effectLst/>
        </p:spPr>
        <p:txBody>
          <a:bodyPr wrap="square">
            <a:spAutoFit/>
          </a:bodyPr>
          <a:lstStyle/>
          <a:p>
            <a:pPr>
              <a:lnSpc>
                <a:spcPct val="110000"/>
              </a:lnSpc>
              <a:spcAft>
                <a:spcPts val="200"/>
              </a:spcAft>
            </a:pPr>
            <a:r>
              <a:rPr lang="en-US" altLang="zh-CN" sz="2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2010</a:t>
            </a:r>
          </a:p>
          <a:p>
            <a:pPr>
              <a:lnSpc>
                <a:spcPct val="110000"/>
              </a:lnSpc>
              <a:spcAft>
                <a:spcPts val="200"/>
              </a:spcAft>
            </a:pP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公司成立</a:t>
            </a:r>
          </a:p>
          <a:p>
            <a:pPr defTabSz="913765">
              <a:lnSpc>
                <a:spcPct val="110000"/>
              </a:lnSpc>
              <a:spcAft>
                <a:spcPts val="200"/>
              </a:spcAft>
              <a:buSzPct val="25000"/>
              <a:defRPr/>
            </a:pP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开创以效果为导向的人力资源服务新模式</a:t>
            </a:r>
          </a:p>
        </p:txBody>
      </p:sp>
      <p:sp>
        <p:nvSpPr>
          <p:cNvPr id="53" name="矩形 52"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1967077" y="1215763"/>
            <a:ext cx="1848570" cy="1294713"/>
          </a:xfrm>
          <a:prstGeom prst="rect">
            <a:avLst/>
          </a:prstGeom>
          <a:effectLst/>
        </p:spPr>
        <p:txBody>
          <a:bodyPr wrap="square">
            <a:spAutoFit/>
          </a:bodyPr>
          <a:lstStyle/>
          <a:p>
            <a:pPr>
              <a:lnSpc>
                <a:spcPct val="110000"/>
              </a:lnSpc>
              <a:spcAft>
                <a:spcPts val="200"/>
              </a:spcAft>
            </a:pPr>
            <a:r>
              <a:rPr lang="en-US" altLang="zh-CN" sz="2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2012</a:t>
            </a:r>
          </a:p>
          <a:p>
            <a:pPr>
              <a:lnSpc>
                <a:spcPct val="110000"/>
              </a:lnSpc>
              <a:spcAft>
                <a:spcPts val="200"/>
              </a:spcAft>
            </a:pP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中国</a:t>
            </a:r>
            <a:r>
              <a:rPr lang="en-US" altLang="zh-CN"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HRO</a:t>
            </a: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服务新时代</a:t>
            </a:r>
          </a:p>
          <a:p>
            <a:pPr defTabSz="913765">
              <a:lnSpc>
                <a:spcPct val="110000"/>
              </a:lnSpc>
              <a:spcAft>
                <a:spcPts val="200"/>
              </a:spcAft>
              <a:buSzPct val="25000"/>
              <a:defRPr/>
            </a:pP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在中国率先推出专业的人力资源外包服务，打造领先的人力资源一体化解决方案。</a:t>
            </a:r>
          </a:p>
        </p:txBody>
      </p:sp>
      <p:sp>
        <p:nvSpPr>
          <p:cNvPr id="58" name="矩形 57"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5618848" y="1215763"/>
            <a:ext cx="1842134" cy="1294713"/>
          </a:xfrm>
          <a:prstGeom prst="rect">
            <a:avLst/>
          </a:prstGeom>
          <a:effectLst/>
        </p:spPr>
        <p:txBody>
          <a:bodyPr wrap="square">
            <a:spAutoFit/>
          </a:bodyPr>
          <a:lstStyle/>
          <a:p>
            <a:pPr>
              <a:lnSpc>
                <a:spcPct val="110000"/>
              </a:lnSpc>
              <a:spcAft>
                <a:spcPts val="200"/>
              </a:spcAft>
            </a:pPr>
            <a:r>
              <a:rPr lang="en-US" altLang="zh-CN" sz="2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2021</a:t>
            </a:r>
          </a:p>
          <a:p>
            <a:pPr>
              <a:lnSpc>
                <a:spcPct val="110000"/>
              </a:lnSpc>
              <a:spcAft>
                <a:spcPts val="200"/>
              </a:spcAft>
            </a:pP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数字化人才服务</a:t>
            </a:r>
          </a:p>
          <a:p>
            <a:pPr defTabSz="913765">
              <a:lnSpc>
                <a:spcPct val="110000"/>
              </a:lnSpc>
              <a:spcAft>
                <a:spcPts val="200"/>
              </a:spcAft>
              <a:buSzPct val="25000"/>
              <a:defRPr/>
            </a:pP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构建数字化人才领域专业服务能力及数字化人才为核心的行业解决方案</a:t>
            </a:r>
          </a:p>
        </p:txBody>
      </p:sp>
      <p:sp>
        <p:nvSpPr>
          <p:cNvPr id="65" name="矩形 64"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7534084" y="1215763"/>
            <a:ext cx="1483318" cy="1294713"/>
          </a:xfrm>
          <a:prstGeom prst="rect">
            <a:avLst/>
          </a:prstGeom>
          <a:effectLst/>
        </p:spPr>
        <p:txBody>
          <a:bodyPr wrap="square">
            <a:spAutoFit/>
          </a:bodyPr>
          <a:lstStyle/>
          <a:p>
            <a:pPr>
              <a:lnSpc>
                <a:spcPct val="110000"/>
              </a:lnSpc>
              <a:spcAft>
                <a:spcPts val="200"/>
              </a:spcAft>
            </a:pPr>
            <a:r>
              <a:rPr lang="en-US" altLang="zh-CN" sz="2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2024</a:t>
            </a:r>
          </a:p>
          <a:p>
            <a:pPr>
              <a:lnSpc>
                <a:spcPct val="110000"/>
              </a:lnSpc>
              <a:spcAft>
                <a:spcPts val="200"/>
              </a:spcAft>
            </a:pP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全新海外战略</a:t>
            </a:r>
          </a:p>
          <a:p>
            <a:pPr defTabSz="913765">
              <a:lnSpc>
                <a:spcPct val="110000"/>
              </a:lnSpc>
              <a:spcAft>
                <a:spcPts val="200"/>
              </a:spcAft>
              <a:buSzPct val="25000"/>
              <a:defRPr/>
            </a:pP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开启海外本土化战略，在全球服务网络进行规模化布局</a:t>
            </a:r>
          </a:p>
        </p:txBody>
      </p:sp>
      <p:sp>
        <p:nvSpPr>
          <p:cNvPr id="67" name="矩形 66"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9186945" y="1215763"/>
            <a:ext cx="2019935" cy="1320361"/>
          </a:xfrm>
          <a:prstGeom prst="rect">
            <a:avLst/>
          </a:prstGeom>
          <a:effectLst/>
        </p:spPr>
        <p:txBody>
          <a:bodyPr wrap="square">
            <a:spAutoFit/>
          </a:bodyPr>
          <a:lstStyle/>
          <a:p>
            <a:pPr>
              <a:lnSpc>
                <a:spcPct val="110000"/>
              </a:lnSpc>
              <a:spcAft>
                <a:spcPts val="200"/>
              </a:spcAft>
            </a:pPr>
            <a:r>
              <a:rPr lang="en-US" altLang="zh-CN" sz="2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2025</a:t>
            </a:r>
          </a:p>
          <a:p>
            <a:pPr>
              <a:lnSpc>
                <a:spcPct val="110000"/>
              </a:lnSpc>
              <a:spcAft>
                <a:spcPts val="200"/>
              </a:spcAft>
            </a:pP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人力资本价值经营</a:t>
            </a:r>
          </a:p>
          <a:p>
            <a:pPr defTabSz="913765">
              <a:lnSpc>
                <a:spcPct val="110000"/>
              </a:lnSpc>
              <a:spcAft>
                <a:spcPts val="200"/>
              </a:spcAft>
              <a:buSzPct val="25000"/>
              <a:defRPr/>
            </a:pP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推出以人力资本价值经营为核心理念的“管理咨询</a:t>
            </a:r>
            <a:r>
              <a:rPr lang="en-US" altLang="zh-CN"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系统落地</a:t>
            </a:r>
            <a:r>
              <a:rPr lang="en-US" altLang="zh-CN"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a:t>
            </a: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陪伴服务“一体化咨询服务。</a:t>
            </a:r>
          </a:p>
        </p:txBody>
      </p:sp>
      <p:sp>
        <p:nvSpPr>
          <p:cNvPr id="68" name="矩形 67"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3981795" y="1215763"/>
            <a:ext cx="1557873" cy="1125436"/>
          </a:xfrm>
          <a:prstGeom prst="rect">
            <a:avLst/>
          </a:prstGeom>
          <a:effectLst/>
        </p:spPr>
        <p:txBody>
          <a:bodyPr wrap="square">
            <a:spAutoFit/>
          </a:bodyPr>
          <a:lstStyle/>
          <a:p>
            <a:pPr>
              <a:lnSpc>
                <a:spcPct val="110000"/>
              </a:lnSpc>
              <a:spcAft>
                <a:spcPts val="200"/>
              </a:spcAft>
            </a:pPr>
            <a:r>
              <a:rPr lang="en-US" altLang="zh-CN" sz="2400" b="1" dirty="0">
                <a:solidFill>
                  <a:srgbClr val="7547EC"/>
                </a:solidFill>
                <a:latin typeface="微软雅黑" panose="020B0503020204020204" pitchFamily="34" charset="-122"/>
                <a:ea typeface="微软雅黑" panose="020B0503020204020204" pitchFamily="34" charset="-122"/>
                <a:cs typeface="Bigger" panose="02000A03000000000000" charset="0"/>
                <a:sym typeface="+mn-ea"/>
              </a:rPr>
              <a:t>2018</a:t>
            </a:r>
          </a:p>
          <a:p>
            <a:pPr>
              <a:lnSpc>
                <a:spcPct val="110000"/>
              </a:lnSpc>
              <a:spcAft>
                <a:spcPts val="200"/>
              </a:spcAft>
            </a:pPr>
            <a:r>
              <a:rPr lang="zh-CN" altLang="en-US" sz="1400" b="1"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开启海外服务</a:t>
            </a:r>
          </a:p>
          <a:p>
            <a:pPr defTabSz="913765">
              <a:lnSpc>
                <a:spcPct val="110000"/>
              </a:lnSpc>
              <a:spcAft>
                <a:spcPts val="200"/>
              </a:spcAft>
              <a:buSzPct val="25000"/>
              <a:defRPr/>
            </a:pPr>
            <a:r>
              <a:rPr lang="zh-CN" altLang="en-US" sz="10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rPr>
              <a:t>开始本出海中企提供海外当地的人力资源服务</a:t>
            </a:r>
          </a:p>
        </p:txBody>
      </p:sp>
      <p:sp>
        <p:nvSpPr>
          <p:cNvPr id="26" name="椭圆 25"/>
          <p:cNvSpPr/>
          <p:nvPr/>
        </p:nvSpPr>
        <p:spPr>
          <a:xfrm>
            <a:off x="7901741" y="3271285"/>
            <a:ext cx="96520" cy="96520"/>
          </a:xfrm>
          <a:prstGeom prst="ellipse">
            <a:avLst/>
          </a:prstGeom>
          <a:solidFill>
            <a:srgbClr val="7B0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spcAft>
                <a:spcPts val="200"/>
              </a:spcAft>
            </a:pPr>
            <a:endParaRPr lang="zh-CN" altLang="en-US">
              <a:solidFill>
                <a:schemeClr val="tx1"/>
              </a:solidFill>
              <a:latin typeface="Century Gothic" panose="020B0502020202020204" pitchFamily="34" charset="0"/>
              <a:ea typeface="微软雅黑" panose="020B0503020204020204" pitchFamily="34" charset="-122"/>
              <a:cs typeface="思源黑体 CN" panose="020B0500000000000000" pitchFamily="34" charset="-122"/>
              <a:sym typeface="Helvetica Neue" panose="02000503000000020004"/>
            </a:endParaRPr>
          </a:p>
        </p:txBody>
      </p:sp>
      <p:sp>
        <p:nvSpPr>
          <p:cNvPr id="27" name="椭圆 26"/>
          <p:cNvSpPr/>
          <p:nvPr/>
        </p:nvSpPr>
        <p:spPr>
          <a:xfrm>
            <a:off x="9388577" y="3482538"/>
            <a:ext cx="96520" cy="96520"/>
          </a:xfrm>
          <a:prstGeom prst="ellipse">
            <a:avLst/>
          </a:prstGeom>
          <a:solidFill>
            <a:srgbClr val="7B0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spcAft>
                <a:spcPts val="200"/>
              </a:spcAft>
            </a:pPr>
            <a:endParaRPr lang="zh-CN" altLang="en-US">
              <a:solidFill>
                <a:schemeClr val="tx1"/>
              </a:solidFill>
              <a:latin typeface="Century Gothic" panose="020B0502020202020204" pitchFamily="34" charset="0"/>
              <a:ea typeface="微软雅黑" panose="020B0503020204020204" pitchFamily="34" charset="-122"/>
              <a:cs typeface="思源黑体 CN" panose="020B0500000000000000" pitchFamily="34" charset="-122"/>
              <a:sym typeface="Helvetica Neue" panose="02000503000000020004"/>
            </a:endParaRPr>
          </a:p>
        </p:txBody>
      </p:sp>
      <p:grpSp>
        <p:nvGrpSpPr>
          <p:cNvPr id="6" name="组合 5"/>
          <p:cNvGrpSpPr/>
          <p:nvPr/>
        </p:nvGrpSpPr>
        <p:grpSpPr>
          <a:xfrm>
            <a:off x="497421" y="3988419"/>
            <a:ext cx="6755600" cy="2069428"/>
            <a:chOff x="455974" y="3765745"/>
            <a:chExt cx="6755600" cy="2069428"/>
          </a:xfrm>
        </p:grpSpPr>
        <p:sp>
          <p:nvSpPr>
            <p:cNvPr id="59" name="矩形 58"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584210" y="5501972"/>
              <a:ext cx="1028944" cy="333201"/>
            </a:xfrm>
            <a:prstGeom prst="rect">
              <a:avLst/>
            </a:prstGeom>
            <a:effectLst/>
          </p:spPr>
          <p:txBody>
            <a:bodyPr wrap="square">
              <a:spAutoFit/>
            </a:bodyPr>
            <a:lstStyle/>
            <a:p>
              <a:pPr algn="ctr">
                <a:lnSpc>
                  <a:spcPct val="110000"/>
                </a:lnSpc>
                <a:spcAft>
                  <a:spcPts val="200"/>
                </a:spcAft>
              </a:pPr>
              <a:r>
                <a:rPr lang="en-US" altLang="zh-CN" sz="1400" dirty="0">
                  <a:latin typeface="微软雅黑" panose="020B0503020204020204" pitchFamily="34" charset="-122"/>
                  <a:ea typeface="微软雅黑" panose="020B0503020204020204" pitchFamily="34" charset="-122"/>
                  <a:cs typeface="Bigger" panose="02000A03000000000000" charset="0"/>
                  <a:sym typeface="+mn-ea"/>
                </a:rPr>
                <a:t>2018</a:t>
              </a:r>
              <a:endParaRPr lang="zh-CN" altLang="en-US" sz="14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grpSp>
          <p:nvGrpSpPr>
            <p:cNvPr id="5" name="组合 4"/>
            <p:cNvGrpSpPr/>
            <p:nvPr/>
          </p:nvGrpSpPr>
          <p:grpSpPr>
            <a:xfrm>
              <a:off x="455974" y="3765745"/>
              <a:ext cx="6755600" cy="2021120"/>
              <a:chOff x="455974" y="3765745"/>
              <a:chExt cx="6755600" cy="2021120"/>
            </a:xfrm>
          </p:grpSpPr>
          <p:pic>
            <p:nvPicPr>
              <p:cNvPr id="74" name="图片 7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5974" y="3775265"/>
                <a:ext cx="1285417" cy="1769802"/>
              </a:xfrm>
              <a:prstGeom prst="rect">
                <a:avLst/>
              </a:prstGeom>
            </p:spPr>
          </p:pic>
          <p:pic>
            <p:nvPicPr>
              <p:cNvPr id="72" name="图片 71"/>
              <p:cNvPicPr>
                <a:picLocks noChangeAspect="1"/>
              </p:cNvPicPr>
              <p:nvPr>
                <p:custDataLst>
                  <p:tags r:id="rId1"/>
                </p:custDataLst>
              </p:nvPr>
            </p:nvPicPr>
            <p:blipFill>
              <a:blip r:embed="rId8" cstate="screen"/>
              <a:stretch>
                <a:fillRect/>
              </a:stretch>
            </p:blipFill>
            <p:spPr>
              <a:xfrm>
                <a:off x="572585" y="3940923"/>
                <a:ext cx="2676220" cy="1845942"/>
              </a:xfrm>
              <a:prstGeom prst="rect">
                <a:avLst/>
              </a:prstGeom>
            </p:spPr>
          </p:pic>
          <p:pic>
            <p:nvPicPr>
              <p:cNvPr id="75" name="图片 74"/>
              <p:cNvPicPr>
                <a:picLocks noChangeAspect="1"/>
              </p:cNvPicPr>
              <p:nvPr>
                <p:custDataLst>
                  <p:tags r:id="rId2"/>
                </p:custDataLst>
              </p:nvPr>
            </p:nvPicPr>
            <p:blipFill>
              <a:blip r:embed="rId9">
                <a:clrChange>
                  <a:clrFrom>
                    <a:srgbClr val="FFFFFF">
                      <a:alpha val="100000"/>
                    </a:srgbClr>
                  </a:clrFrom>
                  <a:clrTo>
                    <a:srgbClr val="FFFFFF">
                      <a:alpha val="100000"/>
                      <a:alpha val="0"/>
                    </a:srgbClr>
                  </a:clrTo>
                </a:clrChange>
              </a:blip>
              <a:stretch>
                <a:fillRect/>
              </a:stretch>
            </p:blipFill>
            <p:spPr>
              <a:xfrm>
                <a:off x="5680143" y="3935021"/>
                <a:ext cx="1531431" cy="1566883"/>
              </a:xfrm>
              <a:prstGeom prst="rect">
                <a:avLst/>
              </a:prstGeom>
            </p:spPr>
          </p:pic>
          <p:pic>
            <p:nvPicPr>
              <p:cNvPr id="76" name="图片 75" descr="23671710127391_.pic"/>
              <p:cNvPicPr>
                <a:picLocks noChangeAspect="1"/>
              </p:cNvPicPr>
              <p:nvPr/>
            </p:nvPicPr>
            <p:blipFill>
              <a:blip r:embed="rId10"/>
              <a:stretch>
                <a:fillRect/>
              </a:stretch>
            </p:blipFill>
            <p:spPr>
              <a:xfrm>
                <a:off x="3074502" y="3816416"/>
                <a:ext cx="1340917" cy="1685489"/>
              </a:xfrm>
              <a:prstGeom prst="rect">
                <a:avLst/>
              </a:prstGeom>
            </p:spPr>
          </p:pic>
          <p:pic>
            <p:nvPicPr>
              <p:cNvPr id="28" name="图片 2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172025" y="3765745"/>
                <a:ext cx="1782245" cy="1746021"/>
              </a:xfrm>
              <a:prstGeom prst="rect">
                <a:avLst/>
              </a:prstGeom>
            </p:spPr>
          </p:pic>
        </p:grpSp>
        <p:sp>
          <p:nvSpPr>
            <p:cNvPr id="31" name="矩形 30"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1921004" y="5501972"/>
              <a:ext cx="1028944" cy="329321"/>
            </a:xfrm>
            <a:prstGeom prst="rect">
              <a:avLst/>
            </a:prstGeom>
            <a:effectLst/>
          </p:spPr>
          <p:txBody>
            <a:bodyPr wrap="square">
              <a:spAutoFit/>
            </a:bodyPr>
            <a:lstStyle/>
            <a:p>
              <a:pPr algn="ctr">
                <a:lnSpc>
                  <a:spcPct val="110000"/>
                </a:lnSpc>
                <a:spcAft>
                  <a:spcPts val="200"/>
                </a:spcAft>
              </a:pPr>
              <a:r>
                <a:rPr lang="en-US" altLang="zh-CN" sz="1400" dirty="0">
                  <a:latin typeface="微软雅黑" panose="020B0503020204020204" pitchFamily="34" charset="-122"/>
                  <a:ea typeface="微软雅黑" panose="020B0503020204020204" pitchFamily="34" charset="-122"/>
                  <a:cs typeface="Bigger" panose="02000A03000000000000" charset="0"/>
                  <a:sym typeface="+mn-ea"/>
                </a:rPr>
                <a:t>2019</a:t>
              </a:r>
              <a:endParaRPr lang="zh-CN" altLang="en-US" sz="14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32" name="矩形 31"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3257798" y="5501972"/>
              <a:ext cx="1028944" cy="329321"/>
            </a:xfrm>
            <a:prstGeom prst="rect">
              <a:avLst/>
            </a:prstGeom>
            <a:effectLst/>
          </p:spPr>
          <p:txBody>
            <a:bodyPr wrap="square">
              <a:spAutoFit/>
            </a:bodyPr>
            <a:lstStyle/>
            <a:p>
              <a:pPr algn="ctr">
                <a:lnSpc>
                  <a:spcPct val="110000"/>
                </a:lnSpc>
                <a:spcAft>
                  <a:spcPts val="200"/>
                </a:spcAft>
              </a:pPr>
              <a:r>
                <a:rPr lang="en-US" altLang="zh-CN" sz="1400" dirty="0">
                  <a:latin typeface="微软雅黑" panose="020B0503020204020204" pitchFamily="34" charset="-122"/>
                  <a:ea typeface="微软雅黑" panose="020B0503020204020204" pitchFamily="34" charset="-122"/>
                  <a:cs typeface="Bigger" panose="02000A03000000000000" charset="0"/>
                  <a:sym typeface="+mn-ea"/>
                </a:rPr>
                <a:t>2021</a:t>
              </a:r>
              <a:endParaRPr lang="zh-CN" altLang="en-US" sz="14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34" name="矩形 33"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4594592" y="5501972"/>
              <a:ext cx="1028944" cy="329321"/>
            </a:xfrm>
            <a:prstGeom prst="rect">
              <a:avLst/>
            </a:prstGeom>
            <a:effectLst/>
          </p:spPr>
          <p:txBody>
            <a:bodyPr wrap="square">
              <a:spAutoFit/>
            </a:bodyPr>
            <a:lstStyle/>
            <a:p>
              <a:pPr algn="ctr">
                <a:lnSpc>
                  <a:spcPct val="110000"/>
                </a:lnSpc>
                <a:spcAft>
                  <a:spcPts val="200"/>
                </a:spcAft>
              </a:pPr>
              <a:r>
                <a:rPr lang="en-US" altLang="zh-CN" sz="1400" dirty="0">
                  <a:latin typeface="微软雅黑" panose="020B0503020204020204" pitchFamily="34" charset="-122"/>
                  <a:ea typeface="微软雅黑" panose="020B0503020204020204" pitchFamily="34" charset="-122"/>
                  <a:cs typeface="Bigger" panose="02000A03000000000000" charset="0"/>
                  <a:sym typeface="+mn-ea"/>
                </a:rPr>
                <a:t>2022</a:t>
              </a:r>
              <a:endParaRPr lang="zh-CN" altLang="en-US" sz="14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sp>
          <p:nvSpPr>
            <p:cNvPr id="35" name="矩形 34" descr="e7d195523061f1c003d7160bb3852330e69e1b47c664ea0314E9593E18313AD830F940F1AC53C40C0B8B3D93D4DFF44B590F8D4A945ADE53F5D61968231FCAE157B0D7022AA0681C03E9FB4B1E3862D096C6A9163449C7E1C28FE765D4B8ADC4D4BCF2FD61FED7DD3115C38ED8C6CEAD060F8ED053D5A43118059C120E477407C78F96F6011B11BA"/>
            <p:cNvSpPr/>
            <p:nvPr/>
          </p:nvSpPr>
          <p:spPr>
            <a:xfrm>
              <a:off x="5931386" y="5501972"/>
              <a:ext cx="1028944" cy="329321"/>
            </a:xfrm>
            <a:prstGeom prst="rect">
              <a:avLst/>
            </a:prstGeom>
            <a:effectLst/>
          </p:spPr>
          <p:txBody>
            <a:bodyPr wrap="square">
              <a:spAutoFit/>
            </a:bodyPr>
            <a:lstStyle/>
            <a:p>
              <a:pPr algn="ctr">
                <a:lnSpc>
                  <a:spcPct val="110000"/>
                </a:lnSpc>
                <a:spcAft>
                  <a:spcPts val="200"/>
                </a:spcAft>
              </a:pPr>
              <a:r>
                <a:rPr lang="en-US" altLang="zh-CN" sz="1400" dirty="0">
                  <a:latin typeface="微软雅黑" panose="020B0503020204020204" pitchFamily="34" charset="-122"/>
                  <a:ea typeface="微软雅黑" panose="020B0503020204020204" pitchFamily="34" charset="-122"/>
                  <a:cs typeface="Bigger" panose="02000A03000000000000" charset="0"/>
                  <a:sym typeface="+mn-ea"/>
                </a:rPr>
                <a:t>2023</a:t>
              </a:r>
              <a:endParaRPr lang="zh-CN" altLang="en-US" sz="1400" dirty="0">
                <a:latin typeface="微软雅黑" panose="020B0503020204020204" pitchFamily="34" charset="-122"/>
                <a:ea typeface="微软雅黑" panose="020B0503020204020204" pitchFamily="34" charset="-122"/>
                <a:cs typeface="Arial" panose="020B0604020202090204" pitchFamily="34" charset="0"/>
                <a:sym typeface="Helvetica Neue" panose="02000503000000020004"/>
              </a:endParaRPr>
            </a:p>
          </p:txBody>
        </p:sp>
      </p:grpSp>
    </p:spTree>
    <p:extLst>
      <p:ext uri="{BB962C8B-B14F-4D97-AF65-F5344CB8AC3E}">
        <p14:creationId xmlns:p14="http://schemas.microsoft.com/office/powerpoint/2010/main" val="4141738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12"/>
          <p:cNvSpPr>
            <a:spLocks noGrp="1" noRot="1" noMove="1" noResize="1" noEditPoints="1" noAdjustHandles="1" noChangeArrowheads="1" noChangeShapeType="1"/>
          </p:cNvSpPr>
          <p:nvPr/>
        </p:nvSpPr>
        <p:spPr>
          <a:xfrm>
            <a:off x="413068" y="1242647"/>
            <a:ext cx="11270261" cy="5238061"/>
          </a:xfrm>
          <a:prstGeom prst="roundRect">
            <a:avLst>
              <a:gd name="adj" fmla="val 6659"/>
            </a:avLst>
          </a:prstGeom>
          <a:solidFill>
            <a:schemeClr val="bg1"/>
          </a:solidFill>
          <a:ln w="28575">
            <a:solidFill>
              <a:schemeClr val="bg1"/>
            </a:solidFill>
          </a:ln>
          <a:effectLst>
            <a:outerShdw blurRad="50800" dist="38100" dir="2700000" algn="tl" rotWithShape="0">
              <a:prstClr val="black">
                <a:alpha val="15000"/>
              </a:prstClr>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lIns="882000" rIns="179954" rtlCol="0" anchor="ctr"/>
          <a:lstStyle/>
          <a:p>
            <a:pPr>
              <a:lnSpc>
                <a:spcPts val="2545"/>
              </a:lnSpc>
            </a:pPr>
            <a:endParaRPr lang="zh-CN" altLang="en-US" sz="1600" dirty="0">
              <a:solidFill>
                <a:srgbClr val="424242"/>
              </a:solidFill>
              <a:latin typeface="微软雅黑" panose="020B0503020204020204" pitchFamily="34" charset="-122"/>
              <a:ea typeface="微软雅黑" panose="020B0503020204020204" pitchFamily="34" charset="-122"/>
              <a:cs typeface="OPPOSans R" panose="00020600040101010101" pitchFamily="18" charset="-122"/>
              <a:sym typeface="MiSans" panose="00000500000000000000" pitchFamily="2" charset="-122"/>
            </a:endParaRPr>
          </a:p>
        </p:txBody>
      </p:sp>
      <p:sp>
        <p:nvSpPr>
          <p:cNvPr id="13" name="矩形: 圆角 6"/>
          <p:cNvSpPr/>
          <p:nvPr/>
        </p:nvSpPr>
        <p:spPr>
          <a:xfrm>
            <a:off x="4045772" y="732909"/>
            <a:ext cx="4098347" cy="516359"/>
          </a:xfrm>
          <a:prstGeom prst="roundRect">
            <a:avLst>
              <a:gd name="adj" fmla="val 50000"/>
            </a:avLst>
          </a:prstGeom>
          <a:gradFill>
            <a:gsLst>
              <a:gs pos="5000">
                <a:srgbClr val="AA00FF"/>
              </a:gs>
              <a:gs pos="100000">
                <a:srgbClr val="800BF5"/>
              </a:gs>
            </a:gsLst>
            <a:lin ang="0" scaled="0"/>
          </a:gradFill>
          <a:ln>
            <a:solidFill>
              <a:schemeClr val="bg1"/>
            </a:solidFill>
          </a:ln>
          <a:effectLst>
            <a:outerShdw blurRad="635000" dist="38100" dir="5400000" sx="102000" sy="102000" algn="t" rotWithShape="0">
              <a:prstClr val="black">
                <a:alpha val="1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u="sng" dirty="0">
                <a:solidFill>
                  <a:schemeClr val="bg1"/>
                </a:solidFill>
                <a:latin typeface="微软雅黑" panose="020B0503020204020204" pitchFamily="34" charset="-122"/>
                <a:ea typeface="微软雅黑" panose="020B0503020204020204" pitchFamily="34" charset="-122"/>
                <a:cs typeface="OPPOSans H" panose="00020600040101010101" pitchFamily="18" charset="-122"/>
                <a:sym typeface="MiSans" panose="00000500000000000000" pitchFamily="2" charset="-122"/>
              </a:rPr>
              <a:t>人瑞人才集团的部分合作客户背书</a:t>
            </a:r>
          </a:p>
        </p:txBody>
      </p:sp>
      <p:cxnSp>
        <p:nvCxnSpPr>
          <p:cNvPr id="14" name="直线连接符 10"/>
          <p:cNvCxnSpPr/>
          <p:nvPr/>
        </p:nvCxnSpPr>
        <p:spPr>
          <a:xfrm flipH="1">
            <a:off x="967003" y="4134809"/>
            <a:ext cx="10257994"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244319" y="1671899"/>
            <a:ext cx="1620957" cy="307777"/>
          </a:xfrm>
          <a:prstGeom prst="rect">
            <a:avLst/>
          </a:prstGeom>
          <a:noFill/>
        </p:spPr>
        <p:txBody>
          <a:bodyPr wrap="none" rtlCol="0">
            <a:spAutoFit/>
          </a:bodyPr>
          <a:lstStyle/>
          <a:p>
            <a:pPr algn="ctr"/>
            <a:r>
              <a:rPr kumimoji="1" lang="zh-CN" altLang="en-US" sz="1400" dirty="0">
                <a:solidFill>
                  <a:srgbClr val="FFB300"/>
                </a:solidFill>
                <a:latin typeface="微软雅黑" panose="020B0503020204020204" pitchFamily="34" charset="-122"/>
                <a:ea typeface="微软雅黑" panose="020B0503020204020204" pitchFamily="34" charset="-122"/>
                <a:cs typeface="OPPOSans R" panose="00020600040101010101" pitchFamily="18" charset="-122"/>
                <a:sym typeface="MiSans" panose="00000500000000000000" pitchFamily="2" charset="-122"/>
              </a:rPr>
              <a:t>智能制造与高科技</a:t>
            </a:r>
          </a:p>
        </p:txBody>
      </p:sp>
      <p:sp>
        <p:nvSpPr>
          <p:cNvPr id="16" name="文本框 15"/>
          <p:cNvSpPr txBox="1"/>
          <p:nvPr/>
        </p:nvSpPr>
        <p:spPr>
          <a:xfrm>
            <a:off x="5647690" y="4407195"/>
            <a:ext cx="896620" cy="306705"/>
          </a:xfrm>
          <a:prstGeom prst="rect">
            <a:avLst/>
          </a:prstGeom>
          <a:noFill/>
        </p:spPr>
        <p:txBody>
          <a:bodyPr wrap="none" rtlCol="0">
            <a:spAutoFit/>
          </a:bodyPr>
          <a:lstStyle/>
          <a:p>
            <a:pPr algn="ctr"/>
            <a:r>
              <a:rPr kumimoji="1" lang="zh-CN" altLang="en-US" sz="1400" dirty="0">
                <a:solidFill>
                  <a:srgbClr val="FFB300"/>
                </a:solidFill>
                <a:latin typeface="微软雅黑" panose="020B0503020204020204" pitchFamily="34" charset="-122"/>
                <a:ea typeface="微软雅黑" panose="020B0503020204020204" pitchFamily="34" charset="-122"/>
                <a:cs typeface="OPPOSans R" panose="00020600040101010101" pitchFamily="18" charset="-122"/>
                <a:sym typeface="MiSans" panose="00000500000000000000" pitchFamily="2" charset="-122"/>
              </a:rPr>
              <a:t>消费零售</a:t>
            </a:r>
          </a:p>
        </p:txBody>
      </p:sp>
      <p:grpSp>
        <p:nvGrpSpPr>
          <p:cNvPr id="17" name="组合 16"/>
          <p:cNvGrpSpPr/>
          <p:nvPr/>
        </p:nvGrpSpPr>
        <p:grpSpPr>
          <a:xfrm>
            <a:off x="2275238" y="4772558"/>
            <a:ext cx="7641525" cy="1027866"/>
            <a:chOff x="784900" y="4320258"/>
            <a:chExt cx="7641525" cy="1027866"/>
          </a:xfrm>
        </p:grpSpPr>
        <p:grpSp>
          <p:nvGrpSpPr>
            <p:cNvPr id="18" name="组合 17"/>
            <p:cNvGrpSpPr/>
            <p:nvPr/>
          </p:nvGrpSpPr>
          <p:grpSpPr>
            <a:xfrm>
              <a:off x="4229131" y="4382650"/>
              <a:ext cx="753064" cy="896197"/>
              <a:chOff x="4631614" y="3197623"/>
              <a:chExt cx="607884" cy="717941"/>
            </a:xfrm>
          </p:grpSpPr>
          <p:pic>
            <p:nvPicPr>
              <p:cNvPr id="21" name="图像" descr="图像"/>
              <p:cNvPicPr>
                <a:picLocks noChangeAspect="1"/>
              </p:cNvPicPr>
              <p:nvPr/>
            </p:nvPicPr>
            <p:blipFill>
              <a:blip r:embed="rId3" cstate="screen"/>
              <a:stretch>
                <a:fillRect/>
              </a:stretch>
            </p:blipFill>
            <p:spPr>
              <a:xfrm>
                <a:off x="4631614" y="3197623"/>
                <a:ext cx="607884" cy="290450"/>
              </a:xfrm>
              <a:prstGeom prst="rect">
                <a:avLst/>
              </a:prstGeom>
              <a:ln w="3175">
                <a:miter lim="400000"/>
                <a:headEnd/>
                <a:tailEnd/>
              </a:ln>
            </p:spPr>
          </p:pic>
          <p:pic>
            <p:nvPicPr>
              <p:cNvPr id="22" name="图片 21"/>
              <p:cNvPicPr>
                <a:picLocks noChangeAspect="1"/>
              </p:cNvPicPr>
              <p:nvPr/>
            </p:nvPicPr>
            <p:blipFill>
              <a:blip r:embed="rId4" cstate="screen"/>
              <a:stretch>
                <a:fillRect/>
              </a:stretch>
            </p:blipFill>
            <p:spPr>
              <a:xfrm>
                <a:off x="4744736" y="3611519"/>
                <a:ext cx="313148" cy="304045"/>
              </a:xfrm>
              <a:prstGeom prst="rect">
                <a:avLst/>
              </a:prstGeom>
            </p:spPr>
          </p:pic>
        </p:grpSp>
        <p:pic>
          <p:nvPicPr>
            <p:cNvPr id="19" name="图片 18" descr="图片1"/>
            <p:cNvPicPr>
              <a:picLocks noChangeAspect="1"/>
            </p:cNvPicPr>
            <p:nvPr/>
          </p:nvPicPr>
          <p:blipFill>
            <a:blip r:embed="rId5"/>
            <a:srcRect t="49579"/>
            <a:stretch>
              <a:fillRect/>
            </a:stretch>
          </p:blipFill>
          <p:spPr>
            <a:xfrm>
              <a:off x="5130140" y="4320258"/>
              <a:ext cx="3296285" cy="990289"/>
            </a:xfrm>
            <a:prstGeom prst="rect">
              <a:avLst/>
            </a:prstGeom>
          </p:spPr>
        </p:pic>
        <p:pic>
          <p:nvPicPr>
            <p:cNvPr id="20" name="图片 19" descr="图片1"/>
            <p:cNvPicPr>
              <a:picLocks noChangeAspect="1"/>
            </p:cNvPicPr>
            <p:nvPr/>
          </p:nvPicPr>
          <p:blipFill>
            <a:blip r:embed="rId5"/>
            <a:srcRect b="48133"/>
            <a:stretch>
              <a:fillRect/>
            </a:stretch>
          </p:blipFill>
          <p:spPr>
            <a:xfrm>
              <a:off x="784900" y="4329440"/>
              <a:ext cx="3296285" cy="1018684"/>
            </a:xfrm>
            <a:prstGeom prst="rect">
              <a:avLst/>
            </a:prstGeom>
          </p:spPr>
        </p:pic>
      </p:grpSp>
      <p:grpSp>
        <p:nvGrpSpPr>
          <p:cNvPr id="23" name="组合 22"/>
          <p:cNvGrpSpPr/>
          <p:nvPr/>
        </p:nvGrpSpPr>
        <p:grpSpPr>
          <a:xfrm>
            <a:off x="1421426" y="2100860"/>
            <a:ext cx="9053658" cy="1741796"/>
            <a:chOff x="1219370" y="2100860"/>
            <a:chExt cx="9053658" cy="1741796"/>
          </a:xfrm>
        </p:grpSpPr>
        <p:grpSp>
          <p:nvGrpSpPr>
            <p:cNvPr id="24" name="组合 23"/>
            <p:cNvGrpSpPr/>
            <p:nvPr/>
          </p:nvGrpSpPr>
          <p:grpSpPr>
            <a:xfrm>
              <a:off x="6320788" y="2192431"/>
              <a:ext cx="3952240" cy="1581386"/>
              <a:chOff x="6255677" y="2192431"/>
              <a:chExt cx="3952240" cy="1581386"/>
            </a:xfrm>
          </p:grpSpPr>
          <p:pic>
            <p:nvPicPr>
              <p:cNvPr id="38" name="Picture 2" descr="未来，焕新而来！吉利控股发布全新LOGO"/>
              <p:cNvPicPr>
                <a:picLocks noChangeAspect="1" noChangeArrowheads="1"/>
              </p:cNvPicPr>
              <p:nvPr/>
            </p:nvPicPr>
            <p:blipFill rotWithShape="1">
              <a:blip r:embed="rId6" cstate="print">
                <a:biLevel thresh="75000"/>
                <a:extLst>
                  <a:ext uri="{28A0092B-C50C-407E-A947-70E740481C1C}">
                    <a14:useLocalDpi xmlns:a14="http://schemas.microsoft.com/office/drawing/2010/main" val="0"/>
                  </a:ext>
                </a:extLst>
              </a:blip>
              <a:srcRect l="18925" t="22566" r="18925" b="22566"/>
              <a:stretch>
                <a:fillRect/>
              </a:stretch>
            </p:blipFill>
            <p:spPr bwMode="auto">
              <a:xfrm>
                <a:off x="6278537" y="2240700"/>
                <a:ext cx="835051" cy="40495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奇瑞CHERY设计LOGO设计欣赏 - LOGO800"/>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4043" t="26366" r="24078" b="20254"/>
              <a:stretch>
                <a:fillRect/>
              </a:stretch>
            </p:blipFill>
            <p:spPr bwMode="auto">
              <a:xfrm>
                <a:off x="7342968" y="2217926"/>
                <a:ext cx="583877" cy="45050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成功品牌定位案例揭秘：探索市场领导者的品牌策略和竞争优势"/>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2864" t="23956" r="12864" b="23956"/>
              <a:stretch>
                <a:fillRect/>
              </a:stretch>
            </p:blipFill>
            <p:spPr bwMode="auto">
              <a:xfrm>
                <a:off x="8857272" y="2210211"/>
                <a:ext cx="1350645" cy="35115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2" descr="哪吒汽车车标的含义，哪吒汽车车标的LOGO图片是什么样子的-车主指南"/>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t="22406" b="22406"/>
              <a:stretch>
                <a:fillRect/>
              </a:stretch>
            </p:blipFill>
            <p:spPr bwMode="auto">
              <a:xfrm>
                <a:off x="6255677" y="2782981"/>
                <a:ext cx="1167765" cy="36258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4" descr="企业介绍—江汽集团官方网站"/>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15872" y="2869341"/>
                <a:ext cx="995680" cy="28384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LOGO设计欣赏_空灵LOGO设计公司"/>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1259" t="34160" r="21259" b="34160"/>
              <a:stretch>
                <a:fillRect/>
              </a:stretch>
            </p:blipFill>
            <p:spPr bwMode="auto">
              <a:xfrm>
                <a:off x="9070426" y="2791138"/>
                <a:ext cx="869102" cy="37024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8" descr="长城汽车GreatWall矢量图LOGO设计欣赏 - LOGO800"/>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30472" t="25117" r="30472" b="25117"/>
              <a:stretch>
                <a:fillRect/>
              </a:stretch>
            </p:blipFill>
            <p:spPr bwMode="auto">
              <a:xfrm>
                <a:off x="8156225" y="2192431"/>
                <a:ext cx="471484" cy="450503"/>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组合 44"/>
              <p:cNvGrpSpPr/>
              <p:nvPr/>
            </p:nvGrpSpPr>
            <p:grpSpPr>
              <a:xfrm>
                <a:off x="6320729" y="3433361"/>
                <a:ext cx="3696334" cy="340456"/>
                <a:chOff x="6335969" y="3388015"/>
                <a:chExt cx="4188655" cy="385802"/>
              </a:xfrm>
            </p:grpSpPr>
            <p:pic>
              <p:nvPicPr>
                <p:cNvPr id="46" name="Picture 4" descr="理想汽车资料简介-排行榜123网"/>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6401" t="38065" r="6401" b="38065"/>
                <a:stretch>
                  <a:fillRect/>
                </a:stretch>
              </p:blipFill>
              <p:spPr bwMode="auto">
                <a:xfrm>
                  <a:off x="8034170" y="3449377"/>
                  <a:ext cx="1127577" cy="30941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6" descr="小鹏汽车_第17届中国商业地产节"/>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10694" t="38241" r="10694" b="38241"/>
                <a:stretch>
                  <a:fillRect/>
                </a:stretch>
              </p:blipFill>
              <p:spPr bwMode="auto">
                <a:xfrm>
                  <a:off x="9451016" y="3452256"/>
                  <a:ext cx="1073608" cy="281355"/>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0" descr="中国中车logo设计图__企业LOGO标志_标志图标_设计图库_昵图网"/>
                <p:cNvPicPr>
                  <a:picLocks noChangeAspect="1" noChangeArrowheads="1"/>
                </p:cNvPicPr>
                <p:nvPr/>
              </p:nvPicPr>
              <p:blipFill rotWithShape="1">
                <a:blip r:embed="rId15" cstate="print">
                  <a:extLst>
                    <a:ext uri="{28A0092B-C50C-407E-A947-70E740481C1C}">
                      <a14:useLocalDpi xmlns:a14="http://schemas.microsoft.com/office/drawing/2010/main" val="0"/>
                    </a:ext>
                  </a:extLst>
                </a:blip>
                <a:srcRect l="5716" t="33472" r="5716" b="29532"/>
                <a:stretch>
                  <a:fillRect/>
                </a:stretch>
              </p:blipFill>
              <p:spPr bwMode="auto">
                <a:xfrm>
                  <a:off x="6335969" y="3388015"/>
                  <a:ext cx="1154711" cy="38580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5" name="组合 24"/>
            <p:cNvGrpSpPr/>
            <p:nvPr/>
          </p:nvGrpSpPr>
          <p:grpSpPr>
            <a:xfrm>
              <a:off x="1219370" y="2100860"/>
              <a:ext cx="4800411" cy="1741796"/>
              <a:chOff x="967003" y="2100860"/>
              <a:chExt cx="4800411" cy="1741796"/>
            </a:xfrm>
          </p:grpSpPr>
          <p:grpSp>
            <p:nvGrpSpPr>
              <p:cNvPr id="26" name="组合 25"/>
              <p:cNvGrpSpPr/>
              <p:nvPr/>
            </p:nvGrpSpPr>
            <p:grpSpPr>
              <a:xfrm>
                <a:off x="967003" y="2100860"/>
                <a:ext cx="4800411" cy="1228090"/>
                <a:chOff x="795127" y="1751886"/>
                <a:chExt cx="4800411" cy="1228090"/>
              </a:xfrm>
            </p:grpSpPr>
            <p:pic>
              <p:nvPicPr>
                <p:cNvPr id="33" name="图片 32" descr="截屏2026-01-22 15.12.45"/>
                <p:cNvPicPr>
                  <a:picLocks noChangeAspect="1"/>
                </p:cNvPicPr>
                <p:nvPr/>
              </p:nvPicPr>
              <p:blipFill>
                <a:blip r:embed="rId16"/>
                <a:stretch>
                  <a:fillRect/>
                </a:stretch>
              </p:blipFill>
              <p:spPr>
                <a:xfrm>
                  <a:off x="3493770" y="2415570"/>
                  <a:ext cx="1304925" cy="466090"/>
                </a:xfrm>
                <a:prstGeom prst="rect">
                  <a:avLst/>
                </a:prstGeom>
              </p:spPr>
            </p:pic>
            <p:pic>
              <p:nvPicPr>
                <p:cNvPr id="34" name="图片 33" descr="截屏2026-01-22 15.29.09"/>
                <p:cNvPicPr>
                  <a:picLocks noChangeAspect="1"/>
                </p:cNvPicPr>
                <p:nvPr/>
              </p:nvPicPr>
              <p:blipFill>
                <a:blip r:embed="rId17"/>
                <a:stretch>
                  <a:fillRect/>
                </a:stretch>
              </p:blipFill>
              <p:spPr>
                <a:xfrm>
                  <a:off x="795127" y="1751886"/>
                  <a:ext cx="3150235" cy="1228090"/>
                </a:xfrm>
                <a:prstGeom prst="rect">
                  <a:avLst/>
                </a:prstGeom>
              </p:spPr>
            </p:pic>
            <p:pic>
              <p:nvPicPr>
                <p:cNvPr id="35" name="图片 34" descr="图片4"/>
                <p:cNvPicPr>
                  <a:picLocks noChangeAspect="1"/>
                </p:cNvPicPr>
                <p:nvPr/>
              </p:nvPicPr>
              <p:blipFill>
                <a:blip r:embed="rId18"/>
                <a:stretch>
                  <a:fillRect/>
                </a:stretch>
              </p:blipFill>
              <p:spPr>
                <a:xfrm>
                  <a:off x="4756703" y="2283539"/>
                  <a:ext cx="838835" cy="503555"/>
                </a:xfrm>
                <a:prstGeom prst="rect">
                  <a:avLst/>
                </a:prstGeom>
              </p:spPr>
            </p:pic>
            <p:pic>
              <p:nvPicPr>
                <p:cNvPr id="36" name="图片 35" descr="图片5"/>
                <p:cNvPicPr>
                  <a:picLocks noChangeAspect="1"/>
                </p:cNvPicPr>
                <p:nvPr/>
              </p:nvPicPr>
              <p:blipFill>
                <a:blip r:embed="rId19"/>
                <a:stretch>
                  <a:fillRect/>
                </a:stretch>
              </p:blipFill>
              <p:spPr>
                <a:xfrm>
                  <a:off x="4756703" y="1877060"/>
                  <a:ext cx="838835" cy="281305"/>
                </a:xfrm>
                <a:prstGeom prst="rect">
                  <a:avLst/>
                </a:prstGeom>
              </p:spPr>
            </p:pic>
            <p:pic>
              <p:nvPicPr>
                <p:cNvPr id="37" name="图片 36" descr="图片2"/>
                <p:cNvPicPr>
                  <a:picLocks noChangeAspect="1"/>
                </p:cNvPicPr>
                <p:nvPr/>
              </p:nvPicPr>
              <p:blipFill>
                <a:blip r:embed="rId20"/>
                <a:stretch>
                  <a:fillRect/>
                </a:stretch>
              </p:blipFill>
              <p:spPr>
                <a:xfrm>
                  <a:off x="3828382" y="1877060"/>
                  <a:ext cx="753110" cy="351155"/>
                </a:xfrm>
                <a:prstGeom prst="rect">
                  <a:avLst/>
                </a:prstGeom>
              </p:spPr>
            </p:pic>
          </p:grpSp>
          <p:grpSp>
            <p:nvGrpSpPr>
              <p:cNvPr id="27" name="组合 26"/>
              <p:cNvGrpSpPr/>
              <p:nvPr/>
            </p:nvGrpSpPr>
            <p:grpSpPr>
              <a:xfrm>
                <a:off x="1149260" y="3265254"/>
                <a:ext cx="4561205" cy="577402"/>
                <a:chOff x="1149260" y="3265254"/>
                <a:chExt cx="4561205" cy="577402"/>
              </a:xfrm>
            </p:grpSpPr>
            <p:pic>
              <p:nvPicPr>
                <p:cNvPr id="28" name="Picture 10" descr="https://gimg2.baidu.com/image_search/src=http%3A%2F%2Fwww.toptouchfestival.com%2Fupload%2Fimage%2F2020%2F20200703%2F20200703180551_94905.jpg&amp;refer=http%3A%2F%2Fwww.toptouchfestival.com&amp;app=2002&amp;size=f9999,10000&amp;q=a80&amp;n=0&amp;g=0n&amp;fmt=auto?sec=1660952302&amp;t=7aeaa7047b6f87a48ae4f43c1249862f"/>
                <p:cNvPicPr>
                  <a:picLocks noChangeAspect="1" noChangeArrowheads="1"/>
                </p:cNvPicPr>
                <p:nvPr/>
              </p:nvPicPr>
              <p:blipFill rotWithShape="1">
                <a:blip r:embed="rId21" cstate="screen">
                  <a:clrChange>
                    <a:clrFrom>
                      <a:srgbClr val="FFFFFF"/>
                    </a:clrFrom>
                    <a:clrTo>
                      <a:srgbClr val="FFFFFF">
                        <a:alpha val="0"/>
                      </a:srgbClr>
                    </a:clrTo>
                  </a:clrChange>
                </a:blip>
                <a:srcRect/>
                <a:stretch>
                  <a:fillRect/>
                </a:stretch>
              </p:blipFill>
              <p:spPr bwMode="auto">
                <a:xfrm>
                  <a:off x="1149260" y="3448049"/>
                  <a:ext cx="693651" cy="21181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 descr="https://img2.baidu.com/it/u=4110199161,3370708540&amp;fm=253&amp;app=138&amp;size=w931&amp;n=0&amp;f=JPEG&amp;fmt=auto?sec=1658509200&amp;t=a524e637d80caba8a9844c2e301c6dc3"/>
                <p:cNvPicPr>
                  <a:picLocks noChangeAspect="1" noChangeArrowheads="1"/>
                </p:cNvPicPr>
                <p:nvPr/>
              </p:nvPicPr>
              <p:blipFill rotWithShape="1">
                <a:blip r:embed="rId22" cstate="screen">
                  <a:clrChange>
                    <a:clrFrom>
                      <a:srgbClr val="FFFFFF"/>
                    </a:clrFrom>
                    <a:clrTo>
                      <a:srgbClr val="FFFFFF">
                        <a:alpha val="0"/>
                      </a:srgbClr>
                    </a:clrTo>
                  </a:clrChange>
                </a:blip>
                <a:srcRect/>
                <a:stretch>
                  <a:fillRect/>
                </a:stretch>
              </p:blipFill>
              <p:spPr bwMode="auto">
                <a:xfrm>
                  <a:off x="1950486" y="3390418"/>
                  <a:ext cx="1000463" cy="327074"/>
                </a:xfrm>
                <a:prstGeom prst="rect">
                  <a:avLst/>
                </a:prstGeom>
                <a:noFill/>
                <a:extLst>
                  <a:ext uri="{909E8E84-426E-40DD-AFC4-6F175D3DCCD1}">
                    <a14:hiddenFill xmlns:a14="http://schemas.microsoft.com/office/drawing/2010/main">
                      <a:solidFill>
                        <a:srgbClr val="FFFFFF"/>
                      </a:solidFill>
                    </a14:hiddenFill>
                  </a:ext>
                </a:extLst>
              </p:spPr>
            </p:pic>
            <p:pic>
              <p:nvPicPr>
                <p:cNvPr id="30" name="图片 29" descr="截屏2026-01-22 15.28.21"/>
                <p:cNvPicPr>
                  <a:picLocks noChangeAspect="1"/>
                </p:cNvPicPr>
                <p:nvPr/>
              </p:nvPicPr>
              <p:blipFill>
                <a:blip r:embed="rId23"/>
                <a:stretch>
                  <a:fillRect/>
                </a:stretch>
              </p:blipFill>
              <p:spPr>
                <a:xfrm>
                  <a:off x="2951845" y="3265254"/>
                  <a:ext cx="1071514" cy="577402"/>
                </a:xfrm>
                <a:prstGeom prst="rect">
                  <a:avLst/>
                </a:prstGeom>
              </p:spPr>
            </p:pic>
            <p:pic>
              <p:nvPicPr>
                <p:cNvPr id="31" name="图片 30"/>
                <p:cNvPicPr>
                  <a:picLocks noChangeAspect="1"/>
                </p:cNvPicPr>
                <p:nvPr>
                  <p:custDataLst>
                    <p:tags r:id="rId1"/>
                  </p:custDataLst>
                </p:nvPr>
              </p:nvPicPr>
              <p:blipFill>
                <a:blip r:embed="rId24"/>
                <a:stretch>
                  <a:fillRect/>
                </a:stretch>
              </p:blipFill>
              <p:spPr>
                <a:xfrm>
                  <a:off x="4123315" y="3302178"/>
                  <a:ext cx="469411" cy="503555"/>
                </a:xfrm>
                <a:prstGeom prst="rect">
                  <a:avLst/>
                </a:prstGeom>
              </p:spPr>
            </p:pic>
            <p:pic>
              <p:nvPicPr>
                <p:cNvPr id="32" name="Picture 12" descr="宁德时代 LOGO 标志设计图__企业LOGO标志_标志图标_设计图库_昵图网"/>
                <p:cNvPicPr>
                  <a:picLocks noChangeAspect="1" noChangeArrowheads="1"/>
                </p:cNvPicPr>
                <p:nvPr/>
              </p:nvPicPr>
              <p:blipFill rotWithShape="1">
                <a:blip r:embed="rId25" cstate="print">
                  <a:extLst>
                    <a:ext uri="{28A0092B-C50C-407E-A947-70E740481C1C}">
                      <a14:useLocalDpi xmlns:a14="http://schemas.microsoft.com/office/drawing/2010/main" val="0"/>
                    </a:ext>
                  </a:extLst>
                </a:blip>
                <a:srcRect l="10475" t="24099" r="10475" b="22763"/>
                <a:stretch>
                  <a:fillRect/>
                </a:stretch>
              </p:blipFill>
              <p:spPr bwMode="auto">
                <a:xfrm>
                  <a:off x="5015775" y="3392889"/>
                  <a:ext cx="694690" cy="330200"/>
                </a:xfrm>
                <a:prstGeom prst="rect">
                  <a:avLst/>
                </a:prstGeom>
                <a:noFill/>
                <a:extLst>
                  <a:ext uri="{909E8E84-426E-40DD-AFC4-6F175D3DCCD1}">
                    <a14:hiddenFill xmlns:a14="http://schemas.microsoft.com/office/drawing/2010/main">
                      <a:solidFill>
                        <a:srgbClr val="FFFFFF"/>
                      </a:solidFill>
                    </a14:hiddenFill>
                  </a:ext>
                </a:extLst>
              </p:spPr>
            </p:pic>
          </p:grpSp>
        </p:grpSp>
      </p:grpSp>
    </p:spTree>
    <p:extLst>
      <p:ext uri="{BB962C8B-B14F-4D97-AF65-F5344CB8AC3E}">
        <p14:creationId xmlns:p14="http://schemas.microsoft.com/office/powerpoint/2010/main" val="65999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email">
            <a:extLst>
              <a:ext uri="{28A0092B-C50C-407E-A947-70E740481C1C}">
                <a14:useLocalDpi xmlns:a14="http://schemas.microsoft.com/office/drawing/2010/main" val="0"/>
              </a:ext>
            </a:extLst>
          </a:blip>
          <a:srcRect l="4127" r="4127"/>
          <a:stretch>
            <a:fillRect/>
          </a:stretch>
        </p:blipFill>
        <p:spPr>
          <a:xfrm>
            <a:off x="859044" y="4699692"/>
            <a:ext cx="2600980" cy="1594681"/>
          </a:xfrm>
          <a:prstGeom prst="rect">
            <a:avLst/>
          </a:prstGeom>
        </p:spPr>
      </p:pic>
      <p:sp>
        <p:nvSpPr>
          <p:cNvPr id="4" name="矩形: 圆角 6"/>
          <p:cNvSpPr/>
          <p:nvPr/>
        </p:nvSpPr>
        <p:spPr>
          <a:xfrm>
            <a:off x="4036417" y="769293"/>
            <a:ext cx="4098347" cy="535107"/>
          </a:xfrm>
          <a:prstGeom prst="roundRect">
            <a:avLst>
              <a:gd name="adj" fmla="val 50000"/>
            </a:avLst>
          </a:prstGeom>
          <a:gradFill>
            <a:gsLst>
              <a:gs pos="5000">
                <a:srgbClr val="AA00FF"/>
              </a:gs>
              <a:gs pos="100000">
                <a:srgbClr val="800BF5"/>
              </a:gs>
            </a:gsLst>
            <a:lin ang="0" scaled="0"/>
          </a:gradFill>
          <a:ln>
            <a:solidFill>
              <a:schemeClr val="bg1"/>
            </a:solidFill>
          </a:ln>
          <a:effectLst>
            <a:outerShdw blurRad="635000" dist="38100" dir="5400000" sx="102000" sy="102000" algn="t" rotWithShape="0">
              <a:prstClr val="black">
                <a:alpha val="1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u="sng" dirty="0">
                <a:solidFill>
                  <a:schemeClr val="bg1"/>
                </a:solidFill>
                <a:latin typeface="微软雅黑" panose="020B0503020204020204" pitchFamily="34" charset="-122"/>
                <a:ea typeface="微软雅黑" panose="020B0503020204020204" pitchFamily="34" charset="-122"/>
                <a:cs typeface="OPPOSans H" panose="00020600040101010101" pitchFamily="18" charset="-122"/>
                <a:sym typeface="MiSans" panose="00000500000000000000" pitchFamily="2" charset="-122"/>
              </a:rPr>
              <a:t>人瑞人才集团的海外服务能力加持</a:t>
            </a:r>
          </a:p>
        </p:txBody>
      </p:sp>
      <p:grpSp>
        <p:nvGrpSpPr>
          <p:cNvPr id="6" name="组合 5"/>
          <p:cNvGrpSpPr/>
          <p:nvPr/>
        </p:nvGrpSpPr>
        <p:grpSpPr>
          <a:xfrm>
            <a:off x="645123" y="1310640"/>
            <a:ext cx="10901754" cy="5160804"/>
            <a:chOff x="645123" y="1310640"/>
            <a:chExt cx="10901754" cy="5160804"/>
          </a:xfrm>
        </p:grpSpPr>
        <p:grpSp>
          <p:nvGrpSpPr>
            <p:cNvPr id="7" name="组合 6"/>
            <p:cNvGrpSpPr/>
            <p:nvPr/>
          </p:nvGrpSpPr>
          <p:grpSpPr>
            <a:xfrm>
              <a:off x="645123" y="1310640"/>
              <a:ext cx="10901754" cy="5160804"/>
              <a:chOff x="1307890" y="2621280"/>
              <a:chExt cx="21803508" cy="10321608"/>
            </a:xfrm>
          </p:grpSpPr>
          <p:sp>
            <p:nvSpPr>
              <p:cNvPr id="9" name="矩形: 圆角 12"/>
              <p:cNvSpPr/>
              <p:nvPr/>
            </p:nvSpPr>
            <p:spPr>
              <a:xfrm>
                <a:off x="1307890" y="2621280"/>
                <a:ext cx="21803508" cy="10321608"/>
              </a:xfrm>
              <a:prstGeom prst="roundRect">
                <a:avLst>
                  <a:gd name="adj" fmla="val 6659"/>
                </a:avLst>
              </a:prstGeom>
              <a:solidFill>
                <a:srgbClr val="FFB300">
                  <a:alpha val="0"/>
                </a:srgbClr>
              </a:solidFill>
              <a:ln w="15875">
                <a:solidFill>
                  <a:schemeClr val="bg1"/>
                </a:solidFill>
              </a:ln>
              <a:effectLst>
                <a:outerShdw blurRad="254000" dist="63500" dir="5400000" algn="t" rotWithShape="0">
                  <a:prstClr val="black">
                    <a:alpha val="14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82000" rIns="179954" rtlCol="0" anchor="ctr"/>
              <a:lstStyle/>
              <a:p>
                <a:pPr>
                  <a:lnSpc>
                    <a:spcPts val="2545"/>
                  </a:lnSpc>
                </a:pPr>
                <a:endParaRPr lang="zh-CN" altLang="en-US" sz="1600" dirty="0">
                  <a:solidFill>
                    <a:srgbClr val="424242"/>
                  </a:solidFill>
                  <a:latin typeface="微软雅黑" panose="020B0503020204020204" pitchFamily="34" charset="-122"/>
                  <a:ea typeface="微软雅黑" panose="020B0503020204020204" pitchFamily="34" charset="-122"/>
                  <a:cs typeface="OPPOSans R" panose="00020600040101010101" pitchFamily="18" charset="-122"/>
                  <a:sym typeface="MiSans" panose="00000500000000000000" pitchFamily="2" charset="-122"/>
                </a:endParaRPr>
              </a:p>
            </p:txBody>
          </p:sp>
          <p:sp>
            <p:nvSpPr>
              <p:cNvPr id="10" name="矩形 9"/>
              <p:cNvSpPr/>
              <p:nvPr/>
            </p:nvSpPr>
            <p:spPr>
              <a:xfrm>
                <a:off x="12242165" y="6219084"/>
                <a:ext cx="5257983" cy="320359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450">
                  <a:latin typeface="微软雅黑" panose="020B0503020204020204" pitchFamily="34" charset="-122"/>
                  <a:ea typeface="微软雅黑" panose="020B0503020204020204" pitchFamily="34" charset="-122"/>
                  <a:sym typeface="MiSans" panose="00000500000000000000" pitchFamily="2" charset="-122"/>
                </a:endParaRPr>
              </a:p>
            </p:txBody>
          </p:sp>
          <p:sp>
            <p:nvSpPr>
              <p:cNvPr id="11" name="矩形 10"/>
              <p:cNvSpPr/>
              <p:nvPr/>
            </p:nvSpPr>
            <p:spPr>
              <a:xfrm>
                <a:off x="1711325" y="6219084"/>
                <a:ext cx="5257983" cy="320359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450">
                  <a:latin typeface="微软雅黑" panose="020B0503020204020204" pitchFamily="34" charset="-122"/>
                  <a:ea typeface="微软雅黑" panose="020B0503020204020204" pitchFamily="34" charset="-122"/>
                  <a:sym typeface="MiSans" panose="00000500000000000000" pitchFamily="2" charset="-122"/>
                </a:endParaRPr>
              </a:p>
            </p:txBody>
          </p:sp>
          <p:sp>
            <p:nvSpPr>
              <p:cNvPr id="12" name="矩形 11"/>
              <p:cNvSpPr/>
              <p:nvPr/>
            </p:nvSpPr>
            <p:spPr>
              <a:xfrm>
                <a:off x="6934266" y="9389004"/>
                <a:ext cx="5257983" cy="320359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450">
                  <a:latin typeface="微软雅黑" panose="020B0503020204020204" pitchFamily="34" charset="-122"/>
                  <a:ea typeface="微软雅黑" panose="020B0503020204020204" pitchFamily="34" charset="-122"/>
                  <a:sym typeface="MiSans" panose="00000500000000000000" pitchFamily="2" charset="-122"/>
                </a:endParaRPr>
              </a:p>
            </p:txBody>
          </p:sp>
          <p:sp>
            <p:nvSpPr>
              <p:cNvPr id="13" name="矩形 12"/>
              <p:cNvSpPr/>
              <p:nvPr/>
            </p:nvSpPr>
            <p:spPr>
              <a:xfrm>
                <a:off x="17434626" y="9389004"/>
                <a:ext cx="5257983" cy="320359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450">
                  <a:latin typeface="微软雅黑" panose="020B0503020204020204" pitchFamily="34" charset="-122"/>
                  <a:ea typeface="微软雅黑" panose="020B0503020204020204" pitchFamily="34" charset="-122"/>
                  <a:sym typeface="MiSans" panose="00000500000000000000" pitchFamily="2" charset="-122"/>
                </a:endParaRPr>
              </a:p>
            </p:txBody>
          </p:sp>
          <p:sp>
            <p:nvSpPr>
              <p:cNvPr id="14" name="矩形 13"/>
              <p:cNvSpPr/>
              <p:nvPr/>
            </p:nvSpPr>
            <p:spPr>
              <a:xfrm>
                <a:off x="17434626" y="3003444"/>
                <a:ext cx="5257983" cy="320359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450">
                  <a:latin typeface="微软雅黑" panose="020B0503020204020204" pitchFamily="34" charset="-122"/>
                  <a:ea typeface="微软雅黑" panose="020B0503020204020204" pitchFamily="34" charset="-122"/>
                  <a:sym typeface="MiSans" panose="00000500000000000000" pitchFamily="2" charset="-122"/>
                </a:endParaRPr>
              </a:p>
            </p:txBody>
          </p:sp>
          <p:sp>
            <p:nvSpPr>
              <p:cNvPr id="15" name="矩形 14"/>
              <p:cNvSpPr/>
              <p:nvPr/>
            </p:nvSpPr>
            <p:spPr>
              <a:xfrm>
                <a:off x="6949506" y="3003444"/>
                <a:ext cx="5257983" cy="320359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450">
                  <a:latin typeface="微软雅黑" panose="020B0503020204020204" pitchFamily="34" charset="-122"/>
                  <a:ea typeface="微软雅黑" panose="020B0503020204020204" pitchFamily="34" charset="-122"/>
                  <a:sym typeface="MiSans" panose="00000500000000000000" pitchFamily="2" charset="-122"/>
                </a:endParaRPr>
              </a:p>
            </p:txBody>
          </p:sp>
          <p:grpSp>
            <p:nvGrpSpPr>
              <p:cNvPr id="16" name="组合 15"/>
              <p:cNvGrpSpPr/>
              <p:nvPr/>
            </p:nvGrpSpPr>
            <p:grpSpPr>
              <a:xfrm>
                <a:off x="1462127" y="3003448"/>
                <a:ext cx="21239122" cy="9585299"/>
                <a:chOff x="913487" y="2481997"/>
                <a:chExt cx="22313175" cy="10070023"/>
              </a:xfrm>
            </p:grpSpPr>
            <p:sp>
              <p:nvSpPr>
                <p:cNvPr id="17" name="文本框 16"/>
                <p:cNvSpPr txBox="1"/>
                <p:nvPr/>
              </p:nvSpPr>
              <p:spPr>
                <a:xfrm>
                  <a:off x="6429528" y="3897975"/>
                  <a:ext cx="6013708" cy="881922"/>
                </a:xfrm>
                <a:prstGeom prst="rect">
                  <a:avLst/>
                </a:prstGeom>
                <a:noFill/>
              </p:spPr>
              <p:txBody>
                <a:bodyPr wrap="square" rtlCol="0">
                  <a:spAutoFit/>
                </a:bodyPr>
                <a:lstStyle/>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现有服务已覆盖二十余个国家和地区</a:t>
                  </a:r>
                </a:p>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也能在未覆盖国家迅速建立服务能力</a:t>
                  </a:r>
                </a:p>
              </p:txBody>
            </p:sp>
            <p:sp>
              <p:nvSpPr>
                <p:cNvPr id="18" name="文本框 17"/>
                <p:cNvSpPr txBox="1"/>
                <p:nvPr/>
              </p:nvSpPr>
              <p:spPr>
                <a:xfrm>
                  <a:off x="8299302" y="3192001"/>
                  <a:ext cx="2274166" cy="646682"/>
                </a:xfrm>
                <a:prstGeom prst="rect">
                  <a:avLst/>
                </a:prstGeom>
                <a:noFill/>
              </p:spPr>
              <p:txBody>
                <a:bodyPr wrap="none" rtlCol="0">
                  <a:spAutoFit/>
                </a:bodyPr>
                <a:lstStyle/>
                <a:p>
                  <a:pPr algn="ctr"/>
                  <a:r>
                    <a:rPr kumimoji="1" lang="zh-CN" altLang="en-US" sz="1400" dirty="0">
                      <a:solidFill>
                        <a:srgbClr val="7C4DFF"/>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全球覆盖广</a:t>
                  </a:r>
                </a:p>
              </p:txBody>
            </p:sp>
            <p:sp>
              <p:nvSpPr>
                <p:cNvPr id="19" name="文本框 18"/>
                <p:cNvSpPr txBox="1"/>
                <p:nvPr/>
              </p:nvSpPr>
              <p:spPr>
                <a:xfrm>
                  <a:off x="17975606" y="4132372"/>
                  <a:ext cx="5014787" cy="539037"/>
                </a:xfrm>
                <a:prstGeom prst="rect">
                  <a:avLst/>
                </a:prstGeom>
                <a:noFill/>
              </p:spPr>
              <p:txBody>
                <a:bodyPr wrap="square" rtlCol="0">
                  <a:spAutoFit/>
                </a:bodyPr>
                <a:lstStyle/>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提供任何国家的海外支付服务</a:t>
                  </a:r>
                </a:p>
              </p:txBody>
            </p:sp>
            <p:sp>
              <p:nvSpPr>
                <p:cNvPr id="20" name="文本框 19"/>
                <p:cNvSpPr txBox="1"/>
                <p:nvPr/>
              </p:nvSpPr>
              <p:spPr>
                <a:xfrm>
                  <a:off x="19520000" y="3426396"/>
                  <a:ext cx="1896934" cy="646682"/>
                </a:xfrm>
                <a:prstGeom prst="rect">
                  <a:avLst/>
                </a:prstGeom>
                <a:noFill/>
              </p:spPr>
              <p:txBody>
                <a:bodyPr wrap="none" rtlCol="0">
                  <a:spAutoFit/>
                </a:bodyPr>
                <a:lstStyle/>
                <a:p>
                  <a:pPr algn="ctr"/>
                  <a:r>
                    <a:rPr kumimoji="1" lang="zh-CN" altLang="en-US" sz="1400" dirty="0">
                      <a:solidFill>
                        <a:srgbClr val="7C4DFF"/>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海外支付</a:t>
                  </a:r>
                </a:p>
              </p:txBody>
            </p:sp>
            <p:sp>
              <p:nvSpPr>
                <p:cNvPr id="21" name="文本框 20"/>
                <p:cNvSpPr txBox="1"/>
                <p:nvPr/>
              </p:nvSpPr>
              <p:spPr>
                <a:xfrm>
                  <a:off x="913487" y="7273245"/>
                  <a:ext cx="6013708" cy="884067"/>
                </a:xfrm>
                <a:prstGeom prst="rect">
                  <a:avLst/>
                </a:prstGeom>
                <a:noFill/>
              </p:spPr>
              <p:txBody>
                <a:bodyPr wrap="square" rtlCol="0">
                  <a:spAutoFit/>
                </a:bodyPr>
                <a:lstStyle/>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拥有商务部颁发的海外派遣资质</a:t>
                  </a:r>
                </a:p>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为客户提供合规的海外派遣服务</a:t>
                  </a:r>
                </a:p>
              </p:txBody>
            </p:sp>
            <p:sp>
              <p:nvSpPr>
                <p:cNvPr id="22" name="文本框 21"/>
                <p:cNvSpPr txBox="1"/>
                <p:nvPr/>
              </p:nvSpPr>
              <p:spPr>
                <a:xfrm>
                  <a:off x="2594648" y="6567269"/>
                  <a:ext cx="2651396" cy="646682"/>
                </a:xfrm>
                <a:prstGeom prst="rect">
                  <a:avLst/>
                </a:prstGeom>
                <a:noFill/>
              </p:spPr>
              <p:txBody>
                <a:bodyPr wrap="none" rtlCol="0">
                  <a:spAutoFit/>
                </a:bodyPr>
                <a:lstStyle/>
                <a:p>
                  <a:pPr algn="ctr"/>
                  <a:r>
                    <a:rPr kumimoji="1" lang="zh-CN" altLang="en-US" sz="1400" dirty="0">
                      <a:solidFill>
                        <a:srgbClr val="7C4DFF"/>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海外派遣资质</a:t>
                  </a:r>
                </a:p>
              </p:txBody>
            </p:sp>
            <p:sp>
              <p:nvSpPr>
                <p:cNvPr id="23" name="文本框 22"/>
                <p:cNvSpPr txBox="1"/>
                <p:nvPr/>
              </p:nvSpPr>
              <p:spPr>
                <a:xfrm>
                  <a:off x="11945568" y="7320123"/>
                  <a:ext cx="6013708" cy="884067"/>
                </a:xfrm>
                <a:prstGeom prst="rect">
                  <a:avLst/>
                </a:prstGeom>
                <a:noFill/>
              </p:spPr>
              <p:txBody>
                <a:bodyPr wrap="square" rtlCol="0">
                  <a:spAutoFit/>
                </a:bodyPr>
                <a:lstStyle/>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人瑞的国内和海外顾问紧密合作</a:t>
                  </a:r>
                </a:p>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确保海外当地服务高品质交付</a:t>
                  </a:r>
                </a:p>
              </p:txBody>
            </p:sp>
            <p:sp>
              <p:nvSpPr>
                <p:cNvPr id="24" name="文本框 23"/>
                <p:cNvSpPr txBox="1"/>
                <p:nvPr/>
              </p:nvSpPr>
              <p:spPr>
                <a:xfrm>
                  <a:off x="13815343" y="6614147"/>
                  <a:ext cx="2274166" cy="646682"/>
                </a:xfrm>
                <a:prstGeom prst="rect">
                  <a:avLst/>
                </a:prstGeom>
                <a:noFill/>
              </p:spPr>
              <p:txBody>
                <a:bodyPr wrap="none" rtlCol="0">
                  <a:spAutoFit/>
                </a:bodyPr>
                <a:lstStyle/>
                <a:p>
                  <a:pPr algn="ctr"/>
                  <a:r>
                    <a:rPr kumimoji="1" lang="zh-CN" altLang="en-US" sz="1400" dirty="0">
                      <a:solidFill>
                        <a:srgbClr val="7C4DFF"/>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国内外联动</a:t>
                  </a:r>
                </a:p>
              </p:txBody>
            </p:sp>
            <p:sp>
              <p:nvSpPr>
                <p:cNvPr id="25" name="文本框 24"/>
                <p:cNvSpPr txBox="1"/>
                <p:nvPr/>
              </p:nvSpPr>
              <p:spPr>
                <a:xfrm>
                  <a:off x="6429528" y="10616039"/>
                  <a:ext cx="6013708" cy="884067"/>
                </a:xfrm>
                <a:prstGeom prst="rect">
                  <a:avLst/>
                </a:prstGeom>
                <a:noFill/>
              </p:spPr>
              <p:txBody>
                <a:bodyPr wrap="square" rtlCol="0">
                  <a:spAutoFit/>
                </a:bodyPr>
                <a:lstStyle/>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人瑞确保高效响应</a:t>
                  </a:r>
                </a:p>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快速提供海外当地服务交付</a:t>
                  </a:r>
                </a:p>
              </p:txBody>
            </p:sp>
            <p:sp>
              <p:nvSpPr>
                <p:cNvPr id="26" name="文本框 25"/>
                <p:cNvSpPr txBox="1"/>
                <p:nvPr/>
              </p:nvSpPr>
              <p:spPr>
                <a:xfrm>
                  <a:off x="8487917" y="9910065"/>
                  <a:ext cx="1896934" cy="646682"/>
                </a:xfrm>
                <a:prstGeom prst="rect">
                  <a:avLst/>
                </a:prstGeom>
                <a:noFill/>
              </p:spPr>
              <p:txBody>
                <a:bodyPr wrap="none" rtlCol="0">
                  <a:spAutoFit/>
                </a:bodyPr>
                <a:lstStyle/>
                <a:p>
                  <a:pPr algn="ctr"/>
                  <a:r>
                    <a:rPr kumimoji="1" lang="zh-CN" altLang="en-US" sz="1400" dirty="0">
                      <a:solidFill>
                        <a:srgbClr val="7C4DFF"/>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服务便捷</a:t>
                  </a:r>
                </a:p>
              </p:txBody>
            </p:sp>
            <p:sp>
              <p:nvSpPr>
                <p:cNvPr id="27" name="文本框 26"/>
                <p:cNvSpPr txBox="1"/>
                <p:nvPr/>
              </p:nvSpPr>
              <p:spPr>
                <a:xfrm>
                  <a:off x="17980082" y="10686358"/>
                  <a:ext cx="4956936" cy="884067"/>
                </a:xfrm>
                <a:prstGeom prst="rect">
                  <a:avLst/>
                </a:prstGeom>
                <a:noFill/>
              </p:spPr>
              <p:txBody>
                <a:bodyPr wrap="square" rtlCol="0">
                  <a:spAutoFit/>
                </a:bodyPr>
                <a:lstStyle/>
                <a:p>
                  <a:pPr algn="ctr"/>
                  <a:r>
                    <a:rPr kumimoji="1" lang="zh-CN" altLang="en-US" sz="1065" dirty="0">
                      <a:solidFill>
                        <a:srgbClr val="4D4D4C"/>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提供海外招聘、用工、薪酬福利、劳动法律、文化环境和管理实践的咨询</a:t>
                  </a:r>
                </a:p>
              </p:txBody>
            </p:sp>
            <p:sp>
              <p:nvSpPr>
                <p:cNvPr id="28" name="文本框 27"/>
                <p:cNvSpPr txBox="1"/>
                <p:nvPr/>
              </p:nvSpPr>
              <p:spPr>
                <a:xfrm>
                  <a:off x="19520000" y="9980382"/>
                  <a:ext cx="1896934" cy="646682"/>
                </a:xfrm>
                <a:prstGeom prst="rect">
                  <a:avLst/>
                </a:prstGeom>
                <a:noFill/>
              </p:spPr>
              <p:txBody>
                <a:bodyPr wrap="none" rtlCol="0">
                  <a:spAutoFit/>
                </a:bodyPr>
                <a:lstStyle/>
                <a:p>
                  <a:pPr algn="ctr"/>
                  <a:r>
                    <a:rPr kumimoji="1" lang="zh-CN" altLang="en-US" sz="1400" dirty="0">
                      <a:solidFill>
                        <a:srgbClr val="7C4DFF"/>
                      </a:solidFill>
                      <a:latin typeface="微软雅黑" panose="020B0503020204020204" pitchFamily="34" charset="-122"/>
                      <a:ea typeface="微软雅黑" panose="020B0503020204020204" pitchFamily="34" charset="-122"/>
                      <a:cs typeface="OPPOSans B" panose="00020600040101010101" pitchFamily="18" charset="-122"/>
                      <a:sym typeface="MiSans" panose="00000500000000000000" pitchFamily="2" charset="-122"/>
                    </a:rPr>
                    <a:t>专业咨询</a:t>
                  </a:r>
                </a:p>
              </p:txBody>
            </p:sp>
            <p:pic>
              <p:nvPicPr>
                <p:cNvPr id="29" name="图片 28"/>
                <p:cNvPicPr>
                  <a:picLocks noChangeAspect="1"/>
                </p:cNvPicPr>
                <p:nvPr/>
              </p:nvPicPr>
              <p:blipFill>
                <a:blip r:embed="rId3" cstate="email">
                  <a:extLst>
                    <a:ext uri="{28A0092B-C50C-407E-A947-70E740481C1C}">
                      <a14:useLocalDpi xmlns:a14="http://schemas.microsoft.com/office/drawing/2010/main" val="0"/>
                    </a:ext>
                  </a:extLst>
                </a:blip>
                <a:srcRect t="826" r="7939" b="1"/>
                <a:stretch>
                  <a:fillRect/>
                </a:stretch>
              </p:blipFill>
              <p:spPr>
                <a:xfrm>
                  <a:off x="6663741" y="5835774"/>
                  <a:ext cx="5536238" cy="3354693"/>
                </a:xfrm>
                <a:prstGeom prst="rect">
                  <a:avLst/>
                </a:prstGeom>
              </p:spPr>
            </p:pic>
            <p:pic>
              <p:nvPicPr>
                <p:cNvPr id="30" name="图片 29"/>
                <p:cNvPicPr>
                  <a:picLocks noChangeAspect="1"/>
                </p:cNvPicPr>
                <p:nvPr/>
              </p:nvPicPr>
              <p:blipFill>
                <a:blip r:embed="rId4" cstate="email">
                  <a:extLst>
                    <a:ext uri="{28A0092B-C50C-407E-A947-70E740481C1C}">
                      <a14:useLocalDpi xmlns:a14="http://schemas.microsoft.com/office/drawing/2010/main" val="0"/>
                    </a:ext>
                  </a:extLst>
                </a:blip>
                <a:srcRect t="868" r="525" b="8533"/>
                <a:stretch>
                  <a:fillRect/>
                </a:stretch>
              </p:blipFill>
              <p:spPr>
                <a:xfrm>
                  <a:off x="12182629" y="2481997"/>
                  <a:ext cx="5502002" cy="3341122"/>
                </a:xfrm>
                <a:prstGeom prst="rect">
                  <a:avLst/>
                </a:prstGeom>
              </p:spPr>
            </p:pic>
            <p:pic>
              <p:nvPicPr>
                <p:cNvPr id="31" name="图片 30"/>
                <p:cNvPicPr>
                  <a:picLocks noChangeAspect="1"/>
                </p:cNvPicPr>
                <p:nvPr/>
              </p:nvPicPr>
              <p:blipFill>
                <a:blip r:embed="rId5" cstate="email">
                  <a:extLst>
                    <a:ext uri="{28A0092B-C50C-407E-A947-70E740481C1C}">
                      <a14:useLocalDpi xmlns:a14="http://schemas.microsoft.com/office/drawing/2010/main" val="0"/>
                    </a:ext>
                  </a:extLst>
                </a:blip>
                <a:srcRect l="1585" t="2425" r="320" b="9265"/>
                <a:stretch>
                  <a:fillRect/>
                </a:stretch>
              </p:blipFill>
              <p:spPr>
                <a:xfrm>
                  <a:off x="17700344" y="5847590"/>
                  <a:ext cx="5526318" cy="3316659"/>
                </a:xfrm>
                <a:prstGeom prst="rect">
                  <a:avLst/>
                </a:prstGeom>
              </p:spPr>
            </p:pic>
            <p:pic>
              <p:nvPicPr>
                <p:cNvPr id="32" name="图片 31"/>
                <p:cNvPicPr>
                  <a:picLocks noChangeAspect="1"/>
                </p:cNvPicPr>
                <p:nvPr/>
              </p:nvPicPr>
              <p:blipFill>
                <a:blip r:embed="rId6" cstate="email">
                  <a:extLst>
                    <a:ext uri="{28A0092B-C50C-407E-A947-70E740481C1C}">
                      <a14:useLocalDpi xmlns:a14="http://schemas.microsoft.com/office/drawing/2010/main" val="0"/>
                    </a:ext>
                  </a:extLst>
                </a:blip>
                <a:srcRect l="3474" t="2125" r="5368" b="119"/>
                <a:stretch>
                  <a:fillRect/>
                </a:stretch>
              </p:blipFill>
              <p:spPr>
                <a:xfrm>
                  <a:off x="12186228" y="9225845"/>
                  <a:ext cx="5514118" cy="3326175"/>
                </a:xfrm>
                <a:prstGeom prst="rect">
                  <a:avLst/>
                </a:prstGeom>
              </p:spPr>
            </p:pic>
          </p:grpSp>
        </p:grpSp>
        <p:pic>
          <p:nvPicPr>
            <p:cNvPr id="8" name="图片 7" descr="图片包含 小, 桌子, 蓝色, 站&#10;&#10;AI 生成的内容可能不正确。"/>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1173" y="1501724"/>
              <a:ext cx="2643329" cy="1609950"/>
            </a:xfrm>
            <a:prstGeom prst="rect">
              <a:avLst/>
            </a:prstGeom>
          </p:spPr>
        </p:pic>
      </p:grpSp>
    </p:spTree>
    <p:extLst>
      <p:ext uri="{BB962C8B-B14F-4D97-AF65-F5344CB8AC3E}">
        <p14:creationId xmlns:p14="http://schemas.microsoft.com/office/powerpoint/2010/main" val="2739160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p:nvPr/>
        </p:nvSpPr>
        <p:spPr>
          <a:xfrm>
            <a:off x="1525190" y="3891048"/>
            <a:ext cx="9141619" cy="325492"/>
          </a:xfrm>
          <a:prstGeom prst="rect">
            <a:avLst/>
          </a:prstGeom>
        </p:spPr>
        <p:txBody>
          <a:bodyPr vert="horz" rtlCol="0">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gn="ctr"/>
            <a:r>
              <a:rPr lang="zh-CN" altLang="en-US" sz="3333" dirty="0">
                <a:solidFill>
                  <a:srgbClr val="5E35B1"/>
                </a:solidFill>
                <a:latin typeface="微软雅黑" panose="020B0503020204020204" pitchFamily="34" charset="-122"/>
                <a:ea typeface="微软雅黑" panose="020B0503020204020204" pitchFamily="34" charset="-122"/>
                <a:cs typeface="OPPOSans H" pitchFamily="18" charset="-122"/>
                <a:sym typeface="MiSans" pitchFamily="2" charset="-122"/>
              </a:rPr>
              <a:t>落地人力资本价值经营，构建企业健康增长系统</a:t>
            </a:r>
            <a:endParaRPr lang="zh-CN" altLang="en-US" sz="5498" dirty="0">
              <a:solidFill>
                <a:srgbClr val="5E35B1"/>
              </a:solidFill>
              <a:latin typeface="微软雅黑" panose="020B0503020204020204" pitchFamily="34" charset="-122"/>
              <a:ea typeface="微软雅黑" panose="020B0503020204020204" pitchFamily="34" charset="-122"/>
              <a:cs typeface="OPPOSans H" pitchFamily="18" charset="-122"/>
              <a:sym typeface="MiSans" pitchFamily="2" charset="-122"/>
            </a:endParaRPr>
          </a:p>
        </p:txBody>
      </p:sp>
      <p:sp>
        <p:nvSpPr>
          <p:cNvPr id="6" name="文本框 5"/>
          <p:cNvSpPr txBox="1"/>
          <p:nvPr/>
        </p:nvSpPr>
        <p:spPr>
          <a:xfrm>
            <a:off x="2989043" y="4455807"/>
            <a:ext cx="6213912" cy="450893"/>
          </a:xfrm>
          <a:prstGeom prst="rect">
            <a:avLst/>
          </a:prstGeom>
          <a:noFill/>
        </p:spPr>
        <p:txBody>
          <a:bodyPr wrap="square">
            <a:spAutoFit/>
          </a:bodyPr>
          <a:lstStyle/>
          <a:p>
            <a:pPr algn="ctr"/>
            <a:r>
              <a:rPr lang="zh-CN" altLang="en-US" sz="2330" dirty="0">
                <a:solidFill>
                  <a:srgbClr val="5E35B1"/>
                </a:solidFill>
                <a:latin typeface="微软雅黑" panose="020B0503020204020204" pitchFamily="34" charset="-122"/>
                <a:ea typeface="微软雅黑" panose="020B0503020204020204" pitchFamily="34" charset="-122"/>
                <a:cs typeface="OPPOSans R" pitchFamily="18" charset="-122"/>
                <a:sym typeface="MiSans" pitchFamily="2" charset="-122"/>
              </a:rPr>
              <a:t>实现客户、企业、人才的价值共赢</a:t>
            </a:r>
          </a:p>
        </p:txBody>
      </p:sp>
      <p:grpSp>
        <p:nvGrpSpPr>
          <p:cNvPr id="7" name="组合 6">
            <a:extLst>
              <a:ext uri="{FF2B5EF4-FFF2-40B4-BE49-F238E27FC236}">
                <a16:creationId xmlns:a16="http://schemas.microsoft.com/office/drawing/2014/main" id="{F543D5EC-35B4-E7C2-7DB3-3E64E853EB5A}"/>
              </a:ext>
            </a:extLst>
          </p:cNvPr>
          <p:cNvGrpSpPr/>
          <p:nvPr/>
        </p:nvGrpSpPr>
        <p:grpSpPr>
          <a:xfrm>
            <a:off x="2887980" y="5062195"/>
            <a:ext cx="6416038" cy="466912"/>
            <a:chOff x="2887983" y="4980352"/>
            <a:chExt cx="6416038" cy="466912"/>
          </a:xfrm>
          <a:effectLst>
            <a:outerShdw blurRad="508000" dist="50800" dir="5400000" algn="ctr" rotWithShape="0">
              <a:schemeClr val="bg1"/>
            </a:outerShdw>
            <a:reflection blurRad="6350" stA="50000" endA="300" endPos="55000" dir="5400000" sy="-100000" algn="bl" rotWithShape="0"/>
          </a:effectLst>
        </p:grpSpPr>
        <p:grpSp>
          <p:nvGrpSpPr>
            <p:cNvPr id="8" name="组合 7">
              <a:extLst>
                <a:ext uri="{FF2B5EF4-FFF2-40B4-BE49-F238E27FC236}">
                  <a16:creationId xmlns:a16="http://schemas.microsoft.com/office/drawing/2014/main" id="{41056E6F-D661-F0E3-AC46-617A7204624B}"/>
                </a:ext>
              </a:extLst>
            </p:cNvPr>
            <p:cNvGrpSpPr/>
            <p:nvPr/>
          </p:nvGrpSpPr>
          <p:grpSpPr>
            <a:xfrm>
              <a:off x="2887983" y="4980352"/>
              <a:ext cx="6416038" cy="466912"/>
              <a:chOff x="3464576" y="4786470"/>
              <a:chExt cx="7701252" cy="560440"/>
            </a:xfrm>
          </p:grpSpPr>
          <p:sp>
            <p:nvSpPr>
              <p:cNvPr id="10" name="矩形: 圆角 9">
                <a:extLst>
                  <a:ext uri="{FF2B5EF4-FFF2-40B4-BE49-F238E27FC236}">
                    <a16:creationId xmlns:a16="http://schemas.microsoft.com/office/drawing/2014/main" id="{BC6D7FD5-AA4D-E6CE-A9B4-031408373855}"/>
                  </a:ext>
                </a:extLst>
              </p:cNvPr>
              <p:cNvSpPr/>
              <p:nvPr/>
            </p:nvSpPr>
            <p:spPr>
              <a:xfrm>
                <a:off x="3464576" y="4786470"/>
                <a:ext cx="7701252" cy="560440"/>
              </a:xfrm>
              <a:prstGeom prst="roundRect">
                <a:avLst>
                  <a:gd name="adj" fmla="val 50000"/>
                </a:avLst>
              </a:prstGeom>
              <a:solidFill>
                <a:srgbClr val="7C4DFF">
                  <a:alpha val="90000"/>
                </a:srgbClr>
              </a:solidFill>
              <a:ln w="15875">
                <a:solidFill>
                  <a:schemeClr val="bg1"/>
                </a:solidFill>
              </a:ln>
              <a:effectLst>
                <a:innerShdw blurRad="1270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98" dirty="0">
                  <a:solidFill>
                    <a:srgbClr val="5E35B1"/>
                  </a:solidFill>
                  <a:latin typeface="微软雅黑" panose="020B0503020204020204" pitchFamily="34" charset="-122"/>
                  <a:ea typeface="微软雅黑" panose="020B0503020204020204" pitchFamily="34" charset="-122"/>
                  <a:sym typeface="MiSans" pitchFamily="2" charset="-122"/>
                </a:endParaRPr>
              </a:p>
            </p:txBody>
          </p:sp>
          <p:sp>
            <p:nvSpPr>
              <p:cNvPr id="11" name="文本框 10">
                <a:extLst>
                  <a:ext uri="{FF2B5EF4-FFF2-40B4-BE49-F238E27FC236}">
                    <a16:creationId xmlns:a16="http://schemas.microsoft.com/office/drawing/2014/main" id="{738B35C9-9E5E-552A-E29E-B8FDBC1A8213}"/>
                  </a:ext>
                </a:extLst>
              </p:cNvPr>
              <p:cNvSpPr txBox="1"/>
              <p:nvPr/>
            </p:nvSpPr>
            <p:spPr>
              <a:xfrm>
                <a:off x="4505985" y="4882023"/>
                <a:ext cx="6008679" cy="387515"/>
              </a:xfrm>
              <a:prstGeom prst="rect">
                <a:avLst/>
              </a:prstGeom>
              <a:noFill/>
            </p:spPr>
            <p:txBody>
              <a:bodyPr wrap="square">
                <a:spAutoFit/>
              </a:bodyPr>
              <a:lstStyle/>
              <a:p>
                <a:pPr algn="ctr"/>
                <a:r>
                  <a:rPr lang="zh-CN" altLang="en-US" sz="1498" dirty="0">
                    <a:solidFill>
                      <a:schemeClr val="bg1"/>
                    </a:solidFill>
                    <a:latin typeface="微软雅黑" panose="020B0503020204020204" pitchFamily="34" charset="-122"/>
                    <a:ea typeface="微软雅黑" panose="020B0503020204020204" pitchFamily="34" charset="-122"/>
                    <a:cs typeface="OPPOSans R" pitchFamily="18" charset="-122"/>
                    <a:sym typeface="MiSans" pitchFamily="2" charset="-122"/>
                  </a:rPr>
                  <a:t>        期待与您携手共启</a:t>
                </a:r>
                <a:r>
                  <a:rPr lang="en-US" altLang="zh-CN" sz="1498" dirty="0">
                    <a:solidFill>
                      <a:schemeClr val="bg1"/>
                    </a:solidFill>
                    <a:latin typeface="微软雅黑" panose="020B0503020204020204" pitchFamily="34" charset="-122"/>
                    <a:ea typeface="微软雅黑" panose="020B0503020204020204" pitchFamily="34" charset="-122"/>
                    <a:cs typeface="OPPOSans R" pitchFamily="18" charset="-122"/>
                    <a:sym typeface="MiSans" pitchFamily="2" charset="-122"/>
                  </a:rPr>
                  <a:t>AI</a:t>
                </a:r>
                <a:r>
                  <a:rPr lang="zh-CN" altLang="en-US" sz="1498" dirty="0">
                    <a:solidFill>
                      <a:schemeClr val="bg1"/>
                    </a:solidFill>
                    <a:latin typeface="微软雅黑" panose="020B0503020204020204" pitchFamily="34" charset="-122"/>
                    <a:ea typeface="微软雅黑" panose="020B0503020204020204" pitchFamily="34" charset="-122"/>
                    <a:cs typeface="OPPOSans R" pitchFamily="18" charset="-122"/>
                    <a:sym typeface="MiSans" pitchFamily="2" charset="-122"/>
                  </a:rPr>
                  <a:t>时代的变革之旅！</a:t>
                </a:r>
              </a:p>
            </p:txBody>
          </p:sp>
        </p:grpSp>
        <p:pic>
          <p:nvPicPr>
            <p:cNvPr id="9" name="图形 13">
              <a:extLst>
                <a:ext uri="{FF2B5EF4-FFF2-40B4-BE49-F238E27FC236}">
                  <a16:creationId xmlns:a16="http://schemas.microsoft.com/office/drawing/2014/main" id="{CE2AD6CC-7373-7146-79DA-7C9082A0B1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47676" y="5061787"/>
              <a:ext cx="341503" cy="288396"/>
            </a:xfrm>
            <a:prstGeom prst="rect">
              <a:avLst/>
            </a:prstGeom>
          </p:spPr>
        </p:pic>
      </p:grpSp>
      <p:grpSp>
        <p:nvGrpSpPr>
          <p:cNvPr id="12" name="组合 11">
            <a:extLst>
              <a:ext uri="{FF2B5EF4-FFF2-40B4-BE49-F238E27FC236}">
                <a16:creationId xmlns:a16="http://schemas.microsoft.com/office/drawing/2014/main" id="{F9E23BED-5CF5-CAF9-9FF9-BBA718C1C528}"/>
              </a:ext>
            </a:extLst>
          </p:cNvPr>
          <p:cNvGrpSpPr/>
          <p:nvPr/>
        </p:nvGrpSpPr>
        <p:grpSpPr>
          <a:xfrm>
            <a:off x="1301416" y="872531"/>
            <a:ext cx="9589169" cy="2576050"/>
            <a:chOff x="1301416" y="1004611"/>
            <a:chExt cx="9589169" cy="2576050"/>
          </a:xfrm>
        </p:grpSpPr>
        <p:sp>
          <p:nvSpPr>
            <p:cNvPr id="13" name="矩形: 圆角 9"/>
            <p:cNvSpPr/>
            <p:nvPr/>
          </p:nvSpPr>
          <p:spPr>
            <a:xfrm>
              <a:off x="1301416" y="1004611"/>
              <a:ext cx="9589169" cy="2576050"/>
            </a:xfrm>
            <a:prstGeom prst="roundRect">
              <a:avLst>
                <a:gd name="adj" fmla="val 8128"/>
              </a:avLst>
            </a:prstGeom>
            <a:solidFill>
              <a:schemeClr val="bg1">
                <a:alpha val="90000"/>
              </a:schemeClr>
            </a:solidFill>
            <a:ln w="15875">
              <a:solidFill>
                <a:schemeClr val="bg1">
                  <a:alpha val="70000"/>
                </a:schemeClr>
              </a:solidFill>
            </a:ln>
            <a:effectLst>
              <a:outerShdw blurRad="76200" dist="114300" dir="2700000" algn="tl" rotWithShape="0">
                <a:prstClr val="black">
                  <a:alpha val="12000"/>
                </a:prstClr>
              </a:outerShdw>
              <a:softEdge rad="63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97" dirty="0">
                <a:latin typeface="微软雅黑" panose="020B0503020204020204" pitchFamily="34" charset="-122"/>
                <a:ea typeface="微软雅黑" panose="020B0503020204020204" pitchFamily="34" charset="-122"/>
                <a:cs typeface="OPPOSans R" panose="00020600040101010101" pitchFamily="18" charset="-122"/>
                <a:sym typeface="MiSans" pitchFamily="2" charset="-122"/>
              </a:endParaRPr>
            </a:p>
          </p:txBody>
        </p:sp>
        <p:sp>
          <p:nvSpPr>
            <p:cNvPr id="14" name="文本框 13"/>
            <p:cNvSpPr txBox="1"/>
            <p:nvPr/>
          </p:nvSpPr>
          <p:spPr>
            <a:xfrm>
              <a:off x="1754892" y="2042824"/>
              <a:ext cx="6785605" cy="499624"/>
            </a:xfrm>
            <a:prstGeom prst="rect">
              <a:avLst/>
            </a:prstGeom>
            <a:noFill/>
          </p:spPr>
          <p:txBody>
            <a:bodyPr wrap="square">
              <a:spAutoFit/>
            </a:bodyPr>
            <a:lstStyle/>
            <a:p>
              <a:pPr>
                <a:lnSpc>
                  <a:spcPct val="150000"/>
                </a:lnSpc>
              </a:pPr>
              <a:r>
                <a:rPr lang="zh-CN" altLang="en-US" sz="2000" b="1" dirty="0">
                  <a:solidFill>
                    <a:srgbClr val="AA00FF"/>
                  </a:solidFill>
                  <a:latin typeface="微软雅黑" panose="020B0503020204020204" pitchFamily="34" charset="-122"/>
                  <a:ea typeface="微软雅黑" panose="020B0503020204020204" pitchFamily="34" charset="-122"/>
                  <a:cs typeface="OPPOSans R" pitchFamily="18" charset="-122"/>
                  <a:sym typeface="MiSans" pitchFamily="2" charset="-122"/>
                </a:rPr>
                <a:t>现在就行动，扫码预约组织人效体检</a:t>
              </a:r>
              <a:r>
                <a:rPr lang="en-US" altLang="zh-CN" sz="2000" b="1" dirty="0">
                  <a:solidFill>
                    <a:srgbClr val="AA00FF"/>
                  </a:solidFill>
                  <a:latin typeface="微软雅黑" panose="020B0503020204020204" pitchFamily="34" charset="-122"/>
                  <a:ea typeface="微软雅黑" panose="020B0503020204020204" pitchFamily="34" charset="-122"/>
                  <a:cs typeface="OPPOSans R" pitchFamily="18" charset="-122"/>
                  <a:sym typeface="MiSans" pitchFamily="2" charset="-122"/>
                </a:rPr>
                <a:t>——</a:t>
              </a:r>
              <a:endParaRPr lang="en-US" altLang="zh-CN" sz="2000" dirty="0">
                <a:solidFill>
                  <a:srgbClr val="AA00FF"/>
                </a:solidFill>
                <a:latin typeface="微软雅黑" panose="020B0503020204020204" pitchFamily="34" charset="-122"/>
                <a:ea typeface="微软雅黑" panose="020B0503020204020204" pitchFamily="34" charset="-122"/>
                <a:cs typeface="OPPOSans R" pitchFamily="18" charset="-122"/>
                <a:sym typeface="MiSans" pitchFamily="2" charset="-122"/>
              </a:endParaRPr>
            </a:p>
          </p:txBody>
        </p:sp>
        <p:pic>
          <p:nvPicPr>
            <p:cNvPr id="15" name="图形 2">
              <a:extLst>
                <a:ext uri="{FF2B5EF4-FFF2-40B4-BE49-F238E27FC236}">
                  <a16:creationId xmlns:a16="http://schemas.microsoft.com/office/drawing/2014/main" id="{7564F226-150C-13DC-16FC-BCDA5CDEDE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40497" y="1463055"/>
              <a:ext cx="1799997" cy="1799997"/>
            </a:xfrm>
            <a:prstGeom prst="rect">
              <a:avLst/>
            </a:prstGeom>
          </p:spPr>
        </p:pic>
      </p:grpSp>
    </p:spTree>
    <p:extLst>
      <p:ext uri="{BB962C8B-B14F-4D97-AF65-F5344CB8AC3E}">
        <p14:creationId xmlns:p14="http://schemas.microsoft.com/office/powerpoint/2010/main" val="20693538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904</TotalTime>
  <Words>3993</Words>
  <Application>Microsoft Macintosh PowerPoint</Application>
  <PresentationFormat>宽屏</PresentationFormat>
  <Paragraphs>323</Paragraphs>
  <Slides>19</Slides>
  <Notes>10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等线</vt:lpstr>
      <vt:lpstr>微软雅黑</vt:lpstr>
      <vt:lpstr>微软雅黑</vt:lpstr>
      <vt:lpstr>MiSans</vt:lpstr>
      <vt:lpstr>Noto Sans SC</vt:lpstr>
      <vt:lpstr>Arial</vt:lpstr>
      <vt:lpstr>Calibri</vt:lpstr>
      <vt:lpstr>Century Gothic</vt:lpstr>
      <vt:lpstr>Tw Cen MT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瑞华智策专家讲师团队</vt:lpstr>
      <vt:lpstr>关于瑞华智策母公司——人瑞人才</vt:lpstr>
      <vt:lpstr>人瑞人才发展历程</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高 燕</cp:lastModifiedBy>
  <cp:revision>138</cp:revision>
  <dcterms:created xsi:type="dcterms:W3CDTF">2026-03-06T05:08:16Z</dcterms:created>
  <dcterms:modified xsi:type="dcterms:W3CDTF">2026-04-22T09:15:57Z</dcterms:modified>
</cp:coreProperties>
</file>